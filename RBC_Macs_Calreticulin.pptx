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06"/>
  </p:normalViewPr>
  <p:slideViewPr>
    <p:cSldViewPr snapToGrid="0">
      <p:cViewPr varScale="1">
        <p:scale>
          <a:sx n="104" d="100"/>
          <a:sy n="104" d="100"/>
        </p:scale>
        <p:origin x="232" y="5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60A41-81A4-0E3D-BFD6-7573B27059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4C6D3A-D5AB-BDD0-79A8-AA31F18B66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BFF3C-E8E7-DDAC-77A5-49012F0CA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E0CF2-9E03-B046-A37A-2DCA5B7BEB2D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09BDB1-B72F-1EC4-BD69-B44409467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B5CB07-F967-5ED1-4522-48314F7AF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3CCC9-3C7E-4A45-BFC1-972CA0D1E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5704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18853-CE82-0E55-9C23-D2EF05C26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33824-540D-77FD-60C2-404BFBA68D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0DCA25-6295-FD10-5C74-200C0DB04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E0CF2-9E03-B046-A37A-2DCA5B7BEB2D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229ED9-11F0-F9B1-74B4-198F269CB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50A282-BFF8-64AC-DB79-6A2BBB5A3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3CCC9-3C7E-4A45-BFC1-972CA0D1E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774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D0208-836A-F0F0-3D31-7A57ABB95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28261-7F6C-CA84-C12B-52CBDB12AA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0BBE4B-FC26-EA43-A8B3-21E90F894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E0CF2-9E03-B046-A37A-2DCA5B7BEB2D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812E28-BF64-D549-F7CA-1D6483844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532690-7334-403E-5CF9-6B25C7C1F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3CCC9-3C7E-4A45-BFC1-972CA0D1E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429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E1457-6582-39DD-286D-18174A429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48200-6829-124B-7AA6-4E4A256F91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A4F7ED-55DE-DF89-27CD-8D5F7EFA42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591381-AB7B-8C6F-A548-B4F50E8CA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E0CF2-9E03-B046-A37A-2DCA5B7BEB2D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4E534A-C437-70B6-E9D4-E84EBEBFE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5F1EC6-1A1C-A8E6-3D52-7FFD8DC45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3CCC9-3C7E-4A45-BFC1-972CA0D1E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880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56808-A3DC-A0A9-B9FC-84CFAAC68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A9B2AF-C173-B5FE-4ACD-770F133D5F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6F2F3C-147F-391A-4916-15A1049DC0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CD19F-3B5E-C84D-2A11-769FD06FC9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9B348A-CA32-870B-9275-4BE441C57E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6BF6AE-BC4F-8BCC-F1DE-9819F21A7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E0CF2-9E03-B046-A37A-2DCA5B7BEB2D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A7A0C6-6E6A-E0A4-AC54-17ACEB466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51E9F4-4331-4E0F-9FE1-1F855DE37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3CCC9-3C7E-4A45-BFC1-972CA0D1E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4739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87C61-C81C-D4FC-B555-75ADD2927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8E5B0D-7AFF-C002-C52E-4E6C0F2B3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E0CF2-9E03-B046-A37A-2DCA5B7BEB2D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5D652F-C3FE-A4F5-09EB-2688A58AB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925540-872F-C39D-858C-B41F73628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3CCC9-3C7E-4A45-BFC1-972CA0D1E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372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A0694D-FAF7-52AE-1D13-B40BF7047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E0CF2-9E03-B046-A37A-2DCA5B7BEB2D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7A19D0-7FF3-91BA-1729-8705C66D2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80EACC-7BC8-8E64-689F-B0660409A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3CCC9-3C7E-4A45-BFC1-972CA0D1E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226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00A86-C650-A459-5CD3-79BC9F1E4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451DE7-E501-9A09-72C3-19C5098FEB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A31DCA-0953-8C1F-96A7-8D27A4435E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28BCB3-9C4A-6BFF-0FC7-851C5646C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E0CF2-9E03-B046-A37A-2DCA5B7BEB2D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3CFA93-244F-62EF-A300-AC1EDE095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4149DA-0F76-049C-E23C-09E5692E0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3CCC9-3C7E-4A45-BFC1-972CA0D1E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785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EFDC8-0C21-7A96-B0AF-D75B4351E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0D7EAC-F0C6-42DE-16E8-7601FEAC6432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D79EAD-AF89-DAC6-AF8A-D10FA698D2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2327BC-660B-B45F-7406-25B7E6805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E0CF2-9E03-B046-A37A-2DCA5B7BEB2D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A475DE-4230-17F6-48A4-5CA37E71D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4105CC-D000-2E17-7F63-37128ED37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3CCC9-3C7E-4A45-BFC1-972CA0D1E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104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F2F91-64B7-5386-8C90-E825A41D4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2FE36C-4267-D8CB-C2DE-9E45821DCC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145407-953D-ABE4-B629-D02625D33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E0CF2-9E03-B046-A37A-2DCA5B7BEB2D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E239B0-8F00-EB5B-2698-FCBCD031B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A7DCF9-CF54-2A8E-6921-B36990AE8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3CCC9-3C7E-4A45-BFC1-972CA0D1E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670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8B6907-300A-757E-7453-5AD81EA4E8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B28303-9457-D688-2A47-6BA0596F94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C7C1D5-2A2C-9EC0-3CF3-4E49BF012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E0CF2-9E03-B046-A37A-2DCA5B7BEB2D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686BB8-7631-5C43-57DD-A170AF710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85E230-F44D-18DD-99F2-60479C7C2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3CCC9-3C7E-4A45-BFC1-972CA0D1E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51251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1FC6A4-598E-C7A4-86BC-366C9FD2E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C9A478-EE22-86EA-1FD0-74CB13C91F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AE6A73-8030-81F9-87A9-30B7F38DF2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6E0CF2-9E03-B046-A37A-2DCA5B7BEB2D}" type="datetimeFigureOut">
              <a:rPr lang="en-US" smtClean="0"/>
              <a:t>10/26/26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5F8961-3F3E-1B63-4F2B-6A2C314AE4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A8F506-C77A-A7D3-9B5D-0F3794FDC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A3CCC9-3C7E-4A45-BFC1-972CA0D1E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945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ntiphagocytic function of CD47 on red blood cells (RBCs). Young RBCs... | Download Scientific Diagram">
            <a:extLst>
              <a:ext uri="{FF2B5EF4-FFF2-40B4-BE49-F238E27FC236}">
                <a16:creationId xmlns:a16="http://schemas.microsoft.com/office/drawing/2014/main" id="{D4486337-85BD-F559-CF60-AB58231D63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0325" y="857922"/>
            <a:ext cx="4247763" cy="5147535"/>
          </a:xfrm>
          <a:prstGeom prst="rect">
            <a:avLst/>
          </a:prstGeom>
        </p:spPr>
      </p:pic>
      <p:sp>
        <p:nvSpPr>
          <p:cNvPr id="5" name="Calreticulin inner (left RBC) 1"/>
          <p:cNvSpPr/>
          <p:nvPr/>
        </p:nvSpPr>
        <p:spPr>
          <a:xfrm rot="300000">
            <a:off x="5203499" y="4703620"/>
            <a:ext cx="109728" cy="109728"/>
          </a:xfrm>
          <a:prstGeom prst="diamond">
            <a:avLst/>
          </a:prstGeom>
          <a:solidFill>
            <a:srgbClr val="FFB81D"/>
          </a:solidFill>
          <a:ln w="9525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lreticulin inner (left RBC) 2"/>
          <p:cNvSpPr/>
          <p:nvPr/>
        </p:nvSpPr>
        <p:spPr>
          <a:xfrm rot="1500000">
            <a:off x="5162814" y="4855460"/>
            <a:ext cx="109728" cy="109728"/>
          </a:xfrm>
          <a:prstGeom prst="diamond">
            <a:avLst/>
          </a:prstGeom>
          <a:solidFill>
            <a:srgbClr val="FFB81D"/>
          </a:solidFill>
          <a:ln w="9525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lreticulin inner (left RBC) 3"/>
          <p:cNvSpPr/>
          <p:nvPr/>
        </p:nvSpPr>
        <p:spPr>
          <a:xfrm rot="2700000">
            <a:off x="5072650" y="4984227"/>
            <a:ext cx="109728" cy="109728"/>
          </a:xfrm>
          <a:prstGeom prst="diamond">
            <a:avLst/>
          </a:prstGeom>
          <a:solidFill>
            <a:srgbClr val="FFB81D"/>
          </a:solidFill>
          <a:ln w="9525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lreticulin inner (left RBC) 4"/>
          <p:cNvSpPr/>
          <p:nvPr/>
        </p:nvSpPr>
        <p:spPr>
          <a:xfrm rot="3900000">
            <a:off x="4943882" y="5074391"/>
            <a:ext cx="109728" cy="109728"/>
          </a:xfrm>
          <a:prstGeom prst="diamond">
            <a:avLst/>
          </a:prstGeom>
          <a:solidFill>
            <a:srgbClr val="FFB81D"/>
          </a:solidFill>
          <a:ln w="9525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alreticulin inner (left RBC) 5"/>
          <p:cNvSpPr/>
          <p:nvPr/>
        </p:nvSpPr>
        <p:spPr>
          <a:xfrm rot="5100000">
            <a:off x="4792043" y="5115077"/>
            <a:ext cx="109728" cy="109728"/>
          </a:xfrm>
          <a:prstGeom prst="diamond">
            <a:avLst/>
          </a:prstGeom>
          <a:solidFill>
            <a:srgbClr val="FFB81D"/>
          </a:solidFill>
          <a:ln w="9525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alreticulin inner (left RBC) 6"/>
          <p:cNvSpPr/>
          <p:nvPr/>
        </p:nvSpPr>
        <p:spPr>
          <a:xfrm rot="6300000">
            <a:off x="4635445" y="5101376"/>
            <a:ext cx="109728" cy="109728"/>
          </a:xfrm>
          <a:prstGeom prst="diamond">
            <a:avLst/>
          </a:prstGeom>
          <a:solidFill>
            <a:srgbClr val="FFB81D"/>
          </a:solidFill>
          <a:ln w="9525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lreticulin inner (left RBC) 7"/>
          <p:cNvSpPr/>
          <p:nvPr/>
        </p:nvSpPr>
        <p:spPr>
          <a:xfrm rot="7500000">
            <a:off x="4492977" y="5034942"/>
            <a:ext cx="109728" cy="109728"/>
          </a:xfrm>
          <a:prstGeom prst="diamond">
            <a:avLst/>
          </a:prstGeom>
          <a:solidFill>
            <a:srgbClr val="FFB81D"/>
          </a:solidFill>
          <a:ln w="9525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alreticulin inner (left RBC) 8"/>
          <p:cNvSpPr/>
          <p:nvPr/>
        </p:nvSpPr>
        <p:spPr>
          <a:xfrm rot="8700000">
            <a:off x="4381822" y="4923788"/>
            <a:ext cx="109728" cy="109728"/>
          </a:xfrm>
          <a:prstGeom prst="diamond">
            <a:avLst/>
          </a:prstGeom>
          <a:solidFill>
            <a:srgbClr val="FFB81D"/>
          </a:solidFill>
          <a:ln w="9525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alreticulin inner (left RBC) 9"/>
          <p:cNvSpPr/>
          <p:nvPr/>
        </p:nvSpPr>
        <p:spPr>
          <a:xfrm rot="9900000">
            <a:off x="4315388" y="4781320"/>
            <a:ext cx="109728" cy="109728"/>
          </a:xfrm>
          <a:prstGeom prst="diamond">
            <a:avLst/>
          </a:prstGeom>
          <a:solidFill>
            <a:srgbClr val="FFB81D"/>
          </a:solidFill>
          <a:ln w="9525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alreticulin inner (left RBC) 10"/>
          <p:cNvSpPr/>
          <p:nvPr/>
        </p:nvSpPr>
        <p:spPr>
          <a:xfrm rot="11100000">
            <a:off x="4301688" y="4624722"/>
            <a:ext cx="109728" cy="109728"/>
          </a:xfrm>
          <a:prstGeom prst="diamond">
            <a:avLst/>
          </a:prstGeom>
          <a:solidFill>
            <a:srgbClr val="FFB81D"/>
          </a:solidFill>
          <a:ln w="9525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alreticulin inner (left RBC) 11"/>
          <p:cNvSpPr/>
          <p:nvPr/>
        </p:nvSpPr>
        <p:spPr>
          <a:xfrm rot="12300000">
            <a:off x="4342373" y="4472882"/>
            <a:ext cx="109728" cy="109728"/>
          </a:xfrm>
          <a:prstGeom prst="diamond">
            <a:avLst/>
          </a:prstGeom>
          <a:solidFill>
            <a:srgbClr val="FFB81D"/>
          </a:solidFill>
          <a:ln w="9525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lreticulin inner (left RBC) 12"/>
          <p:cNvSpPr/>
          <p:nvPr/>
        </p:nvSpPr>
        <p:spPr>
          <a:xfrm rot="13500000">
            <a:off x="4432537" y="4344115"/>
            <a:ext cx="109728" cy="109728"/>
          </a:xfrm>
          <a:prstGeom prst="diamond">
            <a:avLst/>
          </a:prstGeom>
          <a:solidFill>
            <a:srgbClr val="FFB81D"/>
          </a:solidFill>
          <a:ln w="9525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alreticulin inner (left RBC) 13"/>
          <p:cNvSpPr/>
          <p:nvPr/>
        </p:nvSpPr>
        <p:spPr>
          <a:xfrm rot="14700000">
            <a:off x="4561305" y="4253951"/>
            <a:ext cx="109728" cy="109728"/>
          </a:xfrm>
          <a:prstGeom prst="diamond">
            <a:avLst/>
          </a:prstGeom>
          <a:solidFill>
            <a:srgbClr val="FFB81D"/>
          </a:solidFill>
          <a:ln w="9525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alreticulin inner (left RBC) 14"/>
          <p:cNvSpPr/>
          <p:nvPr/>
        </p:nvSpPr>
        <p:spPr>
          <a:xfrm rot="15900000">
            <a:off x="4713144" y="4213265"/>
            <a:ext cx="109728" cy="109728"/>
          </a:xfrm>
          <a:prstGeom prst="diamond">
            <a:avLst/>
          </a:prstGeom>
          <a:solidFill>
            <a:srgbClr val="FFB81D"/>
          </a:solidFill>
          <a:ln w="9525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lreticulin inner (left RBC) 15"/>
          <p:cNvSpPr/>
          <p:nvPr/>
        </p:nvSpPr>
        <p:spPr>
          <a:xfrm rot="17100000">
            <a:off x="4869742" y="4226966"/>
            <a:ext cx="109728" cy="109728"/>
          </a:xfrm>
          <a:prstGeom prst="diamond">
            <a:avLst/>
          </a:prstGeom>
          <a:solidFill>
            <a:srgbClr val="FFB81D"/>
          </a:solidFill>
          <a:ln w="9525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alreticulin inner (left RBC) 16"/>
          <p:cNvSpPr/>
          <p:nvPr/>
        </p:nvSpPr>
        <p:spPr>
          <a:xfrm rot="18300000">
            <a:off x="5012210" y="4293400"/>
            <a:ext cx="109728" cy="109728"/>
          </a:xfrm>
          <a:prstGeom prst="diamond">
            <a:avLst/>
          </a:prstGeom>
          <a:solidFill>
            <a:srgbClr val="FFB81D"/>
          </a:solidFill>
          <a:ln w="9525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lreticulin inner (left RBC) 17"/>
          <p:cNvSpPr/>
          <p:nvPr/>
        </p:nvSpPr>
        <p:spPr>
          <a:xfrm rot="19500000">
            <a:off x="5123365" y="4404554"/>
            <a:ext cx="109728" cy="109728"/>
          </a:xfrm>
          <a:prstGeom prst="diamond">
            <a:avLst/>
          </a:prstGeom>
          <a:solidFill>
            <a:srgbClr val="FFB81D"/>
          </a:solidFill>
          <a:ln w="9525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alreticulin inner (left RBC) 18"/>
          <p:cNvSpPr/>
          <p:nvPr/>
        </p:nvSpPr>
        <p:spPr>
          <a:xfrm rot="20700000">
            <a:off x="5189799" y="4547022"/>
            <a:ext cx="109728" cy="109728"/>
          </a:xfrm>
          <a:prstGeom prst="diamond">
            <a:avLst/>
          </a:prstGeom>
          <a:solidFill>
            <a:srgbClr val="FFB81D"/>
          </a:solidFill>
          <a:ln w="9525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alreticulin outer (right RBC) 1"/>
          <p:cNvSpPr/>
          <p:nvPr/>
        </p:nvSpPr>
        <p:spPr>
          <a:xfrm rot="720000">
            <a:off x="8020813" y="4853325"/>
            <a:ext cx="109728" cy="109728"/>
          </a:xfrm>
          <a:prstGeom prst="diamond">
            <a:avLst/>
          </a:prstGeom>
          <a:solidFill>
            <a:srgbClr val="FFB81D"/>
          </a:solidFill>
          <a:ln w="9525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alreticulin outer (right RBC) 2"/>
          <p:cNvSpPr/>
          <p:nvPr/>
        </p:nvSpPr>
        <p:spPr>
          <a:xfrm rot="1920000">
            <a:off x="7941702" y="5049130"/>
            <a:ext cx="109728" cy="109728"/>
          </a:xfrm>
          <a:prstGeom prst="diamond">
            <a:avLst/>
          </a:prstGeom>
          <a:solidFill>
            <a:srgbClr val="FFB81D"/>
          </a:solidFill>
          <a:ln w="9525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alreticulin outer (right RBC) 3"/>
          <p:cNvSpPr/>
          <p:nvPr/>
        </p:nvSpPr>
        <p:spPr>
          <a:xfrm rot="3120000">
            <a:off x="7800394" y="5206069"/>
            <a:ext cx="109728" cy="109728"/>
          </a:xfrm>
          <a:prstGeom prst="diamond">
            <a:avLst/>
          </a:prstGeom>
          <a:solidFill>
            <a:srgbClr val="FFB81D"/>
          </a:solidFill>
          <a:ln w="9525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alreticulin outer (right RBC) 4"/>
          <p:cNvSpPr/>
          <p:nvPr/>
        </p:nvSpPr>
        <p:spPr>
          <a:xfrm rot="4320000">
            <a:off x="7613931" y="5305214"/>
            <a:ext cx="109728" cy="109728"/>
          </a:xfrm>
          <a:prstGeom prst="diamond">
            <a:avLst/>
          </a:prstGeom>
          <a:solidFill>
            <a:srgbClr val="FFB81D"/>
          </a:solidFill>
          <a:ln w="9525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alreticulin outer (right RBC) 5"/>
          <p:cNvSpPr/>
          <p:nvPr/>
        </p:nvSpPr>
        <p:spPr>
          <a:xfrm rot="5520000">
            <a:off x="7404803" y="5334604"/>
            <a:ext cx="109728" cy="109728"/>
          </a:xfrm>
          <a:prstGeom prst="diamond">
            <a:avLst/>
          </a:prstGeom>
          <a:solidFill>
            <a:srgbClr val="FFB81D"/>
          </a:solidFill>
          <a:ln w="9525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alreticulin outer (right RBC) 6"/>
          <p:cNvSpPr/>
          <p:nvPr/>
        </p:nvSpPr>
        <p:spPr>
          <a:xfrm rot="6720000">
            <a:off x="7198236" y="5290697"/>
            <a:ext cx="109728" cy="109728"/>
          </a:xfrm>
          <a:prstGeom prst="diamond">
            <a:avLst/>
          </a:prstGeom>
          <a:solidFill>
            <a:srgbClr val="FFB81D"/>
          </a:solidFill>
          <a:ln w="9525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Calreticulin outer (right RBC) 7"/>
          <p:cNvSpPr/>
          <p:nvPr/>
        </p:nvSpPr>
        <p:spPr>
          <a:xfrm rot="7920000">
            <a:off x="7019143" y="5178787"/>
            <a:ext cx="109728" cy="109728"/>
          </a:xfrm>
          <a:prstGeom prst="diamond">
            <a:avLst/>
          </a:prstGeom>
          <a:solidFill>
            <a:srgbClr val="FFB81D"/>
          </a:solidFill>
          <a:ln w="9525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Calreticulin outer (right RBC) 8"/>
          <p:cNvSpPr/>
          <p:nvPr/>
        </p:nvSpPr>
        <p:spPr>
          <a:xfrm rot="9120000">
            <a:off x="6889126" y="5012373"/>
            <a:ext cx="109728" cy="109728"/>
          </a:xfrm>
          <a:prstGeom prst="diamond">
            <a:avLst/>
          </a:prstGeom>
          <a:solidFill>
            <a:srgbClr val="FFB81D"/>
          </a:solidFill>
          <a:ln w="9525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alreticulin outer (right RBC) 9"/>
          <p:cNvSpPr/>
          <p:nvPr/>
        </p:nvSpPr>
        <p:spPr>
          <a:xfrm rot="10320000">
            <a:off x="6823867" y="4811527"/>
            <a:ext cx="109728" cy="109728"/>
          </a:xfrm>
          <a:prstGeom prst="diamond">
            <a:avLst/>
          </a:prstGeom>
          <a:solidFill>
            <a:srgbClr val="FFB81D"/>
          </a:solidFill>
          <a:ln w="9525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alreticulin outer (right RBC) 10"/>
          <p:cNvSpPr/>
          <p:nvPr/>
        </p:nvSpPr>
        <p:spPr>
          <a:xfrm rot="11520000">
            <a:off x="6831237" y="4600473"/>
            <a:ext cx="109728" cy="109728"/>
          </a:xfrm>
          <a:prstGeom prst="diamond">
            <a:avLst/>
          </a:prstGeom>
          <a:solidFill>
            <a:srgbClr val="FFB81D"/>
          </a:solidFill>
          <a:ln w="9525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Calreticulin outer (right RBC) 11"/>
          <p:cNvSpPr/>
          <p:nvPr/>
        </p:nvSpPr>
        <p:spPr>
          <a:xfrm rot="12720000">
            <a:off x="6910347" y="4404668"/>
            <a:ext cx="109728" cy="109728"/>
          </a:xfrm>
          <a:prstGeom prst="diamond">
            <a:avLst/>
          </a:prstGeom>
          <a:solidFill>
            <a:srgbClr val="FFB81D"/>
          </a:solidFill>
          <a:ln w="9525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alreticulin outer (right RBC) 12"/>
          <p:cNvSpPr/>
          <p:nvPr/>
        </p:nvSpPr>
        <p:spPr>
          <a:xfrm rot="13920000">
            <a:off x="7051656" y="4247728"/>
            <a:ext cx="109728" cy="109728"/>
          </a:xfrm>
          <a:prstGeom prst="diamond">
            <a:avLst/>
          </a:prstGeom>
          <a:solidFill>
            <a:srgbClr val="FFB81D"/>
          </a:solidFill>
          <a:ln w="9525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Calreticulin outer (right RBC) 13"/>
          <p:cNvSpPr/>
          <p:nvPr/>
        </p:nvSpPr>
        <p:spPr>
          <a:xfrm rot="15120000">
            <a:off x="7238119" y="4148584"/>
            <a:ext cx="109728" cy="109728"/>
          </a:xfrm>
          <a:prstGeom prst="diamond">
            <a:avLst/>
          </a:prstGeom>
          <a:solidFill>
            <a:srgbClr val="FFB81D"/>
          </a:solidFill>
          <a:ln w="9525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Calreticulin outer (right RBC) 14"/>
          <p:cNvSpPr/>
          <p:nvPr/>
        </p:nvSpPr>
        <p:spPr>
          <a:xfrm rot="16320000">
            <a:off x="7447246" y="4119193"/>
            <a:ext cx="109728" cy="109728"/>
          </a:xfrm>
          <a:prstGeom prst="diamond">
            <a:avLst/>
          </a:prstGeom>
          <a:solidFill>
            <a:srgbClr val="FFB81D"/>
          </a:solidFill>
          <a:ln w="9525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alreticulin outer (right RBC) 15"/>
          <p:cNvSpPr/>
          <p:nvPr/>
        </p:nvSpPr>
        <p:spPr>
          <a:xfrm rot="17520000">
            <a:off x="7653814" y="4163101"/>
            <a:ext cx="109728" cy="109728"/>
          </a:xfrm>
          <a:prstGeom prst="diamond">
            <a:avLst/>
          </a:prstGeom>
          <a:solidFill>
            <a:srgbClr val="FFB81D"/>
          </a:solidFill>
          <a:ln w="9525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Calreticulin outer (right RBC) 16"/>
          <p:cNvSpPr/>
          <p:nvPr/>
        </p:nvSpPr>
        <p:spPr>
          <a:xfrm rot="18720000">
            <a:off x="7832907" y="4275010"/>
            <a:ext cx="109728" cy="109728"/>
          </a:xfrm>
          <a:prstGeom prst="diamond">
            <a:avLst/>
          </a:prstGeom>
          <a:solidFill>
            <a:srgbClr val="FFB81D"/>
          </a:solidFill>
          <a:ln w="9525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alreticulin outer (right RBC) 17"/>
          <p:cNvSpPr/>
          <p:nvPr/>
        </p:nvSpPr>
        <p:spPr>
          <a:xfrm rot="19920000">
            <a:off x="7962924" y="4441424"/>
            <a:ext cx="109728" cy="109728"/>
          </a:xfrm>
          <a:prstGeom prst="diamond">
            <a:avLst/>
          </a:prstGeom>
          <a:solidFill>
            <a:srgbClr val="FFB81D"/>
          </a:solidFill>
          <a:ln w="9525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Calreticulin outer (right RBC) 18"/>
          <p:cNvSpPr/>
          <p:nvPr/>
        </p:nvSpPr>
        <p:spPr>
          <a:xfrm rot="21120000">
            <a:off x="8028183" y="4642271"/>
            <a:ext cx="109728" cy="109728"/>
          </a:xfrm>
          <a:prstGeom prst="diamond">
            <a:avLst/>
          </a:prstGeom>
          <a:solidFill>
            <a:srgbClr val="FFB81D"/>
          </a:solidFill>
          <a:ln w="9525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Calreticulin inner (right RBC) 1"/>
          <p:cNvSpPr/>
          <p:nvPr/>
        </p:nvSpPr>
        <p:spPr>
          <a:xfrm rot="2400000">
            <a:off x="7772758" y="5017843"/>
            <a:ext cx="109728" cy="109728"/>
          </a:xfrm>
          <a:prstGeom prst="diamond">
            <a:avLst/>
          </a:prstGeom>
          <a:solidFill>
            <a:srgbClr val="FFB81D"/>
          </a:solidFill>
          <a:ln w="9525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Calreticulin inner (right RBC) 2"/>
          <p:cNvSpPr/>
          <p:nvPr/>
        </p:nvSpPr>
        <p:spPr>
          <a:xfrm rot="7800000">
            <a:off x="7135081" y="5073632"/>
            <a:ext cx="109728" cy="109728"/>
          </a:xfrm>
          <a:prstGeom prst="diamond">
            <a:avLst/>
          </a:prstGeom>
          <a:solidFill>
            <a:srgbClr val="FFB81D"/>
          </a:solidFill>
          <a:ln w="9525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Calreticulin inner (right RBC) 3"/>
          <p:cNvSpPr/>
          <p:nvPr/>
        </p:nvSpPr>
        <p:spPr>
          <a:xfrm rot="13200000">
            <a:off x="7079292" y="4435955"/>
            <a:ext cx="109728" cy="109728"/>
          </a:xfrm>
          <a:prstGeom prst="diamond">
            <a:avLst/>
          </a:prstGeom>
          <a:solidFill>
            <a:srgbClr val="FFB81D"/>
          </a:solidFill>
          <a:ln w="9525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Calreticulin inner (right RBC) 4"/>
          <p:cNvSpPr/>
          <p:nvPr/>
        </p:nvSpPr>
        <p:spPr>
          <a:xfrm rot="18600000">
            <a:off x="7716968" y="4380166"/>
            <a:ext cx="109728" cy="109728"/>
          </a:xfrm>
          <a:prstGeom prst="diamond">
            <a:avLst/>
          </a:prstGeom>
          <a:solidFill>
            <a:srgbClr val="FFB81D"/>
          </a:solidFill>
          <a:ln w="9525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Legend calreticulin"/>
          <p:cNvSpPr/>
          <p:nvPr/>
        </p:nvSpPr>
        <p:spPr>
          <a:xfrm>
            <a:off x="5074920" y="6236208"/>
            <a:ext cx="109728" cy="109728"/>
          </a:xfrm>
          <a:prstGeom prst="diamond">
            <a:avLst/>
          </a:prstGeom>
          <a:solidFill>
            <a:srgbClr val="FFB81D"/>
          </a:solidFill>
          <a:ln w="9525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Legend label"/>
          <p:cNvSpPr txBox="1"/>
          <p:nvPr/>
        </p:nvSpPr>
        <p:spPr>
          <a:xfrm>
            <a:off x="5276088" y="6144768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>
                <a:solidFill>
                  <a:srgbClr val="333333"/>
                </a:solidFill>
                <a:latin typeface="Arial"/>
              </a:rPr>
              <a:t>Calreticulin (“eat me”)</a:t>
            </a:r>
          </a:p>
        </p:txBody>
      </p:sp>
    </p:spTree>
    <p:extLst>
      <p:ext uri="{BB962C8B-B14F-4D97-AF65-F5344CB8AC3E}">
        <p14:creationId xmlns:p14="http://schemas.microsoft.com/office/powerpoint/2010/main" val="11754523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70051ed-867f-4092-a6af-8a42e27b7e09}" enabled="1" method="Standard" siteId="{5217e0e7-539d-4563-b1bf-7c6dcf074f9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Samuel Cheshier</dc:creator>
  <cp:lastModifiedBy>Samuel Cheshier</cp:lastModifiedBy>
  <cp:revision>1</cp:revision>
  <dcterms:created xsi:type="dcterms:W3CDTF">2026-10-27T00:45:02Z</dcterms:created>
  <dcterms:modified xsi:type="dcterms:W3CDTF">2026-10-27T00:45:41Z</dcterms:modified>
</cp:coreProperties>
</file>