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05a33297-808a-c868-e028-de9a0ebbf7ec}">
          <p14:sldIdLst>
            <p14:sldId id="256"/>
            <p14:sldId id="257"/>
            <p14:sldId id="258"/>
          </p14:sldIdLst>
        </p14:section>
        <p14:section name="Case Presentation" id="{a510a5c0-b432-31a1-3fdf-31ad06b27973}">
          <p14:sldIdLst>
            <p14:sldId id="259"/>
            <p14:sldId id="260"/>
            <p14:sldId id="261"/>
          </p14:sldIdLst>
        </p14:section>
        <p14:section name="Background and Evidence" id="{22946fda-4193-ffb2-1a3e-f1f6a8b259e5}">
          <p14:sldIdLst>
            <p14:sldId id="262"/>
            <p14:sldId id="263"/>
            <p14:sldId id="264"/>
            <p14:sldId id="265"/>
            <p14:sldId id="266"/>
          </p14:sldIdLst>
        </p14:section>
        <p14:section name="Surgical Management" id="{d94e6b15-3844-7d38-1cad-0f7340d3e090}">
          <p14:sldIdLst>
            <p14:sldId id="267"/>
            <p14:sldId id="268"/>
            <p14:sldId id="269"/>
          </p14:sldIdLst>
        </p14:section>
        <p14:section name="Conclusion" id="{943787b6-9aa3-7669-af73-6cc3bf15903e}">
          <p14:sldIdLst>
            <p14:sldId id="270"/>
            <p14:sldId id="271"/>
            <p14:sldId id="272"/>
            <p14:sldId id="27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chemeClr val="tx1"/>
                </a:solidFill>
                <a:latin typeface="+mn-lt"/>
              </a:defRPr>
            </a:pPr>
            <a:r>
              <a:rPr sz="1400" b="0" i="0" u="none" strike="noStrike">
                <a:solidFill>
                  <a:schemeClr val="tx1"/>
                </a:solidFill>
                <a:latin typeface="+mn-lt"/>
              </a:rPr>
              <a:t>Favorable outcome at 12 months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Good outcome (%)</c:v>
                </c:pt>
              </c:strCache>
            </c:strRef>
          </c:tx>
          <c:spPr>
            <a:solidFill>
              <a:srgbClr val="BE000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chemeClr val="tx1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Approach A</c:v>
                  </c:pt>
                  <c:pt idx="1">
                    <c:v>Approach B</c:v>
                  </c:pt>
                  <c:pt idx="2">
                    <c:v>Approach C</c:v>
                  </c:pt>
                  <c:pt idx="3">
                    <c:v>Conservative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78</c:v>
                </c:pt>
                <c:pt idx="1">
                  <c:v>71</c:v>
                </c:pt>
                <c:pt idx="2">
                  <c:v>64</c:v>
                </c:pt>
                <c:pt idx="3">
                  <c:v>52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chemeClr val="tx1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chemeClr val="tx2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9525" cap="flat">
              <a:solidFill>
                <a:srgbClr val="E2E6E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chemeClr val="tx2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SLIDE. Replace the title, subtitle, and presenter block. To add a featured image, insert a picture and place it over the black panel on the right (it is 5.0" x 7.5" at x = 8.33"). If you have the official University of Utah Health logo file from University Marketing &amp; Communications, place it at the top left in place of the text wordmark.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6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UU_TITLE">
    <p:bg>
      <p:bgPr>
        <a:solidFill>
          <a:schemeClr val="accen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6952" y="0"/>
            <a:ext cx="4572000" cy="6858000"/>
          </a:xfrm>
          <a:prstGeom prst="rect">
            <a:avLst/>
          </a:prstGeom>
          <a:solidFill>
            <a:schemeClr val="tx1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160" y="1508760"/>
            <a:ext cx="3520440" cy="3840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54864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chemeClr val="bg1"/>
                </a:solidFill>
              </a:rPr>
              <a:t>UNIVERSITY OF UTAH HEALTH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640080" y="8686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2C4C4"/>
                </a:solidFill>
              </a:rPr>
              <a:t>Department of Neurosurgery</a:t>
            </a:r>
            <a:endParaRPr lang="en-US" sz="1200" dirty="0"/>
          </a:p>
        </p:txBody>
      </p:sp>
      <p:sp>
        <p:nvSpPr>
          <p:cNvPr id="6" name="Text 3"/>
          <p:cNvSpPr/>
          <p:nvPr>
            <p:ph idx="104" type="title" hasCustomPrompt="1"/>
          </p:nvPr>
        </p:nvSpPr>
        <p:spPr>
          <a:xfrm>
            <a:off x="640080" y="1828800"/>
            <a:ext cx="6583680" cy="1828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Presentation Title</a:t>
            </a:r>
            <a:endParaRPr lang="en-US" sz="4400" dirty="0"/>
          </a:p>
        </p:txBody>
      </p:sp>
      <p:sp>
        <p:nvSpPr>
          <p:cNvPr id="7" name="Text 3"/>
          <p:cNvSpPr/>
          <p:nvPr>
            <p:ph idx="105" type="body" hasCustomPrompt="1"/>
          </p:nvPr>
        </p:nvSpPr>
        <p:spPr>
          <a:xfrm>
            <a:off x="640080" y="3794760"/>
            <a:ext cx="658368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000" dirty="0">
                <a:solidFill>
                  <a:srgbClr val="F2C4C4"/>
                </a:solidFill>
              </a:defRPr>
            </a:lvl1pPr>
          </a:lstStyle>
          <a:p>
            <a:pPr indent="0" marL="0">
              <a:buNone/>
            </a:pPr>
            <a:r>
              <a:rPr lang="en-US" sz="2000" dirty="0">
                <a:solidFill>
                  <a:srgbClr val="F2C4C4"/>
                </a:solidFill>
              </a:rPr>
              <a:t>Subtitle</a:t>
            </a:r>
            <a:endParaRPr lang="en-US" sz="2000" dirty="0"/>
          </a:p>
        </p:txBody>
      </p:sp>
      <p:sp>
        <p:nvSpPr>
          <p:cNvPr id="8" name="Text 3"/>
          <p:cNvSpPr/>
          <p:nvPr>
            <p:ph idx="106" type="body" hasCustomPrompt="1"/>
          </p:nvPr>
        </p:nvSpPr>
        <p:spPr>
          <a:xfrm>
            <a:off x="640080" y="4983480"/>
            <a:ext cx="658368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400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Presenter</a:t>
            </a:r>
            <a:endParaRPr lang="en-US" sz="14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UU_SECTION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0" y="914400"/>
            <a:ext cx="4361688" cy="4754880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280160"/>
            <a:ext cx="365760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8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indent="0" marL="0">
              <a:buNone/>
            </a:pPr>
            <a:r>
              <a:rPr lang="en-US" sz="8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8800" dirty="0"/>
          </a:p>
        </p:txBody>
      </p:sp>
      <p:sp>
        <p:nvSpPr>
          <p:cNvPr id="4" name="Text 0"/>
          <p:cNvSpPr/>
          <p:nvPr>
            <p:ph idx="102" type="title" hasCustomPrompt="1"/>
          </p:nvPr>
        </p:nvSpPr>
        <p:spPr>
          <a:xfrm>
            <a:off x="731520" y="2834640"/>
            <a:ext cx="777240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Section Title</a:t>
            </a:r>
            <a:endParaRPr lang="en-US" sz="44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731520" y="4114800"/>
            <a:ext cx="685800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rgbClr val="A7A8AA"/>
                </a:solidFill>
              </a:defRPr>
            </a:lvl1pPr>
          </a:lstStyle>
          <a:p>
            <a:pPr indent="0" marL="0">
              <a:buNone/>
            </a:pPr>
            <a:r>
              <a:rPr lang="en-US" sz="1800" dirty="0">
                <a:solidFill>
                  <a:srgbClr val="A7A8AA"/>
                </a:solidFill>
              </a:rPr>
              <a:t>Section description</a:t>
            </a:r>
            <a:endParaRPr lang="en-US" sz="1800" dirty="0"/>
          </a:p>
        </p:txBody>
      </p:sp>
      <p:sp>
        <p:nvSpPr>
          <p:cNvPr id="6" name="Shape 0"/>
          <p:cNvSpPr/>
          <p:nvPr/>
        </p:nvSpPr>
        <p:spPr>
          <a:xfrm>
            <a:off x="548640" y="6428232"/>
            <a:ext cx="146304" cy="146304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7" name="Text 1"/>
          <p:cNvSpPr/>
          <p:nvPr/>
        </p:nvSpPr>
        <p:spPr>
          <a:xfrm>
            <a:off x="777240" y="6355080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7A8AA"/>
                </a:solidFill>
              </a:rPr>
              <a:t>Neurosurgery Grand Rounds  |  University of Utah Health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55080"/>
            <a:ext cx="758952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rgbClr val="A7A8A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UU_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Slide Title</a:t>
            </a:r>
            <a:endParaRPr lang="en-US" sz="3400" dirty="0"/>
          </a:p>
        </p:txBody>
      </p:sp>
      <p:sp>
        <p:nvSpPr>
          <p:cNvPr id="3" name="Shape 0"/>
          <p:cNvSpPr/>
          <p:nvPr/>
        </p:nvSpPr>
        <p:spPr>
          <a:xfrm>
            <a:off x="548640" y="6428232"/>
            <a:ext cx="146304" cy="146304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4" name="Text 1"/>
          <p:cNvSpPr/>
          <p:nvPr/>
        </p:nvSpPr>
        <p:spPr>
          <a:xfrm>
            <a:off x="777240" y="6355080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</a:rPr>
              <a:t>Neurosurgery Grand Rounds  |  University of Utah Health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55080"/>
            <a:ext cx="758952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UU_CONTENT_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Slide Title</a:t>
            </a:r>
            <a:endParaRPr lang="en-US" sz="3400" dirty="0"/>
          </a:p>
        </p:txBody>
      </p:sp>
      <p:sp>
        <p:nvSpPr>
          <p:cNvPr id="3" name="Shape 0"/>
          <p:cNvSpPr/>
          <p:nvPr/>
        </p:nvSpPr>
        <p:spPr>
          <a:xfrm>
            <a:off x="548640" y="6428232"/>
            <a:ext cx="146304" cy="146304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4" name="Text 1"/>
          <p:cNvSpPr/>
          <p:nvPr/>
        </p:nvSpPr>
        <p:spPr>
          <a:xfrm>
            <a:off x="777240" y="6355080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7A8AA"/>
                </a:solidFill>
              </a:rPr>
              <a:t>Neurosurgery Grand Rounds  |  University of Utah Health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55080"/>
            <a:ext cx="758952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rgbClr val="A7A8A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UU_CLOSING">
    <p:bg>
      <p:bgPr>
        <a:solidFill>
          <a:schemeClr val="accen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57800" y="822960"/>
            <a:ext cx="1682496" cy="1828800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title" hasCustomPrompt="1"/>
          </p:nvPr>
        </p:nvSpPr>
        <p:spPr>
          <a:xfrm>
            <a:off x="914400" y="2834640"/>
            <a:ext cx="10360152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5400" b="1" dirty="0">
                <a:solidFill>
                  <a:schemeClr val="bg1"/>
                </a:solidFill>
              </a:defRPr>
            </a:lvl1pPr>
          </a:lstStyle>
          <a:p>
            <a:pPr algn="ctr" indent="0" marL="0">
              <a:buNone/>
            </a:pPr>
            <a:r>
              <a:rPr lang="en-US" sz="5400" b="1" dirty="0">
                <a:solidFill>
                  <a:schemeClr val="bg1"/>
                </a:solidFill>
              </a:rPr>
              <a:t>Questions</a:t>
            </a:r>
            <a:endParaRPr lang="en-US" sz="5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1371600" y="4023360"/>
            <a:ext cx="9445752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800" dirty="0">
                <a:solidFill>
                  <a:srgbClr val="F2C4C4"/>
                </a:solidFill>
              </a:defRPr>
            </a:lvl1pPr>
          </a:lstStyle>
          <a:p>
            <a:pPr algn="ctr" indent="0" marL="0">
              <a:buNone/>
            </a:pPr>
            <a:r>
              <a:rPr lang="en-US" sz="1800" dirty="0">
                <a:solidFill>
                  <a:srgbClr val="F2C4C4"/>
                </a:solidFill>
              </a:rPr>
              <a:t>Contact</a:t>
            </a:r>
            <a:endParaRPr lang="en-US" sz="1800" dirty="0"/>
          </a:p>
        </p:txBody>
      </p:sp>
      <p:sp>
        <p:nvSpPr>
          <p:cNvPr id="5" name="Text 0"/>
          <p:cNvSpPr/>
          <p:nvPr/>
        </p:nvSpPr>
        <p:spPr>
          <a:xfrm>
            <a:off x="914400" y="6126480"/>
            <a:ext cx="103601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chemeClr val="bg1"/>
                </a:solidFill>
              </a:rPr>
              <a:t>UNIVERSITY OF UTAH HEALTH  |  DEPARTMENT OF NEUROSURGERY</a:t>
            </a:r>
            <a:endParaRPr lang="en-US" sz="11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55080"/>
            <a:ext cx="758952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rgbClr val="A7A8A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image" Target="../media/image-13-7.png"/><Relationship Id="rId8" Type="http://schemas.openxmlformats.org/officeDocument/2006/relationships/slideLayout" Target="../slideLayouts/slideLayout4.xml"/><Relationship Id="rId9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4" type="title" hasCustomPrompt="1"/>
          </p:nvPr>
        </p:nvSpPr>
        <p:spPr>
          <a:xfrm>
            <a:off x="640080" y="1828800"/>
            <a:ext cx="65836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Presentation Title Goes Here</a:t>
            </a:r>
            <a:endParaRPr lang="en-US" sz="4400" dirty="0"/>
          </a:p>
        </p:txBody>
      </p:sp>
      <p:sp>
        <p:nvSpPr>
          <p:cNvPr id="3" name="Text 3"/>
          <p:cNvSpPr/>
          <p:nvPr>
            <p:ph idx="105" type="body" hasCustomPrompt="1"/>
          </p:nvPr>
        </p:nvSpPr>
        <p:spPr>
          <a:xfrm>
            <a:off x="640080" y="3794760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2C4C4"/>
                </a:solidFill>
              </a:rPr>
              <a:t>Subtitle or focus of today's Grand Rounds</a:t>
            </a:r>
            <a:endParaRPr lang="en-US" sz="2000" dirty="0"/>
          </a:p>
        </p:txBody>
      </p:sp>
      <p:sp>
        <p:nvSpPr>
          <p:cNvPr id="4" name="Text 3"/>
          <p:cNvSpPr/>
          <p:nvPr>
            <p:ph idx="106" type="body" hasCustomPrompt="1"/>
          </p:nvPr>
        </p:nvSpPr>
        <p:spPr>
          <a:xfrm>
            <a:off x="640080" y="4983480"/>
            <a:ext cx="6583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Presenter Name, MD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Assistant Professor, Department of Neurosurgery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Grand Rounds  |  Month DD,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Disclosures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600200"/>
            <a:ext cx="3474720" cy="374904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4" name="Shape 2"/>
          <p:cNvSpPr/>
          <p:nvPr/>
        </p:nvSpPr>
        <p:spPr>
          <a:xfrm>
            <a:off x="914400" y="1965960"/>
            <a:ext cx="822960" cy="8229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8370" y="2179930"/>
            <a:ext cx="395021" cy="395021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914400" y="30175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Financial Relationships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356616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I have no relevant financial relationships with ineligible companies to disclose.  (Edit to list any relationships.)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4297680" y="1600200"/>
            <a:ext cx="3474720" cy="374904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9" name="Shape 6"/>
          <p:cNvSpPr/>
          <p:nvPr/>
        </p:nvSpPr>
        <p:spPr>
          <a:xfrm>
            <a:off x="4663440" y="1965960"/>
            <a:ext cx="822960" cy="8229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7410" y="2179930"/>
            <a:ext cx="395021" cy="395021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663440" y="30175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Off-Label Use</a:t>
            </a:r>
            <a:endParaRPr lang="en-US" sz="2000" dirty="0"/>
          </a:p>
        </p:txBody>
      </p:sp>
      <p:sp>
        <p:nvSpPr>
          <p:cNvPr id="12" name="Text 8"/>
          <p:cNvSpPr txBox="1"/>
          <p:nvPr/>
        </p:nvSpPr>
        <p:spPr>
          <a:xfrm>
            <a:off x="4663440" y="356616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This presentation does / does not include discussion of off-label or investigational use of devices or medications.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8046720" y="1600200"/>
            <a:ext cx="3474720" cy="374904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4" name="Shape 10"/>
          <p:cNvSpPr/>
          <p:nvPr/>
        </p:nvSpPr>
        <p:spPr>
          <a:xfrm>
            <a:off x="8412480" y="1965960"/>
            <a:ext cx="822960" cy="8229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26450" y="2179930"/>
            <a:ext cx="395021" cy="395021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8412480" y="30175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Patient Privacy</a:t>
            </a:r>
            <a:endParaRPr lang="en-US" sz="2000" dirty="0"/>
          </a:p>
        </p:txBody>
      </p:sp>
      <p:sp>
        <p:nvSpPr>
          <p:cNvPr id="17" name="Text 12"/>
          <p:cNvSpPr txBox="1"/>
          <p:nvPr/>
        </p:nvSpPr>
        <p:spPr>
          <a:xfrm>
            <a:off x="8412480" y="356616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All patient images and case details have been de-identified in accordance with HIPAA.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55080"/>
            <a:ext cx="758952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Learning Objectives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3"/>
                </a:solidFill>
              </a:rPr>
              <a:t>At the conclusion of this session, participants will be able to: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9659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463040" y="196596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Describe </a:t>
            </a:r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the pathophysiology and clinical presentation of the condition under discussion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48640" y="2990088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2990088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1463040" y="2990088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Interpret </a:t>
            </a:r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the key imaging findings that guide surgical decision-making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48640" y="4014216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4014216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1463040" y="4014216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Compare </a:t>
            </a:r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operative and non-operative management strategies using current evidence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548640" y="5038344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48640" y="5038344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1463040" y="5038344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Apply </a:t>
            </a:r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these principles to perioperative care and patient counseling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55080"/>
            <a:ext cx="758952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731520" y="1280160"/>
            <a:ext cx="3657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88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731520" y="2834640"/>
            <a:ext cx="7772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Case Presentation</a:t>
            </a:r>
            <a:endParaRPr lang="en-US" sz="4400" dirty="0"/>
          </a:p>
        </p:txBody>
      </p:sp>
      <p:sp>
        <p:nvSpPr>
          <p:cNvPr id="4" name="Text 0"/>
          <p:cNvSpPr/>
          <p:nvPr>
            <p:ph idx="103" type="body" hasCustomPrompt="1"/>
          </p:nvPr>
        </p:nvSpPr>
        <p:spPr>
          <a:xfrm>
            <a:off x="731520" y="4114800"/>
            <a:ext cx="6858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A7A8AA"/>
                </a:solidFill>
              </a:rPr>
              <a:t>History, examination, and imaging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55080"/>
            <a:ext cx="758952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rgbClr val="A7A8A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Case: 54-Year-Old with Progressive Headache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5120640" cy="461772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68680" y="173736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HPI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2029968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Brief history of present illness, symptom onset, and progression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78892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EXAM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3081528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Neurologic examination: mental status, cranial nerves, motor, sensory, reflexes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384048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PMH / MEDS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4133088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Relevant comorbidities, anticoagulants, prior surgery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868680" y="489204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LABS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868680" y="5184648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Pertinent laboratory values</a:t>
            </a:r>
            <a:endParaRPr lang="en-US" sz="1500" dirty="0"/>
          </a:p>
        </p:txBody>
      </p:sp>
      <p:sp>
        <p:nvSpPr>
          <p:cNvPr id="12" name="Imaging 1"/>
          <p:cNvSpPr/>
          <p:nvPr/>
        </p:nvSpPr>
        <p:spPr>
          <a:xfrm>
            <a:off x="6035040" y="1463040"/>
            <a:ext cx="2697480" cy="4617720"/>
          </a:xfrm>
          <a:prstGeom prst="rect">
            <a:avLst/>
          </a:prstGeom>
          <a:solidFill>
            <a:schemeClr val="bg2"/>
          </a:solidFill>
          <a:ln w="9525">
            <a:solidFill>
              <a:srgbClr val="D5DADA"/>
            </a:solidFill>
            <a:prstDash val="solid"/>
          </a:ln>
        </p:spPr>
      </p:sp>
      <p:pic>
        <p:nvPicPr>
          <p:cNvPr id="13" name="Imaging 1 icon" descr="preencoded.png">    </p:cNvPr>
          <p:cNvPicPr>
            <a:picLocks noChangeAspect="1"/>
          </p:cNvPicPr>
          <p:nvPr/>
        </p:nvPicPr>
        <p:blipFill>
          <a:blip r:embed="rId1">
            <a:alphaModFix amt="70000"/>
          </a:blip>
          <a:stretch>
            <a:fillRect/>
          </a:stretch>
        </p:blipFill>
        <p:spPr>
          <a:xfrm>
            <a:off x="7018020" y="3177540"/>
            <a:ext cx="731520" cy="731520"/>
          </a:xfrm>
          <a:prstGeom prst="rect">
            <a:avLst/>
          </a:prstGeom>
        </p:spPr>
      </p:pic>
      <p:sp>
        <p:nvSpPr>
          <p:cNvPr id="14" name="Imaging 1 label"/>
          <p:cNvSpPr txBox="1"/>
          <p:nvPr/>
        </p:nvSpPr>
        <p:spPr>
          <a:xfrm>
            <a:off x="6172200" y="404622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MRI  T1 post-contrast</a:t>
            </a:r>
            <a:endParaRPr lang="en-US" sz="1200" dirty="0"/>
          </a:p>
        </p:txBody>
      </p:sp>
      <p:sp>
        <p:nvSpPr>
          <p:cNvPr id="15" name="Imaging 2"/>
          <p:cNvSpPr/>
          <p:nvPr/>
        </p:nvSpPr>
        <p:spPr>
          <a:xfrm>
            <a:off x="8915400" y="1463040"/>
            <a:ext cx="2697480" cy="4617720"/>
          </a:xfrm>
          <a:prstGeom prst="rect">
            <a:avLst/>
          </a:prstGeom>
          <a:solidFill>
            <a:schemeClr val="bg2"/>
          </a:solidFill>
          <a:ln w="9525">
            <a:solidFill>
              <a:srgbClr val="D5DADA"/>
            </a:solidFill>
            <a:prstDash val="solid"/>
          </a:ln>
        </p:spPr>
      </p:sp>
      <p:pic>
        <p:nvPicPr>
          <p:cNvPr id="16" name="Imaging 2 icon" descr="preencoded.png">    </p:cNvPr>
          <p:cNvPicPr>
            <a:picLocks noChangeAspect="1"/>
          </p:cNvPicPr>
          <p:nvPr/>
        </p:nvPicPr>
        <p:blipFill>
          <a:blip r:embed="rId2">
            <a:alphaModFix amt="70000"/>
          </a:blip>
          <a:stretch>
            <a:fillRect/>
          </a:stretch>
        </p:blipFill>
        <p:spPr>
          <a:xfrm>
            <a:off x="9898380" y="3177540"/>
            <a:ext cx="731520" cy="731520"/>
          </a:xfrm>
          <a:prstGeom prst="rect">
            <a:avLst/>
          </a:prstGeom>
        </p:spPr>
      </p:pic>
      <p:sp>
        <p:nvSpPr>
          <p:cNvPr id="17" name="Imaging 2 label"/>
          <p:cNvSpPr txBox="1"/>
          <p:nvPr/>
        </p:nvSpPr>
        <p:spPr>
          <a:xfrm>
            <a:off x="9052560" y="404622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MRI  T2 / FLAIR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55080"/>
            <a:ext cx="758952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Pre-operative vs. Post-operative Imaging</a:t>
            </a:r>
            <a:endParaRPr lang="en-US" sz="3400" dirty="0"/>
          </a:p>
        </p:txBody>
      </p:sp>
      <p:sp>
        <p:nvSpPr>
          <p:cNvPr id="3" name="Pre-operative image"/>
          <p:cNvSpPr/>
          <p:nvPr/>
        </p:nvSpPr>
        <p:spPr>
          <a:xfrm>
            <a:off x="548640" y="1463040"/>
            <a:ext cx="3474720" cy="3657600"/>
          </a:xfrm>
          <a:prstGeom prst="rect">
            <a:avLst/>
          </a:prstGeom>
          <a:solidFill>
            <a:schemeClr val="bg2"/>
          </a:solidFill>
          <a:ln w="9525">
            <a:solidFill>
              <a:srgbClr val="D5DADA"/>
            </a:solidFill>
            <a:prstDash val="solid"/>
          </a:ln>
        </p:spPr>
      </p:sp>
      <p:pic>
        <p:nvPicPr>
          <p:cNvPr id="4" name="Pre-operative image icon" descr="preencoded.png">    </p:cNvPr>
          <p:cNvPicPr>
            <a:picLocks noChangeAspect="1"/>
          </p:cNvPicPr>
          <p:nvPr/>
        </p:nvPicPr>
        <p:blipFill>
          <a:blip r:embed="rId1">
            <a:alphaModFix amt="70000"/>
          </a:blip>
          <a:stretch>
            <a:fillRect/>
          </a:stretch>
        </p:blipFill>
        <p:spPr>
          <a:xfrm>
            <a:off x="1920240" y="2697480"/>
            <a:ext cx="731520" cy="731520"/>
          </a:xfrm>
          <a:prstGeom prst="rect">
            <a:avLst/>
          </a:prstGeom>
        </p:spPr>
      </p:pic>
      <p:sp>
        <p:nvSpPr>
          <p:cNvPr id="5" name="Pre-operative image label"/>
          <p:cNvSpPr txBox="1"/>
          <p:nvPr/>
        </p:nvSpPr>
        <p:spPr>
          <a:xfrm>
            <a:off x="685800" y="35661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Insert image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52578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Pre-operative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56235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</a:rPr>
              <a:t>Sequence, plane, and key finding</a:t>
            </a:r>
            <a:endParaRPr lang="en-US" sz="1300" dirty="0"/>
          </a:p>
        </p:txBody>
      </p:sp>
      <p:sp>
        <p:nvSpPr>
          <p:cNvPr id="8" name="Intra-operative image"/>
          <p:cNvSpPr/>
          <p:nvPr/>
        </p:nvSpPr>
        <p:spPr>
          <a:xfrm>
            <a:off x="4297680" y="1463040"/>
            <a:ext cx="3474720" cy="3657600"/>
          </a:xfrm>
          <a:prstGeom prst="rect">
            <a:avLst/>
          </a:prstGeom>
          <a:solidFill>
            <a:schemeClr val="bg2"/>
          </a:solidFill>
          <a:ln w="9525">
            <a:solidFill>
              <a:srgbClr val="D5DADA"/>
            </a:solidFill>
            <a:prstDash val="solid"/>
          </a:ln>
        </p:spPr>
      </p:sp>
      <p:pic>
        <p:nvPicPr>
          <p:cNvPr id="9" name="Intra-operative image icon" descr="preencoded.png">    </p:cNvPr>
          <p:cNvPicPr>
            <a:picLocks noChangeAspect="1"/>
          </p:cNvPicPr>
          <p:nvPr/>
        </p:nvPicPr>
        <p:blipFill>
          <a:blip r:embed="rId2">
            <a:alphaModFix amt="70000"/>
          </a:blip>
          <a:stretch>
            <a:fillRect/>
          </a:stretch>
        </p:blipFill>
        <p:spPr>
          <a:xfrm>
            <a:off x="5669280" y="2697480"/>
            <a:ext cx="731520" cy="731520"/>
          </a:xfrm>
          <a:prstGeom prst="rect">
            <a:avLst/>
          </a:prstGeom>
        </p:spPr>
      </p:pic>
      <p:sp>
        <p:nvSpPr>
          <p:cNvPr id="10" name="Intra-operative image label"/>
          <p:cNvSpPr txBox="1"/>
          <p:nvPr/>
        </p:nvSpPr>
        <p:spPr>
          <a:xfrm>
            <a:off x="4434840" y="35661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Insert image</a:t>
            </a:r>
            <a:endParaRPr lang="en-US" sz="1200" dirty="0"/>
          </a:p>
        </p:txBody>
      </p:sp>
      <p:sp>
        <p:nvSpPr>
          <p:cNvPr id="11" name="Text 7"/>
          <p:cNvSpPr txBox="1"/>
          <p:nvPr/>
        </p:nvSpPr>
        <p:spPr>
          <a:xfrm>
            <a:off x="4297680" y="52578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Intra-operative</a:t>
            </a:r>
            <a:endParaRPr lang="en-US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4297680" y="56235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</a:rPr>
              <a:t>Sequence, plane, and key finding</a:t>
            </a:r>
            <a:endParaRPr lang="en-US" sz="1300" dirty="0"/>
          </a:p>
        </p:txBody>
      </p:sp>
      <p:sp>
        <p:nvSpPr>
          <p:cNvPr id="13" name="Post-operative image"/>
          <p:cNvSpPr/>
          <p:nvPr/>
        </p:nvSpPr>
        <p:spPr>
          <a:xfrm>
            <a:off x="8046720" y="1463040"/>
            <a:ext cx="3474720" cy="3657600"/>
          </a:xfrm>
          <a:prstGeom prst="rect">
            <a:avLst/>
          </a:prstGeom>
          <a:solidFill>
            <a:schemeClr val="bg2"/>
          </a:solidFill>
          <a:ln w="9525">
            <a:solidFill>
              <a:srgbClr val="D5DADA"/>
            </a:solidFill>
            <a:prstDash val="solid"/>
          </a:ln>
        </p:spPr>
      </p:sp>
      <p:pic>
        <p:nvPicPr>
          <p:cNvPr id="14" name="Post-operative image icon" descr="preencoded.png">    </p:cNvPr>
          <p:cNvPicPr>
            <a:picLocks noChangeAspect="1"/>
          </p:cNvPicPr>
          <p:nvPr/>
        </p:nvPicPr>
        <p:blipFill>
          <a:blip r:embed="rId3">
            <a:alphaModFix amt="70000"/>
          </a:blip>
          <a:stretch>
            <a:fillRect/>
          </a:stretch>
        </p:blipFill>
        <p:spPr>
          <a:xfrm>
            <a:off x="9418320" y="2697480"/>
            <a:ext cx="731520" cy="731520"/>
          </a:xfrm>
          <a:prstGeom prst="rect">
            <a:avLst/>
          </a:prstGeom>
        </p:spPr>
      </p:pic>
      <p:sp>
        <p:nvSpPr>
          <p:cNvPr id="15" name="Post-operative image label"/>
          <p:cNvSpPr txBox="1"/>
          <p:nvPr/>
        </p:nvSpPr>
        <p:spPr>
          <a:xfrm>
            <a:off x="8183880" y="35661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Insert image</a:t>
            </a:r>
            <a:endParaRPr lang="en-US" sz="1200" dirty="0"/>
          </a:p>
        </p:txBody>
      </p:sp>
      <p:sp>
        <p:nvSpPr>
          <p:cNvPr id="16" name="Text 11"/>
          <p:cNvSpPr txBox="1"/>
          <p:nvPr/>
        </p:nvSpPr>
        <p:spPr>
          <a:xfrm>
            <a:off x="8046720" y="52578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Post-operative</a:t>
            </a:r>
            <a:endParaRPr lang="en-US" sz="1800" dirty="0"/>
          </a:p>
        </p:txBody>
      </p:sp>
      <p:sp>
        <p:nvSpPr>
          <p:cNvPr id="17" name="Text 12"/>
          <p:cNvSpPr txBox="1"/>
          <p:nvPr/>
        </p:nvSpPr>
        <p:spPr>
          <a:xfrm>
            <a:off x="8046720" y="56235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</a:rPr>
              <a:t>Sequence, plane, and key finding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55080"/>
            <a:ext cx="758952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731520" y="1280160"/>
            <a:ext cx="3657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88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731520" y="2834640"/>
            <a:ext cx="7772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Background &amp; Evidence</a:t>
            </a:r>
            <a:endParaRPr lang="en-US" sz="4400" dirty="0"/>
          </a:p>
        </p:txBody>
      </p:sp>
      <p:sp>
        <p:nvSpPr>
          <p:cNvPr id="4" name="Text 0"/>
          <p:cNvSpPr/>
          <p:nvPr>
            <p:ph idx="103" type="body" hasCustomPrompt="1"/>
          </p:nvPr>
        </p:nvSpPr>
        <p:spPr>
          <a:xfrm>
            <a:off x="731520" y="4114800"/>
            <a:ext cx="6858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A7A8AA"/>
                </a:solidFill>
              </a:rPr>
              <a:t>Epidemiology, pathophysiology, and the literature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55080"/>
            <a:ext cx="758952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rgbClr val="A7A8A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Pathophysiology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508760"/>
            <a:ext cx="585216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Key concept one with a concise supporting statement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Key concept two: mechanism or anatomic relationship</a:t>
            </a:r>
            <a:endParaRPr lang="en-US" sz="1800" dirty="0"/>
          </a:p>
          <a:p>
            <a:pPr lvl="1" marL="6858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chemeClr val="tx2"/>
                </a:solidFill>
              </a:rPr>
              <a:t>Sub-point with additional detail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Key concept three: natural history and risk factors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Key concept four: clinical implications</a:t>
            </a:r>
            <a:endParaRPr lang="en-US" sz="1800" dirty="0"/>
          </a:p>
        </p:txBody>
      </p:sp>
      <p:sp>
        <p:nvSpPr>
          <p:cNvPr id="4" name="Figure"/>
          <p:cNvSpPr/>
          <p:nvPr/>
        </p:nvSpPr>
        <p:spPr>
          <a:xfrm>
            <a:off x="6858000" y="1463040"/>
            <a:ext cx="4754880" cy="3931920"/>
          </a:xfrm>
          <a:prstGeom prst="rect">
            <a:avLst/>
          </a:prstGeom>
          <a:solidFill>
            <a:schemeClr val="bg2"/>
          </a:solidFill>
          <a:ln w="9525">
            <a:solidFill>
              <a:srgbClr val="D5DADA"/>
            </a:solidFill>
            <a:prstDash val="solid"/>
          </a:ln>
        </p:spPr>
      </p:sp>
      <p:pic>
        <p:nvPicPr>
          <p:cNvPr id="5" name="Figure icon" descr="preencoded.png">    </p:cNvPr>
          <p:cNvPicPr>
            <a:picLocks noChangeAspect="1"/>
          </p:cNvPicPr>
          <p:nvPr/>
        </p:nvPicPr>
        <p:blipFill>
          <a:blip r:embed="rId1">
            <a:alphaModFix amt="70000"/>
          </a:blip>
          <a:stretch>
            <a:fillRect/>
          </a:stretch>
        </p:blipFill>
        <p:spPr>
          <a:xfrm>
            <a:off x="8869680" y="2834640"/>
            <a:ext cx="731520" cy="731520"/>
          </a:xfrm>
          <a:prstGeom prst="rect">
            <a:avLst/>
          </a:prstGeom>
        </p:spPr>
      </p:pic>
      <p:sp>
        <p:nvSpPr>
          <p:cNvPr id="6" name="Figure label"/>
          <p:cNvSpPr txBox="1"/>
          <p:nvPr/>
        </p:nvSpPr>
        <p:spPr>
          <a:xfrm>
            <a:off x="6995160" y="370332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Illustration, diagram, or figure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6858000" y="548640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3"/>
                </a:solidFill>
              </a:rPr>
              <a:t>Figure caption and source citation (Author et al., Journal, Year)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55080"/>
            <a:ext cx="758952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Outcomes by Treatment Approach</a:t>
            </a:r>
            <a:endParaRPr lang="en-US" sz="34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417320"/>
          <a:ext cx="6949440" cy="4663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hape 1"/>
          <p:cNvSpPr/>
          <p:nvPr/>
        </p:nvSpPr>
        <p:spPr>
          <a:xfrm>
            <a:off x="7955280" y="1463040"/>
            <a:ext cx="3657600" cy="461772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8275320" y="178308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KEY FINDING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8275320" y="210312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One-sentence takeaway from the data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8275320" y="3291840"/>
            <a:ext cx="3017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</a:rPr>
              <a:t>Study design and population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</a:rPr>
              <a:t>Primary endpoint definition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</a:rPr>
              <a:t>Statistical significance (p-value, CI)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8275320" y="53492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3"/>
                </a:solidFill>
              </a:rPr>
              <a:t>Sample data shown. Right-click the chart &gt; Edit Data.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55080"/>
            <a:ext cx="758952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Summary of Key Literature</a:t>
            </a:r>
            <a:endParaRPr lang="en-US" sz="34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6424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1737360"/>
                <a:gridCol w="731520"/>
                <a:gridCol w="2194560"/>
                <a:gridCol w="2103120"/>
                <a:gridCol w="219456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Study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5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Design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5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N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5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Intervention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5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Primary Outcome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5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Key Result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5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Author et al., Year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5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RCT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5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000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5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Surgery vs. medical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5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mRS 0-2 at 6 mo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5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Summary of result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5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Author et al., Year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5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Prospective cohort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5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000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5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Technique A vs. B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5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Complication rate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5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Summary of result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5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Author et al., Year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5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Meta-analysis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5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000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5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Pooled analysis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5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Recurrence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5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Summary of result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5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Author et al., Year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5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Retrospective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5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000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5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Single-center series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5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Overall survival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5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Summary of result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5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8064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3"/>
                </a:solidFill>
              </a:rPr>
              <a:t>Abbreviations: RCT, randomized controlled trial; mRS, modified Rankin Scale.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55080"/>
            <a:ext cx="758952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Epidemiology at a Glance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737360"/>
            <a:ext cx="3474720" cy="329184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2103120"/>
            <a:ext cx="2926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00K</a:t>
            </a:r>
            <a:endParaRPr lang="en-US" sz="66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3520440"/>
            <a:ext cx="2834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new cases diagnosed annually in the U.S.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297680" y="1737360"/>
            <a:ext cx="3474720" cy="329184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572000" y="2103120"/>
            <a:ext cx="2926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00%</a:t>
            </a:r>
            <a:endParaRPr lang="en-US" sz="6600" dirty="0"/>
          </a:p>
        </p:txBody>
      </p:sp>
      <p:sp>
        <p:nvSpPr>
          <p:cNvPr id="8" name="Text 6"/>
          <p:cNvSpPr txBox="1"/>
          <p:nvPr/>
        </p:nvSpPr>
        <p:spPr>
          <a:xfrm>
            <a:off x="4617720" y="3520440"/>
            <a:ext cx="2834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of patients present with this symptom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046720" y="1737360"/>
            <a:ext cx="3474720" cy="329184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321040" y="2103120"/>
            <a:ext cx="2926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00 mo</a:t>
            </a:r>
            <a:endParaRPr lang="en-US" sz="6600" dirty="0"/>
          </a:p>
        </p:txBody>
      </p:sp>
      <p:sp>
        <p:nvSpPr>
          <p:cNvPr id="11" name="Text 9"/>
          <p:cNvSpPr txBox="1"/>
          <p:nvPr/>
        </p:nvSpPr>
        <p:spPr>
          <a:xfrm>
            <a:off x="8366760" y="3520440"/>
            <a:ext cx="2834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median survival / time to recurrence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55778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3"/>
                </a:solidFill>
              </a:rPr>
              <a:t>Source: Author et al., Journal, Year.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55080"/>
            <a:ext cx="758952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731520" y="1280160"/>
            <a:ext cx="3657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88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731520" y="2834640"/>
            <a:ext cx="7772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Surgical Management</a:t>
            </a:r>
            <a:endParaRPr lang="en-US" sz="4400" dirty="0"/>
          </a:p>
        </p:txBody>
      </p:sp>
      <p:sp>
        <p:nvSpPr>
          <p:cNvPr id="4" name="Text 0"/>
          <p:cNvSpPr/>
          <p:nvPr>
            <p:ph idx="103" type="body" hasCustomPrompt="1"/>
          </p:nvPr>
        </p:nvSpPr>
        <p:spPr>
          <a:xfrm>
            <a:off x="731520" y="4114800"/>
            <a:ext cx="6858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A7A8AA"/>
                </a:solidFill>
              </a:rPr>
              <a:t>Indications, technique, and outcomes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55080"/>
            <a:ext cx="758952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rgbClr val="A7A8A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Operative Technique: Key Steps</a:t>
            </a:r>
            <a:endParaRPr lang="en-US" sz="3400" dirty="0"/>
          </a:p>
        </p:txBody>
      </p:sp>
      <p:sp>
        <p:nvSpPr>
          <p:cNvPr id="3" name="Step 1 image"/>
          <p:cNvSpPr/>
          <p:nvPr/>
        </p:nvSpPr>
        <p:spPr>
          <a:xfrm>
            <a:off x="548640" y="1463040"/>
            <a:ext cx="2468880" cy="2011680"/>
          </a:xfrm>
          <a:prstGeom prst="rect">
            <a:avLst/>
          </a:prstGeom>
          <a:solidFill>
            <a:schemeClr val="bg2"/>
          </a:solidFill>
          <a:ln w="9525">
            <a:solidFill>
              <a:srgbClr val="D5DADA"/>
            </a:solidFill>
            <a:prstDash val="solid"/>
          </a:ln>
        </p:spPr>
      </p:sp>
      <p:pic>
        <p:nvPicPr>
          <p:cNvPr id="4" name="Step 1 image icon" descr="preencoded.png">    </p:cNvPr>
          <p:cNvPicPr>
            <a:picLocks noChangeAspect="1"/>
          </p:cNvPicPr>
          <p:nvPr/>
        </p:nvPicPr>
        <p:blipFill>
          <a:blip r:embed="rId1">
            <a:alphaModFix amt="70000"/>
          </a:blip>
          <a:stretch>
            <a:fillRect/>
          </a:stretch>
        </p:blipFill>
        <p:spPr>
          <a:xfrm>
            <a:off x="1481328" y="1938528"/>
            <a:ext cx="603504" cy="603504"/>
          </a:xfrm>
          <a:prstGeom prst="rect">
            <a:avLst/>
          </a:prstGeom>
        </p:spPr>
      </p:pic>
      <p:sp>
        <p:nvSpPr>
          <p:cNvPr id="5" name="Step 1 image label"/>
          <p:cNvSpPr txBox="1"/>
          <p:nvPr/>
        </p:nvSpPr>
        <p:spPr>
          <a:xfrm>
            <a:off x="685800" y="2679192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Intra-op photo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548640" y="370332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548640" y="3703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1234440" y="370332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Positioning</a:t>
            </a:r>
            <a:endParaRPr lang="en-US" sz="19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4434840"/>
            <a:ext cx="2468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Patient position, head fixation, neuronavigation registration</a:t>
            </a:r>
            <a:endParaRPr lang="en-US" sz="14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72384" y="2331720"/>
            <a:ext cx="256032" cy="256032"/>
          </a:xfrm>
          <a:prstGeom prst="rect">
            <a:avLst/>
          </a:prstGeom>
        </p:spPr>
      </p:pic>
      <p:sp>
        <p:nvSpPr>
          <p:cNvPr id="11" name="Step 2 image"/>
          <p:cNvSpPr/>
          <p:nvPr/>
        </p:nvSpPr>
        <p:spPr>
          <a:xfrm>
            <a:off x="3383280" y="1463040"/>
            <a:ext cx="2468880" cy="2011680"/>
          </a:xfrm>
          <a:prstGeom prst="rect">
            <a:avLst/>
          </a:prstGeom>
          <a:solidFill>
            <a:schemeClr val="bg2"/>
          </a:solidFill>
          <a:ln w="9525">
            <a:solidFill>
              <a:srgbClr val="D5DADA"/>
            </a:solidFill>
            <a:prstDash val="solid"/>
          </a:ln>
        </p:spPr>
      </p:sp>
      <p:pic>
        <p:nvPicPr>
          <p:cNvPr id="12" name="Step 2 image icon" descr="preencoded.png">    </p:cNvPr>
          <p:cNvPicPr>
            <a:picLocks noChangeAspect="1"/>
          </p:cNvPicPr>
          <p:nvPr/>
        </p:nvPicPr>
        <p:blipFill>
          <a:blip r:embed="rId3">
            <a:alphaModFix amt="70000"/>
          </a:blip>
          <a:stretch>
            <a:fillRect/>
          </a:stretch>
        </p:blipFill>
        <p:spPr>
          <a:xfrm>
            <a:off x="4315968" y="1938528"/>
            <a:ext cx="603504" cy="603504"/>
          </a:xfrm>
          <a:prstGeom prst="rect">
            <a:avLst/>
          </a:prstGeom>
        </p:spPr>
      </p:pic>
      <p:sp>
        <p:nvSpPr>
          <p:cNvPr id="13" name="Step 2 image label"/>
          <p:cNvSpPr txBox="1"/>
          <p:nvPr/>
        </p:nvSpPr>
        <p:spPr>
          <a:xfrm>
            <a:off x="3520440" y="2679192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Intra-op photo</a:t>
            </a:r>
            <a:endParaRPr lang="en-US" sz="1200" dirty="0"/>
          </a:p>
        </p:txBody>
      </p:sp>
      <p:sp>
        <p:nvSpPr>
          <p:cNvPr id="14" name="Shape 9"/>
          <p:cNvSpPr/>
          <p:nvPr/>
        </p:nvSpPr>
        <p:spPr>
          <a:xfrm>
            <a:off x="3383280" y="370332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5" name="Text 10"/>
          <p:cNvSpPr txBox="1"/>
          <p:nvPr/>
        </p:nvSpPr>
        <p:spPr>
          <a:xfrm>
            <a:off x="3383280" y="3703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6" name="Text 11"/>
          <p:cNvSpPr txBox="1"/>
          <p:nvPr/>
        </p:nvSpPr>
        <p:spPr>
          <a:xfrm>
            <a:off x="4069080" y="370332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Exposure</a:t>
            </a:r>
            <a:endParaRPr lang="en-US" sz="1900" dirty="0"/>
          </a:p>
        </p:txBody>
      </p:sp>
      <p:sp>
        <p:nvSpPr>
          <p:cNvPr id="17" name="Text 12"/>
          <p:cNvSpPr txBox="1"/>
          <p:nvPr/>
        </p:nvSpPr>
        <p:spPr>
          <a:xfrm>
            <a:off x="3383280" y="4434840"/>
            <a:ext cx="2468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Incision, craniotomy or approach, dural opening</a:t>
            </a:r>
            <a:endParaRPr lang="en-US" sz="1400" dirty="0"/>
          </a:p>
        </p:txBody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07024" y="2331720"/>
            <a:ext cx="256032" cy="256032"/>
          </a:xfrm>
          <a:prstGeom prst="rect">
            <a:avLst/>
          </a:prstGeom>
        </p:spPr>
      </p:pic>
      <p:sp>
        <p:nvSpPr>
          <p:cNvPr id="19" name="Step 3 image"/>
          <p:cNvSpPr/>
          <p:nvPr/>
        </p:nvSpPr>
        <p:spPr>
          <a:xfrm>
            <a:off x="6217920" y="1463040"/>
            <a:ext cx="2468880" cy="2011680"/>
          </a:xfrm>
          <a:prstGeom prst="rect">
            <a:avLst/>
          </a:prstGeom>
          <a:solidFill>
            <a:schemeClr val="bg2"/>
          </a:solidFill>
          <a:ln w="9525">
            <a:solidFill>
              <a:srgbClr val="D5DADA"/>
            </a:solidFill>
            <a:prstDash val="solid"/>
          </a:ln>
        </p:spPr>
      </p:sp>
      <p:pic>
        <p:nvPicPr>
          <p:cNvPr id="20" name="Step 3 image icon" descr="preencoded.png">    </p:cNvPr>
          <p:cNvPicPr>
            <a:picLocks noChangeAspect="1"/>
          </p:cNvPicPr>
          <p:nvPr/>
        </p:nvPicPr>
        <p:blipFill>
          <a:blip r:embed="rId5">
            <a:alphaModFix amt="70000"/>
          </a:blip>
          <a:stretch>
            <a:fillRect/>
          </a:stretch>
        </p:blipFill>
        <p:spPr>
          <a:xfrm>
            <a:off x="7150608" y="1938528"/>
            <a:ext cx="603504" cy="603504"/>
          </a:xfrm>
          <a:prstGeom prst="rect">
            <a:avLst/>
          </a:prstGeom>
        </p:spPr>
      </p:pic>
      <p:sp>
        <p:nvSpPr>
          <p:cNvPr id="21" name="Step 3 image label"/>
          <p:cNvSpPr txBox="1"/>
          <p:nvPr/>
        </p:nvSpPr>
        <p:spPr>
          <a:xfrm>
            <a:off x="6355080" y="2679192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Intra-op photo</a:t>
            </a:r>
            <a:endParaRPr lang="en-US" sz="1200" dirty="0"/>
          </a:p>
        </p:txBody>
      </p:sp>
      <p:sp>
        <p:nvSpPr>
          <p:cNvPr id="22" name="Shape 15"/>
          <p:cNvSpPr/>
          <p:nvPr/>
        </p:nvSpPr>
        <p:spPr>
          <a:xfrm>
            <a:off x="6217920" y="370332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3" name="Text 16"/>
          <p:cNvSpPr txBox="1"/>
          <p:nvPr/>
        </p:nvSpPr>
        <p:spPr>
          <a:xfrm>
            <a:off x="6217920" y="3703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24" name="Text 17"/>
          <p:cNvSpPr txBox="1"/>
          <p:nvPr/>
        </p:nvSpPr>
        <p:spPr>
          <a:xfrm>
            <a:off x="6903720" y="370332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Resection</a:t>
            </a:r>
            <a:endParaRPr lang="en-US" sz="1900" dirty="0"/>
          </a:p>
        </p:txBody>
      </p:sp>
      <p:sp>
        <p:nvSpPr>
          <p:cNvPr id="25" name="Text 18"/>
          <p:cNvSpPr txBox="1"/>
          <p:nvPr/>
        </p:nvSpPr>
        <p:spPr>
          <a:xfrm>
            <a:off x="6217920" y="4434840"/>
            <a:ext cx="2468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Microsurgical dissection, adjuncts (neuromonitoring, 5-ALA, iMRI)</a:t>
            </a:r>
            <a:endParaRPr lang="en-US" sz="1400" dirty="0"/>
          </a:p>
        </p:txBody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41664" y="2331720"/>
            <a:ext cx="256032" cy="256032"/>
          </a:xfrm>
          <a:prstGeom prst="rect">
            <a:avLst/>
          </a:prstGeom>
        </p:spPr>
      </p:pic>
      <p:sp>
        <p:nvSpPr>
          <p:cNvPr id="27" name="Step 4 image"/>
          <p:cNvSpPr/>
          <p:nvPr/>
        </p:nvSpPr>
        <p:spPr>
          <a:xfrm>
            <a:off x="9052560" y="1463040"/>
            <a:ext cx="2468880" cy="2011680"/>
          </a:xfrm>
          <a:prstGeom prst="rect">
            <a:avLst/>
          </a:prstGeom>
          <a:solidFill>
            <a:schemeClr val="bg2"/>
          </a:solidFill>
          <a:ln w="9525">
            <a:solidFill>
              <a:srgbClr val="D5DADA"/>
            </a:solidFill>
            <a:prstDash val="solid"/>
          </a:ln>
        </p:spPr>
      </p:sp>
      <p:pic>
        <p:nvPicPr>
          <p:cNvPr id="28" name="Step 4 image icon" descr="preencoded.png">    </p:cNvPr>
          <p:cNvPicPr>
            <a:picLocks noChangeAspect="1"/>
          </p:cNvPicPr>
          <p:nvPr/>
        </p:nvPicPr>
        <p:blipFill>
          <a:blip r:embed="rId7">
            <a:alphaModFix amt="70000"/>
          </a:blip>
          <a:stretch>
            <a:fillRect/>
          </a:stretch>
        </p:blipFill>
        <p:spPr>
          <a:xfrm>
            <a:off x="9985248" y="1938528"/>
            <a:ext cx="603504" cy="603504"/>
          </a:xfrm>
          <a:prstGeom prst="rect">
            <a:avLst/>
          </a:prstGeom>
        </p:spPr>
      </p:pic>
      <p:sp>
        <p:nvSpPr>
          <p:cNvPr id="29" name="Step 4 image label"/>
          <p:cNvSpPr txBox="1"/>
          <p:nvPr/>
        </p:nvSpPr>
        <p:spPr>
          <a:xfrm>
            <a:off x="9189720" y="2679192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Intra-op photo</a:t>
            </a:r>
            <a:endParaRPr lang="en-US" sz="1200" dirty="0"/>
          </a:p>
        </p:txBody>
      </p:sp>
      <p:sp>
        <p:nvSpPr>
          <p:cNvPr id="30" name="Shape 21"/>
          <p:cNvSpPr/>
          <p:nvPr/>
        </p:nvSpPr>
        <p:spPr>
          <a:xfrm>
            <a:off x="9052560" y="370332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1" name="Text 22"/>
          <p:cNvSpPr txBox="1"/>
          <p:nvPr/>
        </p:nvSpPr>
        <p:spPr>
          <a:xfrm>
            <a:off x="9052560" y="3703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32" name="Text 23"/>
          <p:cNvSpPr txBox="1"/>
          <p:nvPr/>
        </p:nvSpPr>
        <p:spPr>
          <a:xfrm>
            <a:off x="9738360" y="370332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Closure</a:t>
            </a:r>
            <a:endParaRPr lang="en-US" sz="1900" dirty="0"/>
          </a:p>
        </p:txBody>
      </p:sp>
      <p:sp>
        <p:nvSpPr>
          <p:cNvPr id="33" name="Text 24"/>
          <p:cNvSpPr txBox="1"/>
          <p:nvPr/>
        </p:nvSpPr>
        <p:spPr>
          <a:xfrm>
            <a:off x="9052560" y="4434840"/>
            <a:ext cx="2468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Hemostasis, dural repair, closure, post-op plan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55080"/>
            <a:ext cx="758952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Operative Video</a:t>
            </a:r>
            <a:endParaRPr lang="en-US" sz="3400" dirty="0"/>
          </a:p>
        </p:txBody>
      </p:sp>
      <p:sp>
        <p:nvSpPr>
          <p:cNvPr id="3" name="Video placeholder"/>
          <p:cNvSpPr/>
          <p:nvPr/>
        </p:nvSpPr>
        <p:spPr>
          <a:xfrm>
            <a:off x="548640" y="1463040"/>
            <a:ext cx="7680960" cy="4617720"/>
          </a:xfrm>
          <a:prstGeom prst="rect">
            <a:avLst/>
          </a:prstGeom>
          <a:solidFill>
            <a:schemeClr val="bg2"/>
          </a:solidFill>
          <a:ln w="9525">
            <a:solidFill>
              <a:srgbClr val="D5DADA"/>
            </a:solidFill>
            <a:prstDash val="solid"/>
          </a:ln>
        </p:spPr>
      </p:sp>
      <p:pic>
        <p:nvPicPr>
          <p:cNvPr id="4" name="Video placeholder icon" descr="preencoded.png">    </p:cNvPr>
          <p:cNvPicPr>
            <a:picLocks noChangeAspect="1"/>
          </p:cNvPicPr>
          <p:nvPr/>
        </p:nvPicPr>
        <p:blipFill>
          <a:blip r:embed="rId1">
            <a:alphaModFix amt="70000"/>
          </a:blip>
          <a:stretch>
            <a:fillRect/>
          </a:stretch>
        </p:blipFill>
        <p:spPr>
          <a:xfrm>
            <a:off x="4023360" y="3177540"/>
            <a:ext cx="731520" cy="731520"/>
          </a:xfrm>
          <a:prstGeom prst="rect">
            <a:avLst/>
          </a:prstGeom>
        </p:spPr>
      </p:pic>
      <p:sp>
        <p:nvSpPr>
          <p:cNvPr id="5" name="Video placeholder label"/>
          <p:cNvSpPr txBox="1"/>
          <p:nvPr/>
        </p:nvSpPr>
        <p:spPr>
          <a:xfrm>
            <a:off x="685800" y="4046220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Insert &gt; Video &gt; This Device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8595360" y="155448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NARRATION CUES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8595360" y="1965960"/>
            <a:ext cx="30175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0:00  Exposure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0:45  Identification of key anatomy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1:30  Resection / repair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2:15  Final result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55080"/>
            <a:ext cx="758952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Clinical Pearl</a:t>
            </a:r>
            <a:endParaRPr lang="en-US" sz="34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37360"/>
            <a:ext cx="731520" cy="73152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554480" y="1691640"/>
            <a:ext cx="95097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i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 this slide for a single, memorable teaching point or quotation that you want the audience to remember.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1554480" y="457200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A7A8AA"/>
                </a:solidFill>
              </a:rPr>
              <a:t>— Attribution or source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55080"/>
            <a:ext cx="758952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rgbClr val="A7A8A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Take-Home Points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508760"/>
            <a:ext cx="11064240" cy="128016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4" name="Shape 2"/>
          <p:cNvSpPr/>
          <p:nvPr/>
        </p:nvSpPr>
        <p:spPr>
          <a:xfrm>
            <a:off x="868680" y="178308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8875" y="1973275"/>
            <a:ext cx="351130" cy="35113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920240" y="1691640"/>
            <a:ext cx="9326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Diagnosis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1920240" y="2148840"/>
            <a:ext cx="9326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Concise statement about recognition and work-up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548640" y="3017520"/>
            <a:ext cx="11064240" cy="128016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9" name="Shape 6"/>
          <p:cNvSpPr/>
          <p:nvPr/>
        </p:nvSpPr>
        <p:spPr>
          <a:xfrm>
            <a:off x="868680" y="329184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8875" y="3482035"/>
            <a:ext cx="351130" cy="35113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920240" y="3200400"/>
            <a:ext cx="9326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Decision-Making</a:t>
            </a:r>
            <a:endParaRPr lang="en-US" sz="2000" dirty="0"/>
          </a:p>
        </p:txBody>
      </p:sp>
      <p:sp>
        <p:nvSpPr>
          <p:cNvPr id="12" name="Text 8"/>
          <p:cNvSpPr txBox="1"/>
          <p:nvPr/>
        </p:nvSpPr>
        <p:spPr>
          <a:xfrm>
            <a:off x="1920240" y="3657600"/>
            <a:ext cx="9326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Concise statement about patient selection and timing</a:t>
            </a:r>
            <a:endParaRPr lang="en-US" sz="1600" dirty="0"/>
          </a:p>
        </p:txBody>
      </p:sp>
      <p:sp>
        <p:nvSpPr>
          <p:cNvPr id="13" name="Shape 9"/>
          <p:cNvSpPr/>
          <p:nvPr/>
        </p:nvSpPr>
        <p:spPr>
          <a:xfrm>
            <a:off x="548640" y="4526280"/>
            <a:ext cx="11064240" cy="128016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4" name="Shape 10"/>
          <p:cNvSpPr/>
          <p:nvPr/>
        </p:nvSpPr>
        <p:spPr>
          <a:xfrm>
            <a:off x="868680" y="480060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8875" y="4990795"/>
            <a:ext cx="351130" cy="35113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920240" y="4709160"/>
            <a:ext cx="9326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Outcomes</a:t>
            </a:r>
            <a:endParaRPr lang="en-US" sz="2000" dirty="0"/>
          </a:p>
        </p:txBody>
      </p:sp>
      <p:sp>
        <p:nvSpPr>
          <p:cNvPr id="17" name="Text 12"/>
          <p:cNvSpPr txBox="1"/>
          <p:nvPr/>
        </p:nvSpPr>
        <p:spPr>
          <a:xfrm>
            <a:off x="1920240" y="5166360"/>
            <a:ext cx="9326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Concise statement about expected results and follow-up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55080"/>
            <a:ext cx="758952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References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508760"/>
            <a:ext cx="1106424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chemeClr val="tx1"/>
                </a:solidFill>
              </a:rPr>
              <a:t>Author AA, Author BB, Author CC. Title of the article. J Neurosurg. Year;Vol(Issue):Pages. doi:10.xxxx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chemeClr val="tx1"/>
                </a:solidFill>
              </a:rPr>
              <a:t>Author AA, Author BB, Author CC. Title of the article. J Neurosurg. Year;Vol(Issue):Pages. doi:10.xxxx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chemeClr val="tx1"/>
                </a:solidFill>
              </a:rPr>
              <a:t>Author AA, Author BB, Author CC. Title of the article. J Neurosurg. Year;Vol(Issue):Pages. doi:10.xxxx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chemeClr val="tx1"/>
                </a:solidFill>
              </a:rPr>
              <a:t>Author AA, Author BB, Author CC. Title of the article. J Neurosurg. Year;Vol(Issue):Pages. doi:10.xxxx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chemeClr val="tx1"/>
                </a:solidFill>
              </a:rPr>
              <a:t>Author AA, Author BB, Author CC. Title of the article. J Neurosurg. Year;Vol(Issue):Pages. doi:10.xxxx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chemeClr val="tx1"/>
                </a:solidFill>
              </a:rPr>
              <a:t>Author AA, Author BB, Author CC. Title of the article. J Neurosurg. Year;Vol(Issue):Pages. doi:10.xxxx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55080"/>
            <a:ext cx="758952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914400" y="2834640"/>
            <a:ext cx="1036015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chemeClr val="bg1"/>
                </a:solidFill>
              </a:rPr>
              <a:t>Thank You  |  Questions?</a:t>
            </a:r>
            <a:endParaRPr lang="en-US" sz="5400" dirty="0"/>
          </a:p>
        </p:txBody>
      </p:sp>
      <p:sp>
        <p:nvSpPr>
          <p:cNvPr id="3" name="Text 0"/>
          <p:cNvSpPr/>
          <p:nvPr>
            <p:ph idx="102" type="body" hasCustomPrompt="1"/>
          </p:nvPr>
        </p:nvSpPr>
        <p:spPr>
          <a:xfrm>
            <a:off x="1371600" y="4023360"/>
            <a:ext cx="944575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2C4C4"/>
                </a:solidFill>
              </a:rPr>
              <a:t>Presenter Name, MD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F2C4C4"/>
                </a:solidFill>
              </a:rPr>
              <a:t>presenter.name@hsc.utah.edu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University of Utah Neurosurgery">
  <a:themeElements>
    <a:clrScheme name="University of Utah Neurosurgery">
      <a:dk1>
        <a:srgbClr val="1A1A1A"/>
      </a:dk1>
      <a:lt1>
        <a:srgbClr val="FFFFFF"/>
      </a:lt1>
      <a:dk2>
        <a:srgbClr val="3B3B3B"/>
      </a:dk2>
      <a:lt2>
        <a:srgbClr val="EEF0F0"/>
      </a:lt2>
      <a:accent1>
        <a:srgbClr val="BE0000"/>
      </a:accent1>
      <a:accent2>
        <a:srgbClr val="890000"/>
      </a:accent2>
      <a:accent3>
        <a:srgbClr val="708E99"/>
      </a:accent3>
      <a:accent4>
        <a:srgbClr val="5B6770"/>
      </a:accent4>
      <a:accent5>
        <a:srgbClr val="FFB81D"/>
      </a:accent5>
      <a:accent6>
        <a:srgbClr val="A7A8AA"/>
      </a:accent6>
      <a:hlink>
        <a:srgbClr val="BE0000"/>
      </a:hlink>
      <a:folHlink>
        <a:srgbClr val="890000"/>
      </a:folHlink>
    </a:clrScheme>
    <a:fontScheme name="University of Utah Neurosurgery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University of Utah Health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Neurosurgery Grand Rounds</dc:title>
  <dc:subject>PptxGenJS Presentation</dc:subject>
  <dc:creator>Department of Neurosurgery, University of Utah Health</dc:creator>
  <cp:lastModifiedBy>Department of Neurosurgery, University of Utah Health</cp:lastModifiedBy>
  <cp:revision>1</cp:revision>
  <dcterms:created xsi:type="dcterms:W3CDTF">2026-10-26T17:48:14Z</dcterms:created>
  <dcterms:modified xsi:type="dcterms:W3CDTF">2026-10-26T17:48:14Z</dcterms:modified>
</cp:coreProperties>
</file>