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ee065d1-dc1e-a35a-8fda-f857acabdd70}">
          <p14:sldIdLst>
            <p14:sldId id="256"/>
            <p14:sldId id="257"/>
            <p14:sldId id="258"/>
          </p14:sldIdLst>
        </p14:section>
        <p14:section name="Case Presentation" id="{9d62c1fc-bf79-5a83-8f46-859921fb6feb}">
          <p14:sldIdLst>
            <p14:sldId id="259"/>
            <p14:sldId id="260"/>
            <p14:sldId id="261"/>
          </p14:sldIdLst>
        </p14:section>
        <p14:section name="Background and Evidence" id="{5ba406f6-3d37-9895-6eba-dfc81e59a8ac}">
          <p14:sldIdLst>
            <p14:sldId id="262"/>
            <p14:sldId id="263"/>
            <p14:sldId id="264"/>
            <p14:sldId id="265"/>
            <p14:sldId id="266"/>
          </p14:sldIdLst>
        </p14:section>
        <p14:section name="Surgical Management" id="{46224624-3e8a-bf6b-4437-27f760439f4a}">
          <p14:sldIdLst>
            <p14:sldId id="267"/>
            <p14:sldId id="268"/>
            <p14:sldId id="269"/>
          </p14:sldIdLst>
        </p14:section>
        <p14:section name="Conclusion" id="{2ebcf0df-c343-193f-5faf-7eda98c28f4a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1"/>
                </a:solidFill>
                <a:latin typeface="+mn-lt"/>
              </a:rPr>
              <a:t>Favorable outcome at 12 months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Good outcome (%)</c:v>
                </c:pt>
              </c:strCache>
            </c:strRef>
          </c:tx>
          <c:spPr>
            <a:solidFill>
              <a:srgbClr val="BE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Approach A</c:v>
                  </c:pt>
                  <c:pt idx="1">
                    <c:v>Approach B</c:v>
                  </c:pt>
                  <c:pt idx="2">
                    <c:v>Approach C</c:v>
                  </c:pt>
                  <c:pt idx="3">
                    <c:v>Conservative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71</c:v>
                </c:pt>
                <c:pt idx="2">
                  <c:v>64</c:v>
                </c:pt>
                <c:pt idx="3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the title, subtitle, and presenter block. To add a featured image, insert a picture and place it over the black panel on the right (it is 5.0" x 7.5" at x = 8.33"). If you have the official University of Utah Health logo file from University Marketing &amp; Communications, place it at the top left in place of the text wordmark.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TITL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0"/>
            <a:ext cx="4572000" cy="68580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2" y="192024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bg1"/>
                </a:solidFill>
              </a:rPr>
              <a:t>UNIVERSITY OF UTAH HEALTH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4C4"/>
                </a:solidFill>
              </a:rPr>
              <a:t>Department of Neurosurgery</a:t>
            </a:r>
            <a:endParaRPr lang="en-US" sz="12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F2C4C4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</a:t>
            </a:r>
            <a:endParaRPr lang="en-US" sz="2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Presenter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914400"/>
            <a:ext cx="5029200" cy="5029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7A8AA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Section description</a:t>
            </a:r>
            <a:endParaRPr lang="en-US" sz="1800" dirty="0"/>
          </a:p>
        </p:txBody>
      </p:sp>
      <p:sp>
        <p:nvSpPr>
          <p:cNvPr id="6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Slide Title</a:t>
            </a: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Slide Title</a:t>
            </a: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5184648" y="82296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Questions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F2C4C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Contact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914400" y="61264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UNIVERSITY OF UTAH HEALTH  |  DEPARTMENT OF NEUROSURGERY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 Goes Here</a:t>
            </a:r>
            <a:endParaRPr lang="en-US" sz="44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 or focus of today's Grand Rounds</a:t>
            </a:r>
            <a:endParaRPr lang="en-US" sz="20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Presenter Name, 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Assistant Professor, Department of Neurosurgery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Grand Rounds  |  Month DD,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Disclosures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70" y="217993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Relationships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 have no relevant financial relationships with ineligible companies to disclose.  (Edit to list any relationships.)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410" y="217993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Off-Label Use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This presentation does / does not include discussion of off-label or investigational use of devices or medications.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1248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450" y="217993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Privacy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patient images and case details have been de-identified in accordance with HIPAA.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Learning Objectives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At the conclusion of this session, participants will be able to: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Describe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pathophysiology and clinical presentation of the condition under discussion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9008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900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9900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Interpret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key imaging findings that guide surgical decision-making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014216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01421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01421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Compare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operative and non-operative management strategies using current evidence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038344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3834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503834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Apply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these principles to perioperative care and patient counseling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Case Presentation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History, examination, and imaging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Case: 54-Year-Old with Progressive Headache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12064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HPI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Brief history of present illness, symptom onset, and progression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EXAM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815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Neurologic examination: mental status, cranial nerves, motor, sensory, reflexes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PMH / MEDS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133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Relevant comorbidities, anticoagulants, prior surgery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92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LABS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846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Pertinent laboratory values</a:t>
            </a:r>
            <a:endParaRPr lang="en-US" sz="1500" dirty="0"/>
          </a:p>
        </p:txBody>
      </p:sp>
      <p:sp>
        <p:nvSpPr>
          <p:cNvPr id="12" name="Imaging 1"/>
          <p:cNvSpPr/>
          <p:nvPr/>
        </p:nvSpPr>
        <p:spPr>
          <a:xfrm>
            <a:off x="603504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3" name="Imaging 1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018020" y="3177540"/>
            <a:ext cx="731520" cy="731520"/>
          </a:xfrm>
          <a:prstGeom prst="rect">
            <a:avLst/>
          </a:prstGeom>
        </p:spPr>
      </p:pic>
      <p:sp>
        <p:nvSpPr>
          <p:cNvPr id="14" name="Imaging 1 label"/>
          <p:cNvSpPr txBox="1"/>
          <p:nvPr/>
        </p:nvSpPr>
        <p:spPr>
          <a:xfrm>
            <a:off x="617220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T1 post-contrast</a:t>
            </a:r>
            <a:endParaRPr lang="en-US" sz="1200" dirty="0"/>
          </a:p>
        </p:txBody>
      </p:sp>
      <p:sp>
        <p:nvSpPr>
          <p:cNvPr id="15" name="Imaging 2"/>
          <p:cNvSpPr/>
          <p:nvPr/>
        </p:nvSpPr>
        <p:spPr>
          <a:xfrm>
            <a:off x="891540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6" name="Imaging 2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9898380" y="3177540"/>
            <a:ext cx="731520" cy="731520"/>
          </a:xfrm>
          <a:prstGeom prst="rect">
            <a:avLst/>
          </a:prstGeom>
        </p:spPr>
      </p:pic>
      <p:sp>
        <p:nvSpPr>
          <p:cNvPr id="17" name="Imaging 2 label"/>
          <p:cNvSpPr txBox="1"/>
          <p:nvPr/>
        </p:nvSpPr>
        <p:spPr>
          <a:xfrm>
            <a:off x="905256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T2 / FLAIR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Pre-operative vs. Post-operative Imaging</a:t>
            </a:r>
            <a:endParaRPr lang="en-US" sz="3400" dirty="0"/>
          </a:p>
        </p:txBody>
      </p:sp>
      <p:sp>
        <p:nvSpPr>
          <p:cNvPr id="3" name="Pre-operative image"/>
          <p:cNvSpPr/>
          <p:nvPr/>
        </p:nvSpPr>
        <p:spPr>
          <a:xfrm>
            <a:off x="54864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Pre-operative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920240" y="2697480"/>
            <a:ext cx="731520" cy="731520"/>
          </a:xfrm>
          <a:prstGeom prst="rect">
            <a:avLst/>
          </a:prstGeom>
        </p:spPr>
      </p:pic>
      <p:sp>
        <p:nvSpPr>
          <p:cNvPr id="5" name="Pre-operative image label"/>
          <p:cNvSpPr txBox="1"/>
          <p:nvPr/>
        </p:nvSpPr>
        <p:spPr>
          <a:xfrm>
            <a:off x="68580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Pre-operative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8" name="Intra-operative image"/>
          <p:cNvSpPr/>
          <p:nvPr/>
        </p:nvSpPr>
        <p:spPr>
          <a:xfrm>
            <a:off x="429768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9" name="Intra-operative image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5669280" y="2697480"/>
            <a:ext cx="731520" cy="731520"/>
          </a:xfrm>
          <a:prstGeom prst="rect">
            <a:avLst/>
          </a:prstGeom>
        </p:spPr>
      </p:pic>
      <p:sp>
        <p:nvSpPr>
          <p:cNvPr id="10" name="Intra-operative image label"/>
          <p:cNvSpPr txBox="1"/>
          <p:nvPr/>
        </p:nvSpPr>
        <p:spPr>
          <a:xfrm>
            <a:off x="443484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Intra-operative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13" name="Post-operative image"/>
          <p:cNvSpPr/>
          <p:nvPr/>
        </p:nvSpPr>
        <p:spPr>
          <a:xfrm>
            <a:off x="804672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4" name="Post-operative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418320" y="2697480"/>
            <a:ext cx="731520" cy="731520"/>
          </a:xfrm>
          <a:prstGeom prst="rect">
            <a:avLst/>
          </a:prstGeom>
        </p:spPr>
      </p:pic>
      <p:sp>
        <p:nvSpPr>
          <p:cNvPr id="15" name="Post-operative image label"/>
          <p:cNvSpPr txBox="1"/>
          <p:nvPr/>
        </p:nvSpPr>
        <p:spPr>
          <a:xfrm>
            <a:off x="818388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04672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Post-operative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Background &amp; Evidence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Epidemiology, pathophysiology, and the literature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Pathophysiology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5852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one with a concise supporting statement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two: mechanism or anatomic relationship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Sub-point with additional detail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three: natural history and risk factors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four: clinical implications</a:t>
            </a:r>
            <a:endParaRPr lang="en-US" sz="1800" dirty="0"/>
          </a:p>
        </p:txBody>
      </p:sp>
      <p:sp>
        <p:nvSpPr>
          <p:cNvPr id="4" name="Figure"/>
          <p:cNvSpPr/>
          <p:nvPr/>
        </p:nvSpPr>
        <p:spPr>
          <a:xfrm>
            <a:off x="6858000" y="1463040"/>
            <a:ext cx="4754880" cy="39319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5" name="Figur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8869680" y="2834640"/>
            <a:ext cx="731520" cy="731520"/>
          </a:xfrm>
          <a:prstGeom prst="rect">
            <a:avLst/>
          </a:prstGeom>
        </p:spPr>
      </p:pic>
      <p:sp>
        <p:nvSpPr>
          <p:cNvPr id="6" name="Figure label"/>
          <p:cNvSpPr txBox="1"/>
          <p:nvPr/>
        </p:nvSpPr>
        <p:spPr>
          <a:xfrm>
            <a:off x="6995160" y="3703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Illustration, diagram, or figure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Figure caption and source citation (Author et al., Journal, Year)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Outcomes by Treatment Approach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955280" y="1463040"/>
            <a:ext cx="365760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7532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KEY FINDING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2103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One-sentence takeaway from the data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32918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Study design and population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Primary endpoint definition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Statistical significance (p-value, CI)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5349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Sample data shown. Right-click the chart &gt; Edit Data.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Summary of Key Literature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731520"/>
                <a:gridCol w="2194560"/>
                <a:gridCol w="21031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Study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Design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Intervention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Primary Outcome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Key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RCT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Surgery vs. medical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mRS 0-2 at 6 mo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Prospective cohort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Technique A vs. B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Complication rate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Meta-analysis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Pooled 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Recurrence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Retrospective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Single-center series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Abbreviations: RCT, randomized controlled trial; mRS, modified Rankin Scale.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Epidemiology at a Glance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00K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new cases diagnosed annually in the U.S.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patients present with this symptom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2104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mo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 survival / time to recurrence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77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Source: Author et al., Journal,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Surgical Management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Indications, technique, and outcomes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Technique: Key Steps</a:t>
            </a:r>
            <a:endParaRPr lang="en-US" sz="3400" dirty="0"/>
          </a:p>
        </p:txBody>
      </p:sp>
      <p:sp>
        <p:nvSpPr>
          <p:cNvPr id="3" name="Step 1 image"/>
          <p:cNvSpPr/>
          <p:nvPr/>
        </p:nvSpPr>
        <p:spPr>
          <a:xfrm>
            <a:off x="54864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Step 1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481328" y="1938528"/>
            <a:ext cx="603504" cy="603504"/>
          </a:xfrm>
          <a:prstGeom prst="rect">
            <a:avLst/>
          </a:prstGeom>
        </p:spPr>
      </p:pic>
      <p:sp>
        <p:nvSpPr>
          <p:cNvPr id="5" name="Step 1 image label"/>
          <p:cNvSpPr txBox="1"/>
          <p:nvPr/>
        </p:nvSpPr>
        <p:spPr>
          <a:xfrm>
            <a:off x="68580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Patient position, head fixation, neuronavigation registration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331720"/>
            <a:ext cx="256032" cy="256032"/>
          </a:xfrm>
          <a:prstGeom prst="rect">
            <a:avLst/>
          </a:prstGeom>
        </p:spPr>
      </p:pic>
      <p:sp>
        <p:nvSpPr>
          <p:cNvPr id="11" name="Step 2 image"/>
          <p:cNvSpPr/>
          <p:nvPr/>
        </p:nvSpPr>
        <p:spPr>
          <a:xfrm>
            <a:off x="338328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2" name="Step 2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4315968" y="1938528"/>
            <a:ext cx="603504" cy="603504"/>
          </a:xfrm>
          <a:prstGeom prst="rect">
            <a:avLst/>
          </a:prstGeom>
        </p:spPr>
      </p:pic>
      <p:sp>
        <p:nvSpPr>
          <p:cNvPr id="13" name="Step 2 image label"/>
          <p:cNvSpPr txBox="1"/>
          <p:nvPr/>
        </p:nvSpPr>
        <p:spPr>
          <a:xfrm>
            <a:off x="352044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33832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406908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338328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Incision, craniotomy or approach, dural opening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331720"/>
            <a:ext cx="256032" cy="256032"/>
          </a:xfrm>
          <a:prstGeom prst="rect">
            <a:avLst/>
          </a:prstGeom>
        </p:spPr>
      </p:pic>
      <p:sp>
        <p:nvSpPr>
          <p:cNvPr id="19" name="Step 3 image"/>
          <p:cNvSpPr/>
          <p:nvPr/>
        </p:nvSpPr>
        <p:spPr>
          <a:xfrm>
            <a:off x="621792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0" name="Step 3 image icon" descr="preencoded.png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7150608" y="1938528"/>
            <a:ext cx="603504" cy="603504"/>
          </a:xfrm>
          <a:prstGeom prst="rect">
            <a:avLst/>
          </a:prstGeom>
        </p:spPr>
      </p:pic>
      <p:sp>
        <p:nvSpPr>
          <p:cNvPr id="21" name="Step 3 image label"/>
          <p:cNvSpPr txBox="1"/>
          <p:nvPr/>
        </p:nvSpPr>
        <p:spPr>
          <a:xfrm>
            <a:off x="635508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21792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62179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690372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Resection</a:t>
            </a:r>
            <a:endParaRPr lang="en-US" sz="1900" dirty="0"/>
          </a:p>
        </p:txBody>
      </p:sp>
      <p:sp>
        <p:nvSpPr>
          <p:cNvPr id="25" name="Text 18"/>
          <p:cNvSpPr txBox="1"/>
          <p:nvPr/>
        </p:nvSpPr>
        <p:spPr>
          <a:xfrm>
            <a:off x="621792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Microsurgical dissection, adjuncts (neuromonitoring, 5-ALA, iMRI)</a:t>
            </a:r>
            <a:endParaRPr lang="en-US" sz="14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4" y="2331720"/>
            <a:ext cx="256032" cy="256032"/>
          </a:xfrm>
          <a:prstGeom prst="rect">
            <a:avLst/>
          </a:prstGeom>
        </p:spPr>
      </p:pic>
      <p:sp>
        <p:nvSpPr>
          <p:cNvPr id="27" name="Step 4 image"/>
          <p:cNvSpPr/>
          <p:nvPr/>
        </p:nvSpPr>
        <p:spPr>
          <a:xfrm>
            <a:off x="905256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8" name="Step 4 image icon" descr="preencoded.png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9985248" y="1938528"/>
            <a:ext cx="603504" cy="603504"/>
          </a:xfrm>
          <a:prstGeom prst="rect">
            <a:avLst/>
          </a:prstGeom>
        </p:spPr>
      </p:pic>
      <p:sp>
        <p:nvSpPr>
          <p:cNvPr id="29" name="Step 4 image label"/>
          <p:cNvSpPr txBox="1"/>
          <p:nvPr/>
        </p:nvSpPr>
        <p:spPr>
          <a:xfrm>
            <a:off x="918972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30" name="Shape 21"/>
          <p:cNvSpPr/>
          <p:nvPr/>
        </p:nvSpPr>
        <p:spPr>
          <a:xfrm>
            <a:off x="905256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905256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Text 23"/>
          <p:cNvSpPr txBox="1"/>
          <p:nvPr/>
        </p:nvSpPr>
        <p:spPr>
          <a:xfrm>
            <a:off x="973836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Closure</a:t>
            </a:r>
            <a:endParaRPr lang="en-US" sz="1900" dirty="0"/>
          </a:p>
        </p:txBody>
      </p:sp>
      <p:sp>
        <p:nvSpPr>
          <p:cNvPr id="33" name="Text 24"/>
          <p:cNvSpPr txBox="1"/>
          <p:nvPr/>
        </p:nvSpPr>
        <p:spPr>
          <a:xfrm>
            <a:off x="905256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Hemostasis, dural repair, closure, post-op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Video</a:t>
            </a:r>
            <a:endParaRPr lang="en-US" sz="3400" dirty="0"/>
          </a:p>
        </p:txBody>
      </p:sp>
      <p:sp>
        <p:nvSpPr>
          <p:cNvPr id="3" name="Video placeholder"/>
          <p:cNvSpPr/>
          <p:nvPr/>
        </p:nvSpPr>
        <p:spPr>
          <a:xfrm>
            <a:off x="548640" y="1463040"/>
            <a:ext cx="768096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Video placeholder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4023360" y="3177540"/>
            <a:ext cx="731520" cy="731520"/>
          </a:xfrm>
          <a:prstGeom prst="rect">
            <a:avLst/>
          </a:prstGeom>
        </p:spPr>
      </p:pic>
      <p:sp>
        <p:nvSpPr>
          <p:cNvPr id="5" name="Video placeholder label"/>
          <p:cNvSpPr txBox="1"/>
          <p:nvPr/>
        </p:nvSpPr>
        <p:spPr>
          <a:xfrm>
            <a:off x="685800" y="40462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&gt; Video &gt; This Device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1554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NARRATION CUES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9659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0:00  Exposure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0:45  Identification of key anatomy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1:30  Resection / repair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2:15  Final result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Clinical Pearl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1691640"/>
            <a:ext cx="9509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this slide for a single, memorable teaching point or quotation that you want the audience to remember.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55448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— Attribution or source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Take-Home Points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7327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214884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recognition and work-up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3291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75" y="348203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920240" y="32004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Decision-Making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1920240" y="36576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patient selection and timing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800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499079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20240" y="47091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920240" y="51663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expected results and follow-up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  |  Questions?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4C4"/>
                </a:solidFill>
              </a:rPr>
              <a:t>Presenter Name, MD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presenter.name@hsc.utah.edu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versity of Utah Neurosurgery">
  <a:themeElements>
    <a:clrScheme name="University of Utah Neurosurgery">
      <a:dk1>
        <a:srgbClr val="1A1A1A"/>
      </a:dk1>
      <a:lt1>
        <a:srgbClr val="FFFFFF"/>
      </a:lt1>
      <a:dk2>
        <a:srgbClr val="3B3B3B"/>
      </a:dk2>
      <a:lt2>
        <a:srgbClr val="EEF0F0"/>
      </a:lt2>
      <a:accent1>
        <a:srgbClr val="BE0000"/>
      </a:accent1>
      <a:accent2>
        <a:srgbClr val="890000"/>
      </a:accent2>
      <a:accent3>
        <a:srgbClr val="708E99"/>
      </a:accent3>
      <a:accent4>
        <a:srgbClr val="5B6770"/>
      </a:accent4>
      <a:accent5>
        <a:srgbClr val="FFB81D"/>
      </a:accent5>
      <a:accent6>
        <a:srgbClr val="A7A8AA"/>
      </a:accent6>
      <a:hlink>
        <a:srgbClr val="BE0000"/>
      </a:hlink>
      <a:folHlink>
        <a:srgbClr val="890000"/>
      </a:folHlink>
    </a:clrScheme>
    <a:fontScheme name="University of Utah Neurosurge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University of Utah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Neurosurgery Grand Rounds</dc:title>
  <dc:subject>PptxGenJS Presentation</dc:subject>
  <dc:creator>Department of Neurosurgery, University of Utah Health</dc:creator>
  <cp:lastModifiedBy>Department of Neurosurgery, University of Utah Health</cp:lastModifiedBy>
  <cp:revision>1</cp:revision>
  <dcterms:created xsi:type="dcterms:W3CDTF">2026-10-26T17:24:11Z</dcterms:created>
  <dcterms:modified xsi:type="dcterms:W3CDTF">2026-10-26T17:24:11Z</dcterms:modified>
</cp:coreProperties>
</file>