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691c9b6-c2d8-119d-522f-48728e0b8088}">
          <p14:sldIdLst>
            <p14:sldId id="256"/>
            <p14:sldId id="257"/>
            <p14:sldId id="258"/>
          </p14:sldIdLst>
        </p14:section>
        <p14:section name="Case Presentation" id="{aecb9fd9-b4be-106d-5286-abbeb85ca7cc}">
          <p14:sldIdLst>
            <p14:sldId id="259"/>
            <p14:sldId id="260"/>
            <p14:sldId id="261"/>
          </p14:sldIdLst>
        </p14:section>
        <p14:section name="Background and Evidence" id="{f83dfa1b-c434-3609-361e-5156d8e49653}">
          <p14:sldIdLst>
            <p14:sldId id="262"/>
            <p14:sldId id="263"/>
            <p14:sldId id="264"/>
            <p14:sldId id="265"/>
            <p14:sldId id="266"/>
          </p14:sldIdLst>
        </p14:section>
        <p14:section name="Surgical Management" id="{256c1b74-264e-1bf2-032d-65acd999a982}">
          <p14:sldIdLst>
            <p14:sldId id="267"/>
            <p14:sldId id="268"/>
            <p14:sldId id="269"/>
          </p14:sldIdLst>
        </p14:section>
        <p14:section name="Conclusion" id="{2804307c-ad7a-6cbf-0725-ab28c8061208}">
          <p14:sldIdLst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chemeClr val="tx1"/>
                </a:solidFill>
                <a:latin typeface="+mn-lt"/>
              </a:defRPr>
            </a:pPr>
            <a:r>
              <a:rPr sz="1400" b="0" i="0" u="none" strike="noStrike">
                <a:solidFill>
                  <a:schemeClr val="tx1"/>
                </a:solidFill>
                <a:latin typeface="+mn-lt"/>
              </a:rPr>
              <a:t>Favorable outcome at 12 months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Good outcome (%)</c:v>
                </c:pt>
              </c:strCache>
            </c:strRef>
          </c:tx>
          <c:spPr>
            <a:solidFill>
              <a:srgbClr val="BE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Approach A</c:v>
                  </c:pt>
                  <c:pt idx="1">
                    <c:v>Approach B</c:v>
                  </c:pt>
                  <c:pt idx="2">
                    <c:v>Approach C</c:v>
                  </c:pt>
                  <c:pt idx="3">
                    <c:v>Conservative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78</c:v>
                </c:pt>
                <c:pt idx="1">
                  <c:v>71</c:v>
                </c:pt>
                <c:pt idx="2">
                  <c:v>64</c:v>
                </c:pt>
                <c:pt idx="3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chemeClr val="tx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2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tx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Replace the title, subtitle, and presenter block. To add a featured image, insert a picture and place it over the black panel on the right (it is 5.0" x 7.5" at x = 8.33"). If you have the official University of Utah Health logo file from University Marketing &amp; Communications, place it at the top left in place of the text wordmark.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U_TITL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6952" y="0"/>
            <a:ext cx="4572000" cy="6858000"/>
          </a:xfrm>
          <a:prstGeom prst="rect">
            <a:avLst/>
          </a:prstGeom>
          <a:solidFill>
            <a:schemeClr val="tx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4192" y="1956816"/>
            <a:ext cx="3017520" cy="29352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5486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bg1"/>
                </a:solidFill>
              </a:rPr>
              <a:t>UNIVERSITY OF UTAH HEALTH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C4C4"/>
                </a:solidFill>
              </a:rPr>
              <a:t>Department of Neurosurgery</a:t>
            </a:r>
            <a:endParaRPr lang="en-US" sz="12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40080" y="1828800"/>
            <a:ext cx="65836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Presentation Title</a:t>
            </a:r>
            <a:endParaRPr lang="en-US" sz="4400" dirty="0"/>
          </a:p>
        </p:txBody>
      </p:sp>
      <p:sp>
        <p:nvSpPr>
          <p:cNvPr id="7" name="Text 3"/>
          <p:cNvSpPr/>
          <p:nvPr>
            <p:ph idx="105" type="body" hasCustomPrompt="1"/>
          </p:nvPr>
        </p:nvSpPr>
        <p:spPr>
          <a:xfrm>
            <a:off x="640080" y="3794760"/>
            <a:ext cx="65836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F2C4C4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rgbClr val="F2C4C4"/>
                </a:solidFill>
              </a:rPr>
              <a:t>Subtitle</a:t>
            </a:r>
            <a:endParaRPr lang="en-US" sz="2000" dirty="0"/>
          </a:p>
        </p:txBody>
      </p:sp>
      <p:sp>
        <p:nvSpPr>
          <p:cNvPr id="8" name="Text 3"/>
          <p:cNvSpPr/>
          <p:nvPr>
            <p:ph idx="106" type="body" hasCustomPrompt="1"/>
          </p:nvPr>
        </p:nvSpPr>
        <p:spPr>
          <a:xfrm>
            <a:off x="640080" y="498348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Presenter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U_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188720"/>
            <a:ext cx="4572000" cy="444398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280160"/>
            <a:ext cx="3657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8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r>
              <a:rPr lang="en-US" sz="8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731520" y="2834640"/>
            <a:ext cx="77724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Section Title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4114800"/>
            <a:ext cx="68580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A7A8AA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7A8AA"/>
                </a:solidFill>
              </a:rPr>
              <a:t>Section description</a:t>
            </a:r>
            <a:endParaRPr lang="en-US" sz="1800" dirty="0"/>
          </a:p>
        </p:txBody>
      </p:sp>
      <p:sp>
        <p:nvSpPr>
          <p:cNvPr id="6" name="Shape 0"/>
          <p:cNvSpPr/>
          <p:nvPr/>
        </p:nvSpPr>
        <p:spPr>
          <a:xfrm>
            <a:off x="548640" y="6428232"/>
            <a:ext cx="146304" cy="14630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1"/>
          <p:cNvSpPr/>
          <p:nvPr/>
        </p:nvSpPr>
        <p:spPr>
          <a:xfrm>
            <a:off x="777240" y="63550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8AA"/>
                </a:solidFill>
              </a:rPr>
              <a:t>Neurosurgery Grand Rounds  |  University of Utah Health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U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Slide Title</a:t>
            </a:r>
            <a:endParaRPr lang="en-US" sz="3400" dirty="0"/>
          </a:p>
        </p:txBody>
      </p:sp>
      <p:sp>
        <p:nvSpPr>
          <p:cNvPr id="3" name="Shape 0"/>
          <p:cNvSpPr/>
          <p:nvPr/>
        </p:nvSpPr>
        <p:spPr>
          <a:xfrm>
            <a:off x="548640" y="6428232"/>
            <a:ext cx="146304" cy="14630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63550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Neurosurgery Grand Rounds  |  University of Utah Health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U_CONTENT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Slide Title</a:t>
            </a:r>
            <a:endParaRPr lang="en-US" sz="3400" dirty="0"/>
          </a:p>
        </p:txBody>
      </p:sp>
      <p:sp>
        <p:nvSpPr>
          <p:cNvPr id="3" name="Shape 0"/>
          <p:cNvSpPr/>
          <p:nvPr/>
        </p:nvSpPr>
        <p:spPr>
          <a:xfrm>
            <a:off x="548640" y="6428232"/>
            <a:ext cx="146304" cy="14630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63550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8AA"/>
                </a:solidFill>
              </a:rPr>
              <a:t>Neurosurgery Grand Rounds  |  University of Utah Health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U_CLOSING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5184648" y="868680"/>
            <a:ext cx="1828800" cy="1783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834640"/>
            <a:ext cx="1036015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Questions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371600" y="4023360"/>
            <a:ext cx="9445752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F2C4C4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F2C4C4"/>
                </a:solidFill>
              </a:rPr>
              <a:t>Contact</a:t>
            </a: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914400" y="6126480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UNIVERSITY OF UTAH HEALTH  |  DEPARTMENT OF NEUROSURGERY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Presentation Title Goes Here</a:t>
            </a:r>
            <a:endParaRPr lang="en-US" sz="4400" dirty="0"/>
          </a:p>
        </p:txBody>
      </p:sp>
      <p:sp>
        <p:nvSpPr>
          <p:cNvPr id="3" name="Text 3"/>
          <p:cNvSpPr/>
          <p:nvPr>
            <p:ph idx="105" type="body" hasCustomPrompt="1"/>
          </p:nvPr>
        </p:nvSpPr>
        <p:spPr>
          <a:xfrm>
            <a:off x="640080" y="379476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2C4C4"/>
                </a:solidFill>
              </a:rPr>
              <a:t>Subtitle or focus of today's Grand Rounds</a:t>
            </a:r>
            <a:endParaRPr lang="en-US" sz="2000" dirty="0"/>
          </a:p>
        </p:txBody>
      </p:sp>
      <p:sp>
        <p:nvSpPr>
          <p:cNvPr id="4" name="Text 3"/>
          <p:cNvSpPr/>
          <p:nvPr>
            <p:ph idx="106" type="body" hasCustomPrompt="1"/>
          </p:nvPr>
        </p:nvSpPr>
        <p:spPr>
          <a:xfrm>
            <a:off x="640080" y="498348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Presenter Name, 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Assistant Professor, Department of Neurosurgery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Grand Rounds  |  Month DD,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Disclosures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474720" cy="37490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9659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8370" y="2179930"/>
            <a:ext cx="395021" cy="39502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017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Relationships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566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 have no relevant financial relationships with ineligible companies to disclose.  (Edit to list any relationships.)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297680" y="1600200"/>
            <a:ext cx="3474720" cy="37490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19659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7410" y="217993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017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Off-Label Use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566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This presentation does / does not include discussion of off-label or investigational use of devices or medications.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046720" y="1600200"/>
            <a:ext cx="3474720" cy="37490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8412480" y="19659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6450" y="2179930"/>
            <a:ext cx="395021" cy="395021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12480" y="3017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 Privacy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12480" y="3566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All patient images and case details have been de-identified in accordance with HIPAA.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Learning Objectives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3"/>
                </a:solidFill>
              </a:rPr>
              <a:t>At the conclusion of this session, participants will be able to: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96596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Describe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pathophysiology and clinical presentation of the condition under discussion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990088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9008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99008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Interpret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key imaging findings that guide surgical decision-making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4014216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401421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014216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Compare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operative and non-operative management strategies using current evidence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5038344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038344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5038344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Apply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these principles to perioperative care and patient counseling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31520" y="128016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8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3152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Case Presentation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31520" y="41148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7A8AA"/>
                </a:solidFill>
              </a:rPr>
              <a:t>History, examination, and imaging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Case: 54-Year-Old with Progressive Headache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120640" cy="4617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7373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HPI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02996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Brief history of present illness, symptom onset, and progression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88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EXAM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08152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Neurologic examination: mental status, cranial nerves, motor, sensory, reflexes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8404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PMH / MEDS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13308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Relevant comorbidities, anticoagulants, prior surgery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8920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LABS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518464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Pertinent laboratory values</a:t>
            </a:r>
            <a:endParaRPr lang="en-US" sz="1500" dirty="0"/>
          </a:p>
        </p:txBody>
      </p:sp>
      <p:sp>
        <p:nvSpPr>
          <p:cNvPr id="12" name="Imaging 1"/>
          <p:cNvSpPr/>
          <p:nvPr/>
        </p:nvSpPr>
        <p:spPr>
          <a:xfrm>
            <a:off x="6035040" y="1463040"/>
            <a:ext cx="2697480" cy="461772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13" name="Imaging 1 icon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018020" y="3177540"/>
            <a:ext cx="731520" cy="731520"/>
          </a:xfrm>
          <a:prstGeom prst="rect">
            <a:avLst/>
          </a:prstGeom>
        </p:spPr>
      </p:pic>
      <p:sp>
        <p:nvSpPr>
          <p:cNvPr id="14" name="Imaging 1 label"/>
          <p:cNvSpPr txBox="1"/>
          <p:nvPr/>
        </p:nvSpPr>
        <p:spPr>
          <a:xfrm>
            <a:off x="6172200" y="40462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MRI  T1 post-contrast</a:t>
            </a:r>
            <a:endParaRPr lang="en-US" sz="1200" dirty="0"/>
          </a:p>
        </p:txBody>
      </p:sp>
      <p:sp>
        <p:nvSpPr>
          <p:cNvPr id="15" name="Imaging 2"/>
          <p:cNvSpPr/>
          <p:nvPr/>
        </p:nvSpPr>
        <p:spPr>
          <a:xfrm>
            <a:off x="8915400" y="1463040"/>
            <a:ext cx="2697480" cy="461772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16" name="Imaging 2 icon" descr="preencoded.png">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9898380" y="3177540"/>
            <a:ext cx="731520" cy="731520"/>
          </a:xfrm>
          <a:prstGeom prst="rect">
            <a:avLst/>
          </a:prstGeom>
        </p:spPr>
      </p:pic>
      <p:sp>
        <p:nvSpPr>
          <p:cNvPr id="17" name="Imaging 2 label"/>
          <p:cNvSpPr txBox="1"/>
          <p:nvPr/>
        </p:nvSpPr>
        <p:spPr>
          <a:xfrm>
            <a:off x="9052560" y="40462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MRI  T2 / FLAIR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Pre-operative vs. Post-operative Imaging</a:t>
            </a:r>
            <a:endParaRPr lang="en-US" sz="3400" dirty="0"/>
          </a:p>
        </p:txBody>
      </p:sp>
      <p:sp>
        <p:nvSpPr>
          <p:cNvPr id="3" name="Pre-operative image"/>
          <p:cNvSpPr/>
          <p:nvPr/>
        </p:nvSpPr>
        <p:spPr>
          <a:xfrm>
            <a:off x="548640" y="1463040"/>
            <a:ext cx="3474720" cy="365760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4" name="Pre-operative image icon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1920240" y="2697480"/>
            <a:ext cx="731520" cy="731520"/>
          </a:xfrm>
          <a:prstGeom prst="rect">
            <a:avLst/>
          </a:prstGeom>
        </p:spPr>
      </p:pic>
      <p:sp>
        <p:nvSpPr>
          <p:cNvPr id="5" name="Pre-operative image label"/>
          <p:cNvSpPr txBox="1"/>
          <p:nvPr/>
        </p:nvSpPr>
        <p:spPr>
          <a:xfrm>
            <a:off x="685800" y="35661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Insert image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257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Pre-operative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623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Sequence, plane, and key finding</a:t>
            </a:r>
            <a:endParaRPr lang="en-US" sz="1300" dirty="0"/>
          </a:p>
        </p:txBody>
      </p:sp>
      <p:sp>
        <p:nvSpPr>
          <p:cNvPr id="8" name="Intra-operative image"/>
          <p:cNvSpPr/>
          <p:nvPr/>
        </p:nvSpPr>
        <p:spPr>
          <a:xfrm>
            <a:off x="4297680" y="1463040"/>
            <a:ext cx="3474720" cy="365760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9" name="Intra-operative image icon" descr="preencoded.png">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5669280" y="2697480"/>
            <a:ext cx="731520" cy="731520"/>
          </a:xfrm>
          <a:prstGeom prst="rect">
            <a:avLst/>
          </a:prstGeom>
        </p:spPr>
      </p:pic>
      <p:sp>
        <p:nvSpPr>
          <p:cNvPr id="10" name="Intra-operative image label"/>
          <p:cNvSpPr txBox="1"/>
          <p:nvPr/>
        </p:nvSpPr>
        <p:spPr>
          <a:xfrm>
            <a:off x="4434840" y="35661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Insert image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297680" y="5257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Intra-operative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297680" y="5623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Sequence, plane, and key finding</a:t>
            </a:r>
            <a:endParaRPr lang="en-US" sz="1300" dirty="0"/>
          </a:p>
        </p:txBody>
      </p:sp>
      <p:sp>
        <p:nvSpPr>
          <p:cNvPr id="13" name="Post-operative image"/>
          <p:cNvSpPr/>
          <p:nvPr/>
        </p:nvSpPr>
        <p:spPr>
          <a:xfrm>
            <a:off x="8046720" y="1463040"/>
            <a:ext cx="3474720" cy="365760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14" name="Post-operative image icon" descr="preencoded.png">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9418320" y="2697480"/>
            <a:ext cx="731520" cy="731520"/>
          </a:xfrm>
          <a:prstGeom prst="rect">
            <a:avLst/>
          </a:prstGeom>
        </p:spPr>
      </p:pic>
      <p:sp>
        <p:nvSpPr>
          <p:cNvPr id="15" name="Post-operative image label"/>
          <p:cNvSpPr txBox="1"/>
          <p:nvPr/>
        </p:nvSpPr>
        <p:spPr>
          <a:xfrm>
            <a:off x="8183880" y="35661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Insert image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8046720" y="5257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Post-operative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046720" y="5623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Sequence, plane, and key finding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31520" y="128016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8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3152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Background &amp; Evidence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31520" y="41148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7A8AA"/>
                </a:solidFill>
              </a:rPr>
              <a:t>Epidemiology, pathophysiology, and the literature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Pathophysiology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5852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Key concept one with a concise supporting statement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Key concept two: mechanism or anatomic relationship</a:t>
            </a:r>
            <a:endParaRPr lang="en-US" sz="1800" dirty="0"/>
          </a:p>
          <a:p>
            <a:pPr lvl="1" marL="6858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Sub-point with additional detail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Key concept three: natural history and risk factors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Key concept four: clinical implications</a:t>
            </a:r>
            <a:endParaRPr lang="en-US" sz="1800" dirty="0"/>
          </a:p>
        </p:txBody>
      </p:sp>
      <p:sp>
        <p:nvSpPr>
          <p:cNvPr id="4" name="Figure"/>
          <p:cNvSpPr/>
          <p:nvPr/>
        </p:nvSpPr>
        <p:spPr>
          <a:xfrm>
            <a:off x="6858000" y="1463040"/>
            <a:ext cx="4754880" cy="393192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5" name="Figure icon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8869680" y="2834640"/>
            <a:ext cx="731520" cy="731520"/>
          </a:xfrm>
          <a:prstGeom prst="rect">
            <a:avLst/>
          </a:prstGeom>
        </p:spPr>
      </p:pic>
      <p:sp>
        <p:nvSpPr>
          <p:cNvPr id="6" name="Figure label"/>
          <p:cNvSpPr txBox="1"/>
          <p:nvPr/>
        </p:nvSpPr>
        <p:spPr>
          <a:xfrm>
            <a:off x="6995160" y="3703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Illustration, diagram, or figure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858000" y="5486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Figure caption and source citation (Author et al., Journal, Year)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Outcomes by Treatment Approach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17320"/>
          <a:ext cx="6949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955280" y="1463040"/>
            <a:ext cx="3657600" cy="4617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275320" y="1783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KEY FINDING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275320" y="21031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One-sentence takeaway from the data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75320" y="32918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Study design and population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Primary endpoint definition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Statistical significance (p-value, CI)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75320" y="5349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Sample data shown. Right-click the chart &gt; Edit Data.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Summary of Key Literature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737360"/>
                <a:gridCol w="731520"/>
                <a:gridCol w="2194560"/>
                <a:gridCol w="2103120"/>
                <a:gridCol w="2194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Study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Design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Intervention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Primary Outcome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Key Result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Author et al., Year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RCT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000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Surgery vs. medical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mRS 0-2 at 6 mo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Summary of result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Author et al., Year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Prospective cohort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000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Technique A vs. B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Complication rate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Summary of result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Author et al., Year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Meta-analysis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000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Pooled analysis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Recurrence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Summary of result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Author et al., Year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Retrospective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000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Single-center series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Overall survival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Summary of result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06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Abbreviations: RCT, randomized controlled trial; mRS, modified Rankin Scale.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Epidemiology at a Glance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32918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10312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00K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35204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new cases diagnosed annually in the U.S.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97680" y="1737360"/>
            <a:ext cx="3474720" cy="32918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0" y="210312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00%</a:t>
            </a:r>
            <a:endParaRPr lang="en-US" sz="6600" dirty="0"/>
          </a:p>
        </p:txBody>
      </p:sp>
      <p:sp>
        <p:nvSpPr>
          <p:cNvPr id="8" name="Text 6"/>
          <p:cNvSpPr txBox="1"/>
          <p:nvPr/>
        </p:nvSpPr>
        <p:spPr>
          <a:xfrm>
            <a:off x="4617720" y="35204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of patients present with this symptom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737360"/>
            <a:ext cx="3474720" cy="32918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321040" y="210312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 mo</a:t>
            </a:r>
            <a:endParaRPr lang="en-US" sz="6600" dirty="0"/>
          </a:p>
        </p:txBody>
      </p:sp>
      <p:sp>
        <p:nvSpPr>
          <p:cNvPr id="11" name="Text 9"/>
          <p:cNvSpPr txBox="1"/>
          <p:nvPr/>
        </p:nvSpPr>
        <p:spPr>
          <a:xfrm>
            <a:off x="8366760" y="35204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median survival / time to recurrence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577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Source: Author et al., Journal, Year.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31520" y="128016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8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3152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Surgical Management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31520" y="41148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7A8AA"/>
                </a:solidFill>
              </a:rPr>
              <a:t>Indications, technique, and outcomes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Operative Technique: Key Steps</a:t>
            </a:r>
            <a:endParaRPr lang="en-US" sz="3400" dirty="0"/>
          </a:p>
        </p:txBody>
      </p:sp>
      <p:sp>
        <p:nvSpPr>
          <p:cNvPr id="3" name="Step 1 image"/>
          <p:cNvSpPr/>
          <p:nvPr/>
        </p:nvSpPr>
        <p:spPr>
          <a:xfrm>
            <a:off x="548640" y="1463040"/>
            <a:ext cx="2468880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4" name="Step 1 image icon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1481328" y="1938528"/>
            <a:ext cx="603504" cy="603504"/>
          </a:xfrm>
          <a:prstGeom prst="rect">
            <a:avLst/>
          </a:prstGeom>
        </p:spPr>
      </p:pic>
      <p:sp>
        <p:nvSpPr>
          <p:cNvPr id="5" name="Step 1 image label"/>
          <p:cNvSpPr txBox="1"/>
          <p:nvPr/>
        </p:nvSpPr>
        <p:spPr>
          <a:xfrm>
            <a:off x="685800" y="26791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Intra-op photo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3703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37033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Positioning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43484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Patient position, head fixation, neuronavigation registration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384" y="2331720"/>
            <a:ext cx="256032" cy="256032"/>
          </a:xfrm>
          <a:prstGeom prst="rect">
            <a:avLst/>
          </a:prstGeom>
        </p:spPr>
      </p:pic>
      <p:sp>
        <p:nvSpPr>
          <p:cNvPr id="11" name="Step 2 image"/>
          <p:cNvSpPr/>
          <p:nvPr/>
        </p:nvSpPr>
        <p:spPr>
          <a:xfrm>
            <a:off x="3383280" y="1463040"/>
            <a:ext cx="2468880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12" name="Step 2 image icon" descr="preencoded.png">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4315968" y="1938528"/>
            <a:ext cx="603504" cy="603504"/>
          </a:xfrm>
          <a:prstGeom prst="rect">
            <a:avLst/>
          </a:prstGeom>
        </p:spPr>
      </p:pic>
      <p:sp>
        <p:nvSpPr>
          <p:cNvPr id="13" name="Step 2 image label"/>
          <p:cNvSpPr txBox="1"/>
          <p:nvPr/>
        </p:nvSpPr>
        <p:spPr>
          <a:xfrm>
            <a:off x="3520440" y="26791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Intra-op photo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3383280" y="3703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338328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4069080" y="37033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Exposure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3383280" y="443484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Incision, craniotomy or approach, dural opening</a:t>
            </a:r>
            <a:endParaRPr lang="en-US" sz="14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7024" y="2331720"/>
            <a:ext cx="256032" cy="256032"/>
          </a:xfrm>
          <a:prstGeom prst="rect">
            <a:avLst/>
          </a:prstGeom>
        </p:spPr>
      </p:pic>
      <p:sp>
        <p:nvSpPr>
          <p:cNvPr id="19" name="Step 3 image"/>
          <p:cNvSpPr/>
          <p:nvPr/>
        </p:nvSpPr>
        <p:spPr>
          <a:xfrm>
            <a:off x="6217920" y="1463040"/>
            <a:ext cx="2468880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20" name="Step 3 image icon" descr="preencoded.png">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7150608" y="1938528"/>
            <a:ext cx="603504" cy="603504"/>
          </a:xfrm>
          <a:prstGeom prst="rect">
            <a:avLst/>
          </a:prstGeom>
        </p:spPr>
      </p:pic>
      <p:sp>
        <p:nvSpPr>
          <p:cNvPr id="21" name="Step 3 image label"/>
          <p:cNvSpPr txBox="1"/>
          <p:nvPr/>
        </p:nvSpPr>
        <p:spPr>
          <a:xfrm>
            <a:off x="6355080" y="26791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Intra-op photo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6217920" y="3703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 16"/>
          <p:cNvSpPr txBox="1"/>
          <p:nvPr/>
        </p:nvSpPr>
        <p:spPr>
          <a:xfrm>
            <a:off x="621792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17"/>
          <p:cNvSpPr txBox="1"/>
          <p:nvPr/>
        </p:nvSpPr>
        <p:spPr>
          <a:xfrm>
            <a:off x="6903720" y="37033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Resection</a:t>
            </a:r>
            <a:endParaRPr lang="en-US" sz="1900" dirty="0"/>
          </a:p>
        </p:txBody>
      </p:sp>
      <p:sp>
        <p:nvSpPr>
          <p:cNvPr id="25" name="Text 18"/>
          <p:cNvSpPr txBox="1"/>
          <p:nvPr/>
        </p:nvSpPr>
        <p:spPr>
          <a:xfrm>
            <a:off x="6217920" y="443484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Microsurgical dissection, adjuncts (neuromonitoring, 5-ALA, iMRI)</a:t>
            </a:r>
            <a:endParaRPr lang="en-US" sz="14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1664" y="2331720"/>
            <a:ext cx="256032" cy="256032"/>
          </a:xfrm>
          <a:prstGeom prst="rect">
            <a:avLst/>
          </a:prstGeom>
        </p:spPr>
      </p:pic>
      <p:sp>
        <p:nvSpPr>
          <p:cNvPr id="27" name="Step 4 image"/>
          <p:cNvSpPr/>
          <p:nvPr/>
        </p:nvSpPr>
        <p:spPr>
          <a:xfrm>
            <a:off x="9052560" y="1463040"/>
            <a:ext cx="2468880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28" name="Step 4 image icon" descr="preencoded.png">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9985248" y="1938528"/>
            <a:ext cx="603504" cy="603504"/>
          </a:xfrm>
          <a:prstGeom prst="rect">
            <a:avLst/>
          </a:prstGeom>
        </p:spPr>
      </p:pic>
      <p:sp>
        <p:nvSpPr>
          <p:cNvPr id="29" name="Step 4 image label"/>
          <p:cNvSpPr txBox="1"/>
          <p:nvPr/>
        </p:nvSpPr>
        <p:spPr>
          <a:xfrm>
            <a:off x="9189720" y="26791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Intra-op photo</a:t>
            </a:r>
            <a:endParaRPr lang="en-US" sz="1200" dirty="0"/>
          </a:p>
        </p:txBody>
      </p:sp>
      <p:sp>
        <p:nvSpPr>
          <p:cNvPr id="30" name="Shape 21"/>
          <p:cNvSpPr/>
          <p:nvPr/>
        </p:nvSpPr>
        <p:spPr>
          <a:xfrm>
            <a:off x="9052560" y="3703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Text 22"/>
          <p:cNvSpPr txBox="1"/>
          <p:nvPr/>
        </p:nvSpPr>
        <p:spPr>
          <a:xfrm>
            <a:off x="905256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32" name="Text 23"/>
          <p:cNvSpPr txBox="1"/>
          <p:nvPr/>
        </p:nvSpPr>
        <p:spPr>
          <a:xfrm>
            <a:off x="9738360" y="37033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Closure</a:t>
            </a:r>
            <a:endParaRPr lang="en-US" sz="1900" dirty="0"/>
          </a:p>
        </p:txBody>
      </p:sp>
      <p:sp>
        <p:nvSpPr>
          <p:cNvPr id="33" name="Text 24"/>
          <p:cNvSpPr txBox="1"/>
          <p:nvPr/>
        </p:nvSpPr>
        <p:spPr>
          <a:xfrm>
            <a:off x="9052560" y="443484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Hemostasis, dural repair, closure, post-op plan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Operative Video</a:t>
            </a:r>
            <a:endParaRPr lang="en-US" sz="3400" dirty="0"/>
          </a:p>
        </p:txBody>
      </p:sp>
      <p:sp>
        <p:nvSpPr>
          <p:cNvPr id="3" name="Video placeholder"/>
          <p:cNvSpPr/>
          <p:nvPr/>
        </p:nvSpPr>
        <p:spPr>
          <a:xfrm>
            <a:off x="548640" y="1463040"/>
            <a:ext cx="7680960" cy="461772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4" name="Video placeholder icon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4023360" y="3177540"/>
            <a:ext cx="731520" cy="731520"/>
          </a:xfrm>
          <a:prstGeom prst="rect">
            <a:avLst/>
          </a:prstGeom>
        </p:spPr>
      </p:pic>
      <p:sp>
        <p:nvSpPr>
          <p:cNvPr id="5" name="Video placeholder label"/>
          <p:cNvSpPr txBox="1"/>
          <p:nvPr/>
        </p:nvSpPr>
        <p:spPr>
          <a:xfrm>
            <a:off x="685800" y="40462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Insert &gt; Video &gt; This Device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595360" y="1554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NARRATION CUES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196596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0:00  Exposure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0:45  Identification of key anatomy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1:30  Resection / repair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2:15  Final result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Clinical Pearl</a:t>
            </a:r>
            <a:endParaRPr lang="en-US" sz="3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554480" y="1691640"/>
            <a:ext cx="9509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this slide for a single, memorable teaching point or quotation that you want the audience to remember.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1554480" y="4572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7A8AA"/>
                </a:solidFill>
              </a:rPr>
              <a:t>— Attribution or source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Take-Home Points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11064240" cy="12801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7830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1973275"/>
            <a:ext cx="351130" cy="3511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6916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920240" y="214884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Concise statement about recognition and work-up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017520"/>
            <a:ext cx="11064240" cy="12801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868680" y="32918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875" y="3482035"/>
            <a:ext cx="351130" cy="35113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920240" y="320040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Decision-Making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1920240" y="365760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Concise statement about patient selection and timing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4526280"/>
            <a:ext cx="11064240" cy="12801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868680" y="4800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875" y="4990795"/>
            <a:ext cx="351130" cy="35113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920240" y="470916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920240" y="516636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Concise statement about expected results and follow-up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References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110642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Author AA, Author BB, Author CC. Title of the article. J Neurosurg. Year;Vol(Issue):Pages. doi:10.xxxx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Author AA, Author BB, Author CC. Title of the article. J Neurosurg. Year;Vol(Issue):Pages. doi:10.xxxx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Author AA, Author BB, Author CC. Title of the article. J Neurosurg. Year;Vol(Issue):Pages. doi:10.xxxx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Author AA, Author BB, Author CC. Title of the article. J Neurosurg. Year;Vol(Issue):Pages. doi:10.xxxx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Author AA, Author BB, Author CC. Title of the article. J Neurosurg. Year;Vol(Issue):Pages. doi:10.xxxx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Author AA, Author BB, Author CC. Title of the article. J Neurosurg. Year;Vol(Issue):Pages. doi:10.xxxx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2834640"/>
            <a:ext cx="10360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Thank You  |  Questions?</a:t>
            </a:r>
            <a:endParaRPr lang="en-US" sz="5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371600" y="4023360"/>
            <a:ext cx="94457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C4C4"/>
                </a:solidFill>
              </a:rPr>
              <a:t>Presenter Name, MD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2C4C4"/>
                </a:solidFill>
              </a:rPr>
              <a:t>presenter.name@hsc.utah.edu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niversity of Utah Neurosurgery">
  <a:themeElements>
    <a:clrScheme name="University of Utah Neurosurgery">
      <a:dk1>
        <a:srgbClr val="1A1A1A"/>
      </a:dk1>
      <a:lt1>
        <a:srgbClr val="FFFFFF"/>
      </a:lt1>
      <a:dk2>
        <a:srgbClr val="3B3B3B"/>
      </a:dk2>
      <a:lt2>
        <a:srgbClr val="EEF0F0"/>
      </a:lt2>
      <a:accent1>
        <a:srgbClr val="BE0000"/>
      </a:accent1>
      <a:accent2>
        <a:srgbClr val="890000"/>
      </a:accent2>
      <a:accent3>
        <a:srgbClr val="708E99"/>
      </a:accent3>
      <a:accent4>
        <a:srgbClr val="5B6770"/>
      </a:accent4>
      <a:accent5>
        <a:srgbClr val="FFB81D"/>
      </a:accent5>
      <a:accent6>
        <a:srgbClr val="A7A8AA"/>
      </a:accent6>
      <a:hlink>
        <a:srgbClr val="BE0000"/>
      </a:hlink>
      <a:folHlink>
        <a:srgbClr val="890000"/>
      </a:folHlink>
    </a:clrScheme>
    <a:fontScheme name="University of Utah Neurosurger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University of Utah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Neurosurgery Grand Rounds</dc:title>
  <dc:subject>PptxGenJS Presentation</dc:subject>
  <dc:creator>Department of Neurosurgery, University of Utah Health</dc:creator>
  <cp:lastModifiedBy>Department of Neurosurgery, University of Utah Health</cp:lastModifiedBy>
  <cp:revision>1</cp:revision>
  <dcterms:created xsi:type="dcterms:W3CDTF">2026-10-26T17:42:44Z</dcterms:created>
  <dcterms:modified xsi:type="dcterms:W3CDTF">2026-10-26T17:42:44Z</dcterms:modified>
</cp:coreProperties>
</file>