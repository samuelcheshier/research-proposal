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NOC025" id="{ca656379-2553-356a-a4b2-b4dad8ceb2f9}">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PNOC025 enrolled 13 patients aged 7 to 67 between 2022 and 2023: 6 children in Stratum A and 7 adults in Stratum B. Four were female. Tumor types were glioblastoma (5), ependymoma (4) and pediatric high-grade glioma (1). Midline and primary spinal cord tumors were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patients were evaluable for toxicity and ten for response. Two adults withdrew during the DLT period, and one child had an early DLT, the only DLT in the study. Eight patients received dose level 1 (30 mg/kg/dose, fully accrued) and two adults received dose level 2 (45 mg/kg/dose). All patients came off treatment for progression except one child with anaplastic ependymoma, who completed all 24 cycles. There were five grade 3 or higher treatment-related adverse events, one each of anemia, fatigue, fever, headache and intratumoral hemorrhage. Conclusion: magrolimab was safe and well tolerated. Ferumoxytol and gadolinium MRI mismatch analyses are under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U_TITLE">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616952" y="0"/>
            <a:ext cx="4572000" cy="6858000"/>
          </a:xfrm>
          <a:prstGeom prst="rect">
            <a:avLst/>
          </a:prstGeom>
          <a:solidFill>
            <a:schemeClr val="tx1"/>
          </a:solidFill>
          <a:ln/>
        </p:spPr>
      </p:sp>
      <p:pic>
        <p:nvPicPr>
          <p:cNvPr id="3" name="Image 0" descr="preencoded.png">    </p:cNvPr>
          <p:cNvPicPr>
            <a:picLocks noChangeAspect="1"/>
          </p:cNvPicPr>
          <p:nvPr/>
        </p:nvPicPr>
        <p:blipFill>
          <a:blip r:embed="rId1"/>
          <a:stretch>
            <a:fillRect/>
          </a:stretch>
        </p:blipFill>
        <p:spPr>
          <a:xfrm>
            <a:off x="8394192" y="1920240"/>
            <a:ext cx="3017520" cy="3017520"/>
          </a:xfrm>
          <a:prstGeom prst="rect">
            <a:avLst/>
          </a:prstGeom>
        </p:spPr>
      </p:pic>
      <p:sp>
        <p:nvSpPr>
          <p:cNvPr id="4" name="Text 1"/>
          <p:cNvSpPr/>
          <p:nvPr/>
        </p:nvSpPr>
        <p:spPr>
          <a:xfrm>
            <a:off x="640080" y="548640"/>
            <a:ext cx="6400800" cy="320040"/>
          </a:xfrm>
          <a:prstGeom prst="rect">
            <a:avLst/>
          </a:prstGeom>
          <a:noFill/>
          <a:ln/>
        </p:spPr>
        <p:txBody>
          <a:bodyPr wrap="square" lIns="0" tIns="0" rIns="0" bIns="0" rtlCol="0" anchor="ctr"/>
          <a:lstStyle/>
          <a:p>
            <a:pPr indent="0" marL="0">
              <a:buNone/>
            </a:pPr>
            <a:r>
              <a:rPr lang="en-US" sz="1200" b="1" spc="400" kern="0" dirty="0">
                <a:solidFill>
                  <a:schemeClr val="bg1"/>
                </a:solidFill>
              </a:rPr>
              <a:t>UNIVERSITY OF UTAH HEALTH</a:t>
            </a:r>
            <a:endParaRPr lang="en-US" sz="1200" dirty="0"/>
          </a:p>
        </p:txBody>
      </p:sp>
      <p:sp>
        <p:nvSpPr>
          <p:cNvPr id="5" name="Text 2"/>
          <p:cNvSpPr/>
          <p:nvPr/>
        </p:nvSpPr>
        <p:spPr>
          <a:xfrm>
            <a:off x="640080" y="868680"/>
            <a:ext cx="6400800" cy="274320"/>
          </a:xfrm>
          <a:prstGeom prst="rect">
            <a:avLst/>
          </a:prstGeom>
          <a:noFill/>
          <a:ln/>
        </p:spPr>
        <p:txBody>
          <a:bodyPr wrap="square" lIns="0" tIns="0" rIns="0" bIns="0" rtlCol="0" anchor="ctr"/>
          <a:lstStyle/>
          <a:p>
            <a:pPr indent="0" marL="0">
              <a:buNone/>
            </a:pPr>
            <a:r>
              <a:rPr lang="en-US" sz="1200" dirty="0">
                <a:solidFill>
                  <a:srgbClr val="F2C4C4"/>
                </a:solidFill>
              </a:rPr>
              <a:t>Department of Neurosurgery</a:t>
            </a:r>
            <a:endParaRPr lang="en-US" sz="1200" dirty="0"/>
          </a:p>
        </p:txBody>
      </p:sp>
      <p:sp>
        <p:nvSpPr>
          <p:cNvPr id="6" name="Text 3"/>
          <p:cNvSpPr/>
          <p:nvPr>
            <p:ph idx="104" type="title" hasCustomPrompt="1"/>
          </p:nvPr>
        </p:nvSpPr>
        <p:spPr>
          <a:xfrm>
            <a:off x="640080" y="1828800"/>
            <a:ext cx="65836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Presentation Title</a:t>
            </a:r>
            <a:endParaRPr lang="en-US" sz="4400" dirty="0"/>
          </a:p>
        </p:txBody>
      </p:sp>
      <p:sp>
        <p:nvSpPr>
          <p:cNvPr id="7" name="Text 3"/>
          <p:cNvSpPr/>
          <p:nvPr>
            <p:ph idx="105" type="body" hasCustomPrompt="1"/>
          </p:nvPr>
        </p:nvSpPr>
        <p:spPr>
          <a:xfrm>
            <a:off x="640080" y="3794760"/>
            <a:ext cx="6583680" cy="731520"/>
          </a:xfrm>
          <a:prstGeom prst="rect">
            <a:avLst/>
          </a:prstGeom>
          <a:noFill/>
          <a:ln/>
        </p:spPr>
        <p:txBody>
          <a:bodyPr wrap="square" rtlCol="0"/>
          <a:lstStyle>
            <a:lvl1pPr indent="0" marL="0">
              <a:buNone/>
              <a:defRPr lang="en-US" sz="2000" dirty="0">
                <a:solidFill>
                  <a:srgbClr val="F2C4C4"/>
                </a:solidFill>
              </a:defRPr>
            </a:lvl1pPr>
          </a:lstStyle>
          <a:p>
            <a:pPr indent="0" marL="0">
              <a:buNone/>
            </a:pPr>
            <a:r>
              <a:rPr lang="en-US" sz="2000" dirty="0">
                <a:solidFill>
                  <a:srgbClr val="F2C4C4"/>
                </a:solidFill>
              </a:rPr>
              <a:t>Subtitle</a:t>
            </a:r>
            <a:endParaRPr lang="en-US" sz="2000" dirty="0"/>
          </a:p>
        </p:txBody>
      </p:sp>
      <p:sp>
        <p:nvSpPr>
          <p:cNvPr id="8" name="Text 3"/>
          <p:cNvSpPr/>
          <p:nvPr>
            <p:ph idx="106" type="body" hasCustomPrompt="1"/>
          </p:nvPr>
        </p:nvSpPr>
        <p:spPr>
          <a:xfrm>
            <a:off x="640080" y="4983480"/>
            <a:ext cx="6583680" cy="118872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Presenter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U_SECTION">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80960" y="914400"/>
            <a:ext cx="5029200" cy="5029200"/>
          </a:xfrm>
          <a:prstGeom prst="rect">
            <a:avLst/>
          </a:prstGeom>
        </p:spPr>
      </p:pic>
      <p:sp>
        <p:nvSpPr>
          <p:cNvPr id="3" name="Text 0"/>
          <p:cNvSpPr/>
          <p:nvPr>
            <p:ph idx="101" type="body" hasCustomPrompt="1"/>
          </p:nvPr>
        </p:nvSpPr>
        <p:spPr>
          <a:xfrm>
            <a:off x="731520" y="1280160"/>
            <a:ext cx="3657600" cy="1371600"/>
          </a:xfrm>
          <a:prstGeom prst="rect">
            <a:avLst/>
          </a:prstGeom>
          <a:noFill/>
          <a:ln/>
        </p:spPr>
        <p:txBody>
          <a:bodyPr wrap="square" rtlCol="0"/>
          <a:lstStyle>
            <a:lvl1pPr indent="0" marL="0">
              <a:buNone/>
              <a:defRPr lang="en-US" sz="8800" b="1" dirty="0">
                <a:solidFill>
                  <a:schemeClr val="accent1"/>
                </a:solidFill>
                <a:latin typeface="Cambria" pitchFamily="34" charset="0"/>
                <a:ea typeface="Cambria" pitchFamily="34" charset="-122"/>
                <a:cs typeface="Cambria" pitchFamily="34" charset="-120"/>
              </a:defRPr>
            </a:lvl1pPr>
          </a:lstStyle>
          <a:p>
            <a:pPr indent="0" marL="0">
              <a:buNone/>
            </a:pPr>
            <a:r>
              <a:rPr lang="en-US" sz="8800" b="1" dirty="0">
                <a:solidFill>
                  <a:schemeClr val="accent1"/>
                </a:solidFill>
                <a:latin typeface="Cambria" pitchFamily="34" charset="0"/>
                <a:ea typeface="Cambria" pitchFamily="34" charset="-122"/>
                <a:cs typeface="Cambria" pitchFamily="34" charset="-120"/>
              </a:rPr>
              <a:t>01</a:t>
            </a:r>
            <a:endParaRPr lang="en-US" sz="8800" dirty="0"/>
          </a:p>
        </p:txBody>
      </p:sp>
      <p:sp>
        <p:nvSpPr>
          <p:cNvPr id="4" name="Text 0"/>
          <p:cNvSpPr/>
          <p:nvPr>
            <p:ph idx="102" type="title" hasCustomPrompt="1"/>
          </p:nvPr>
        </p:nvSpPr>
        <p:spPr>
          <a:xfrm>
            <a:off x="731520" y="2834640"/>
            <a:ext cx="777240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Section Title</a:t>
            </a:r>
            <a:endParaRPr lang="en-US" sz="4400" dirty="0"/>
          </a:p>
        </p:txBody>
      </p:sp>
      <p:sp>
        <p:nvSpPr>
          <p:cNvPr id="5" name="Text 0"/>
          <p:cNvSpPr/>
          <p:nvPr>
            <p:ph idx="103" type="body" hasCustomPrompt="1"/>
          </p:nvPr>
        </p:nvSpPr>
        <p:spPr>
          <a:xfrm>
            <a:off x="731520" y="4114800"/>
            <a:ext cx="6858000" cy="914400"/>
          </a:xfrm>
          <a:prstGeom prst="rect">
            <a:avLst/>
          </a:prstGeom>
          <a:noFill/>
          <a:ln/>
        </p:spPr>
        <p:txBody>
          <a:bodyPr wrap="square" rtlCol="0"/>
          <a:lstStyle>
            <a:lvl1pPr indent="0" marL="0">
              <a:buNone/>
              <a:defRPr lang="en-US" sz="1800" dirty="0">
                <a:solidFill>
                  <a:srgbClr val="A7A8AA"/>
                </a:solidFill>
              </a:defRPr>
            </a:lvl1pPr>
          </a:lstStyle>
          <a:p>
            <a:pPr indent="0" marL="0">
              <a:buNone/>
            </a:pPr>
            <a:r>
              <a:rPr lang="en-US" sz="1800" dirty="0">
                <a:solidFill>
                  <a:srgbClr val="A7A8AA"/>
                </a:solidFill>
              </a:rPr>
              <a:t>Section description</a:t>
            </a:r>
            <a:endParaRPr lang="en-US" sz="1800" dirty="0"/>
          </a:p>
        </p:txBody>
      </p:sp>
      <p:pic>
        <p:nvPicPr>
          <p:cNvPr id="6" name="Image 1" descr="University of Utah Health logo">    </p:cNvPr>
          <p:cNvPicPr>
            <a:picLocks noChangeAspect="1"/>
          </p:cNvPicPr>
          <p:nvPr/>
        </p:nvPicPr>
        <p:blipFill>
          <a:blip r:embed="rId2"/>
          <a:stretch>
            <a:fillRect/>
          </a:stretch>
        </p:blipFill>
        <p:spPr>
          <a:xfrm>
            <a:off x="548640" y="6336792"/>
            <a:ext cx="329184" cy="329184"/>
          </a:xfrm>
          <a:prstGeom prst="rect">
            <a:avLst/>
          </a:prstGeom>
        </p:spPr>
      </p:pic>
      <p:sp>
        <p:nvSpPr>
          <p:cNvPr id="7"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A7A8AA"/>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UU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Slide Title</a:t>
            </a:r>
            <a:endParaRPr lang="en-US" sz="3400" dirty="0"/>
          </a:p>
        </p:txBody>
      </p:sp>
      <p:pic>
        <p:nvPicPr>
          <p:cNvPr id="3" name="Image 0" descr="University of Utah Health logo">    </p:cNvPr>
          <p:cNvPicPr>
            <a:picLocks noChangeAspect="1"/>
          </p:cNvPicPr>
          <p:nvPr/>
        </p:nvPicPr>
        <p:blipFill>
          <a:blip r:embed="rId1"/>
          <a:stretch>
            <a:fillRect/>
          </a:stretch>
        </p:blipFill>
        <p:spPr>
          <a:xfrm>
            <a:off x="548640" y="6336792"/>
            <a:ext cx="329184" cy="329184"/>
          </a:xfrm>
          <a:prstGeom prst="rect">
            <a:avLst/>
          </a:prstGeom>
        </p:spPr>
      </p:pic>
      <p:sp>
        <p:nvSpPr>
          <p:cNvPr id="4"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6B6B6B"/>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UU_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Slide Title</a:t>
            </a:r>
            <a:endParaRPr lang="en-US" sz="3400" dirty="0"/>
          </a:p>
        </p:txBody>
      </p:sp>
      <p:pic>
        <p:nvPicPr>
          <p:cNvPr id="3" name="Image 0" descr="University of Utah Health logo">    </p:cNvPr>
          <p:cNvPicPr>
            <a:picLocks noChangeAspect="1"/>
          </p:cNvPicPr>
          <p:nvPr/>
        </p:nvPicPr>
        <p:blipFill>
          <a:blip r:embed="rId1"/>
          <a:stretch>
            <a:fillRect/>
          </a:stretch>
        </p:blipFill>
        <p:spPr>
          <a:xfrm>
            <a:off x="548640" y="6336792"/>
            <a:ext cx="329184" cy="329184"/>
          </a:xfrm>
          <a:prstGeom prst="rect">
            <a:avLst/>
          </a:prstGeom>
        </p:spPr>
      </p:pic>
      <p:sp>
        <p:nvSpPr>
          <p:cNvPr id="4"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A7A8AA"/>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UU_CLOSING">
    <p:bg>
      <p:bgPr>
        <a:solidFill>
          <a:schemeClr val="accent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184648" y="822960"/>
            <a:ext cx="1828800" cy="1828800"/>
          </a:xfrm>
          <a:prstGeom prst="rect">
            <a:avLst/>
          </a:prstGeom>
        </p:spPr>
      </p:pic>
      <p:sp>
        <p:nvSpPr>
          <p:cNvPr id="3" name="Text 0"/>
          <p:cNvSpPr/>
          <p:nvPr>
            <p:ph idx="101" type="title" hasCustomPrompt="1"/>
          </p:nvPr>
        </p:nvSpPr>
        <p:spPr>
          <a:xfrm>
            <a:off x="914400" y="2834640"/>
            <a:ext cx="10360152" cy="109728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r>
              <a:rPr lang="en-US" sz="5400" b="1" dirty="0">
                <a:solidFill>
                  <a:schemeClr val="bg1"/>
                </a:solidFill>
              </a:rPr>
              <a:t>Questions</a:t>
            </a:r>
            <a:endParaRPr lang="en-US" sz="5400" dirty="0"/>
          </a:p>
        </p:txBody>
      </p:sp>
      <p:sp>
        <p:nvSpPr>
          <p:cNvPr id="4" name="Text 0"/>
          <p:cNvSpPr/>
          <p:nvPr>
            <p:ph idx="102" type="body" hasCustomPrompt="1"/>
          </p:nvPr>
        </p:nvSpPr>
        <p:spPr>
          <a:xfrm>
            <a:off x="1371600" y="4023360"/>
            <a:ext cx="9445752" cy="1371600"/>
          </a:xfrm>
          <a:prstGeom prst="rect">
            <a:avLst/>
          </a:prstGeom>
          <a:noFill/>
          <a:ln/>
        </p:spPr>
        <p:txBody>
          <a:bodyPr wrap="square" rtlCol="0"/>
          <a:lstStyle>
            <a:lvl1pPr algn="ctr" indent="0" marL="0">
              <a:buNone/>
              <a:defRPr lang="en-US" sz="1800" dirty="0">
                <a:solidFill>
                  <a:srgbClr val="F2C4C4"/>
                </a:solidFill>
              </a:defRPr>
            </a:lvl1pPr>
          </a:lstStyle>
          <a:p>
            <a:pPr algn="ctr" indent="0" marL="0">
              <a:buNone/>
            </a:pPr>
            <a:r>
              <a:rPr lang="en-US" sz="1800" dirty="0">
                <a:solidFill>
                  <a:srgbClr val="F2C4C4"/>
                </a:solidFill>
              </a:rPr>
              <a:t>Contact</a:t>
            </a:r>
            <a:endParaRPr lang="en-US" sz="1800" dirty="0"/>
          </a:p>
        </p:txBody>
      </p:sp>
      <p:sp>
        <p:nvSpPr>
          <p:cNvPr id="5" name="Text 0"/>
          <p:cNvSpPr/>
          <p:nvPr/>
        </p:nvSpPr>
        <p:spPr>
          <a:xfrm>
            <a:off x="914400" y="6126480"/>
            <a:ext cx="10360152" cy="320040"/>
          </a:xfrm>
          <a:prstGeom prst="rect">
            <a:avLst/>
          </a:prstGeom>
          <a:noFill/>
          <a:ln/>
        </p:spPr>
        <p:txBody>
          <a:bodyPr wrap="square" lIns="0" tIns="0" rIns="0" bIns="0" rtlCol="0" anchor="ctr"/>
          <a:lstStyle/>
          <a:p>
            <a:pPr algn="ctr" indent="0" marL="0">
              <a:buNone/>
            </a:pPr>
            <a:r>
              <a:rPr lang="en-US" sz="1100" b="1" spc="300" kern="0" dirty="0">
                <a:solidFill>
                  <a:schemeClr val="bg1"/>
                </a:solidFill>
              </a:rPr>
              <a:t>UNIVERSITY OF UTAH HEALTH  |  DEPARTMENT OF NEUROSURGERY</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Table 1. PNOC025: Enrollment and Patient Characteristics</a:t>
            </a:r>
            <a:endParaRPr lang="en-US" sz="3400" dirty="0"/>
          </a:p>
        </p:txBody>
      </p:sp>
      <p:graphicFrame>
        <p:nvGraphicFramePr>
          <p:cNvPr id="2" name="Table 1"/>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3931920"/>
                <a:gridCol w="3657600"/>
              </a:tblGrid>
              <a:tr h="246888">
                <a:tc>
                  <a:txBody>
                    <a:bodyPr/>
                    <a:lstStyle/>
                    <a:p>
                      <a:pPr algn="l" indent="0" marL="0">
                        <a:buNone/>
                      </a:pPr>
                      <a:r>
                        <a:rPr lang="en-US" sz="1300" b="1" dirty="0">
                          <a:solidFill>
                            <a:schemeClr val="bg1"/>
                          </a:solidFill>
                        </a:rPr>
                        <a:t>Characteristic</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Value</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tx1"/>
                    </a:solidFill>
                  </a:tcPr>
                </a:tc>
              </a:tr>
              <a:tr h="246888">
                <a:tc gridSpan="2">
                  <a:txBody>
                    <a:bodyPr/>
                    <a:lstStyle/>
                    <a:p>
                      <a:pPr indent="0" marL="0">
                        <a:buNone/>
                      </a:pPr>
                      <a:r>
                        <a:rPr lang="en-US" sz="1200" b="1" spc="100" kern="0" dirty="0">
                          <a:solidFill>
                            <a:schemeClr val="accent1"/>
                          </a:solidFill>
                        </a:rPr>
                        <a:t>ENROLLMENT</a:t>
                      </a:r>
                      <a:endParaRPr lang="en-US" sz="12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bg2"/>
                    </a:solidFill>
                  </a:tcPr>
                </a:tc>
                <a:tc hMerge="1">
                  <a:tcPr/>
                </a:tc>
              </a:tr>
              <a:tr h="246888">
                <a:tc>
                  <a:txBody>
                    <a:bodyPr/>
                    <a:lstStyle/>
                    <a:p>
                      <a:pPr indent="0" marL="0">
                        <a:buNone/>
                      </a:pPr>
                      <a:r>
                        <a:rPr lang="en-US" sz="1300" dirty="0">
                          <a:solidFill>
                            <a:schemeClr val="tx1"/>
                          </a:solidFill>
                        </a:rPr>
                        <a:t>Patients enrolled (2022–2023)</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13</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Age range, years</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7–67</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Female / male</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4 / 9*</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gridSpan="2">
                  <a:txBody>
                    <a:bodyPr/>
                    <a:lstStyle/>
                    <a:p>
                      <a:pPr indent="0" marL="0">
                        <a:buNone/>
                      </a:pPr>
                      <a:r>
                        <a:rPr lang="en-US" sz="1200" b="1" spc="100" kern="0" dirty="0">
                          <a:solidFill>
                            <a:schemeClr val="accent1"/>
                          </a:solidFill>
                        </a:rPr>
                        <a:t>STRATUM</a:t>
                      </a:r>
                      <a:endParaRPr lang="en-US" sz="12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bg2"/>
                    </a:solidFill>
                  </a:tcPr>
                </a:tc>
                <a:tc hMerge="1">
                  <a:tcPr/>
                </a:tc>
              </a:tr>
              <a:tr h="246888">
                <a:tc>
                  <a:txBody>
                    <a:bodyPr/>
                    <a:lstStyle/>
                    <a:p>
                      <a:pPr indent="0" marL="0">
                        <a:buNone/>
                      </a:pPr>
                      <a:r>
                        <a:rPr lang="en-US" sz="1300" dirty="0">
                          <a:solidFill>
                            <a:schemeClr val="tx1"/>
                          </a:solidFill>
                        </a:rPr>
                        <a:t>A: children, 3–17 years</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6</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B: adults, ≥18 years</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7*</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gridSpan="2">
                  <a:txBody>
                    <a:bodyPr/>
                    <a:lstStyle/>
                    <a:p>
                      <a:pPr indent="0" marL="0">
                        <a:buNone/>
                      </a:pPr>
                      <a:r>
                        <a:rPr lang="en-US" sz="1200" b="1" spc="100" kern="0" dirty="0">
                          <a:solidFill>
                            <a:schemeClr val="accent1"/>
                          </a:solidFill>
                        </a:rPr>
                        <a:t>TUMOR TYPE</a:t>
                      </a:r>
                      <a:endParaRPr lang="en-US" sz="12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bg2"/>
                    </a:solidFill>
                  </a:tcPr>
                </a:tc>
                <a:tc hMerge="1">
                  <a:tcPr/>
                </a:tc>
              </a:tr>
              <a:tr h="246888">
                <a:tc>
                  <a:txBody>
                    <a:bodyPr/>
                    <a:lstStyle/>
                    <a:p>
                      <a:pPr indent="0" marL="0">
                        <a:buNone/>
                      </a:pPr>
                      <a:r>
                        <a:rPr lang="en-US" sz="1300" dirty="0">
                          <a:solidFill>
                            <a:schemeClr val="tx1"/>
                          </a:solidFill>
                        </a:rPr>
                        <a:t>Glioblastoma</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5</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Ependymoma</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4</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Pediatric high-grade glioma</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1</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bl>
          </a:graphicData>
        </a:graphic>
      </p:graphicFrame>
      <p:sp>
        <p:nvSpPr>
          <p:cNvPr id="4" name="Shape 1"/>
          <p:cNvSpPr/>
          <p:nvPr/>
        </p:nvSpPr>
        <p:spPr>
          <a:xfrm>
            <a:off x="8412480" y="1417320"/>
            <a:ext cx="3227832" cy="1188720"/>
          </a:xfrm>
          <a:prstGeom prst="rect">
            <a:avLst/>
          </a:prstGeom>
          <a:solidFill>
            <a:schemeClr val="bg2"/>
          </a:solidFill>
          <a:ln/>
        </p:spPr>
      </p:sp>
      <p:sp>
        <p:nvSpPr>
          <p:cNvPr id="5" name="Text 2"/>
          <p:cNvSpPr txBox="1"/>
          <p:nvPr/>
        </p:nvSpPr>
        <p:spPr>
          <a:xfrm>
            <a:off x="8503920" y="1508760"/>
            <a:ext cx="1280160" cy="10058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13</a:t>
            </a:r>
            <a:endParaRPr lang="en-US" sz="3600" dirty="0"/>
          </a:p>
        </p:txBody>
      </p:sp>
      <p:sp>
        <p:nvSpPr>
          <p:cNvPr id="6" name="Text 3"/>
          <p:cNvSpPr txBox="1"/>
          <p:nvPr/>
        </p:nvSpPr>
        <p:spPr>
          <a:xfrm>
            <a:off x="9875520" y="1508760"/>
            <a:ext cx="1645920" cy="1005840"/>
          </a:xfrm>
          <a:prstGeom prst="rect">
            <a:avLst/>
          </a:prstGeom>
          <a:noFill/>
          <a:ln/>
        </p:spPr>
        <p:txBody>
          <a:bodyPr wrap="square" lIns="0" tIns="0" rIns="0" bIns="0" rtlCol="0" anchor="ctr"/>
          <a:lstStyle/>
          <a:p>
            <a:pPr indent="0" marL="0">
              <a:buNone/>
            </a:pPr>
            <a:r>
              <a:rPr lang="en-US" sz="1400" dirty="0">
                <a:solidFill>
                  <a:schemeClr val="tx1"/>
                </a:solidFill>
              </a:rPr>
              <a:t>patients enrolled across PNOC sites</a:t>
            </a:r>
            <a:endParaRPr lang="en-US" sz="1400" dirty="0"/>
          </a:p>
        </p:txBody>
      </p:sp>
      <p:sp>
        <p:nvSpPr>
          <p:cNvPr id="7" name="Shape 4"/>
          <p:cNvSpPr/>
          <p:nvPr/>
        </p:nvSpPr>
        <p:spPr>
          <a:xfrm>
            <a:off x="8412480" y="2761488"/>
            <a:ext cx="3227832" cy="1188720"/>
          </a:xfrm>
          <a:prstGeom prst="rect">
            <a:avLst/>
          </a:prstGeom>
          <a:solidFill>
            <a:schemeClr val="bg2"/>
          </a:solidFill>
          <a:ln/>
        </p:spPr>
      </p:sp>
      <p:sp>
        <p:nvSpPr>
          <p:cNvPr id="8" name="Text 5"/>
          <p:cNvSpPr txBox="1"/>
          <p:nvPr/>
        </p:nvSpPr>
        <p:spPr>
          <a:xfrm>
            <a:off x="8503920" y="2852928"/>
            <a:ext cx="1280160" cy="10058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7–67</a:t>
            </a:r>
            <a:endParaRPr lang="en-US" sz="3600" dirty="0"/>
          </a:p>
        </p:txBody>
      </p:sp>
      <p:sp>
        <p:nvSpPr>
          <p:cNvPr id="9" name="Text 6"/>
          <p:cNvSpPr txBox="1"/>
          <p:nvPr/>
        </p:nvSpPr>
        <p:spPr>
          <a:xfrm>
            <a:off x="9875520" y="2852928"/>
            <a:ext cx="1645920" cy="1005840"/>
          </a:xfrm>
          <a:prstGeom prst="rect">
            <a:avLst/>
          </a:prstGeom>
          <a:noFill/>
          <a:ln/>
        </p:spPr>
        <p:txBody>
          <a:bodyPr wrap="square" lIns="0" tIns="0" rIns="0" bIns="0" rtlCol="0" anchor="ctr"/>
          <a:lstStyle/>
          <a:p>
            <a:pPr indent="0" marL="0">
              <a:buNone/>
            </a:pPr>
            <a:r>
              <a:rPr lang="en-US" sz="1400" dirty="0">
                <a:solidFill>
                  <a:schemeClr val="tx1"/>
                </a:solidFill>
              </a:rPr>
              <a:t>age range in years (children and adults)</a:t>
            </a:r>
            <a:endParaRPr lang="en-US" sz="1400" dirty="0"/>
          </a:p>
        </p:txBody>
      </p:sp>
      <p:sp>
        <p:nvSpPr>
          <p:cNvPr id="10" name="Shape 7"/>
          <p:cNvSpPr/>
          <p:nvPr/>
        </p:nvSpPr>
        <p:spPr>
          <a:xfrm>
            <a:off x="8412480" y="4105656"/>
            <a:ext cx="3227832" cy="1188720"/>
          </a:xfrm>
          <a:prstGeom prst="rect">
            <a:avLst/>
          </a:prstGeom>
          <a:solidFill>
            <a:schemeClr val="bg2"/>
          </a:solidFill>
          <a:ln/>
        </p:spPr>
      </p:sp>
      <p:sp>
        <p:nvSpPr>
          <p:cNvPr id="11" name="Text 8"/>
          <p:cNvSpPr txBox="1"/>
          <p:nvPr/>
        </p:nvSpPr>
        <p:spPr>
          <a:xfrm>
            <a:off x="8503920" y="4197096"/>
            <a:ext cx="1280160" cy="10058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12" name="Text 9"/>
          <p:cNvSpPr txBox="1"/>
          <p:nvPr/>
        </p:nvSpPr>
        <p:spPr>
          <a:xfrm>
            <a:off x="9875520" y="4197096"/>
            <a:ext cx="1645920" cy="1005840"/>
          </a:xfrm>
          <a:prstGeom prst="rect">
            <a:avLst/>
          </a:prstGeom>
          <a:noFill/>
          <a:ln/>
        </p:spPr>
        <p:txBody>
          <a:bodyPr wrap="square" lIns="0" tIns="0" rIns="0" bIns="0" rtlCol="0" anchor="ctr"/>
          <a:lstStyle/>
          <a:p>
            <a:pPr indent="0" marL="0">
              <a:buNone/>
            </a:pPr>
            <a:r>
              <a:rPr lang="en-US" sz="1400" dirty="0">
                <a:solidFill>
                  <a:schemeClr val="tx1"/>
                </a:solidFill>
              </a:rPr>
              <a:t>evaluable for response (5 children, 5 adults)</a:t>
            </a:r>
            <a:endParaRPr lang="en-US" sz="1400" dirty="0"/>
          </a:p>
        </p:txBody>
      </p:sp>
      <p:sp>
        <p:nvSpPr>
          <p:cNvPr id="13" name="Text 10"/>
          <p:cNvSpPr txBox="1"/>
          <p:nvPr/>
        </p:nvSpPr>
        <p:spPr>
          <a:xfrm>
            <a:off x="548640" y="5577840"/>
            <a:ext cx="11091672" cy="256032"/>
          </a:xfrm>
          <a:prstGeom prst="rect">
            <a:avLst/>
          </a:prstGeom>
          <a:noFill/>
          <a:ln/>
        </p:spPr>
        <p:txBody>
          <a:bodyPr wrap="square" lIns="0" tIns="0" rIns="0" bIns="0" rtlCol="0" anchor="ctr"/>
          <a:lstStyle/>
          <a:p>
            <a:pPr indent="0" marL="0">
              <a:buNone/>
            </a:pPr>
            <a:r>
              <a:rPr lang="en-US" sz="1000" i="1" dirty="0">
                <a:solidFill>
                  <a:schemeClr val="accent3"/>
                </a:solidFill>
              </a:rPr>
              <a:t>*Derived from reported totals (13 enrolled, 4 female, 6 in Stratum A). Tumor types as reported in the abstract (n = 10). Midline and primary spinal cord tumors were excluded. PNOC, Pediatric Neuro-Oncology Consortium.</a:t>
            </a:r>
            <a:endParaRPr lang="en-US" sz="1000" dirty="0"/>
          </a:p>
        </p:txBody>
      </p:sp>
      <p:sp>
        <p:nvSpPr>
          <p:cNvPr id="14" name="Text 11"/>
          <p:cNvSpPr txBox="1"/>
          <p:nvPr/>
        </p:nvSpPr>
        <p:spPr>
          <a:xfrm>
            <a:off x="548640" y="5852160"/>
            <a:ext cx="11091672" cy="457200"/>
          </a:xfrm>
          <a:prstGeom prst="rect">
            <a:avLst/>
          </a:prstGeom>
          <a:noFill/>
          <a:ln/>
        </p:spPr>
        <p:txBody>
          <a:bodyPr wrap="square" lIns="0" tIns="0" rIns="0" bIns="0" rtlCol="0" anchor="t"/>
          <a:lstStyle/>
          <a:p>
            <a:pPr indent="0" marL="0">
              <a:buNone/>
            </a:pPr>
            <a:r>
              <a:rPr lang="en-US" sz="1000" dirty="0">
                <a:solidFill>
                  <a:schemeClr val="accent3"/>
                </a:solidFill>
              </a:rPr>
              <a:t>Whipple N, Molinaro A, Reddy A, et al. CTP-18. PNOC025: a phase 1 study assessing the safety and tolerability of magrolimab in children and adults with recurrent or progressive malignant brain tumors. </a:t>
            </a:r>
            <a:pPr indent="0" marL="0">
              <a:buNone/>
            </a:pPr>
            <a:r>
              <a:rPr lang="en-US" sz="1000" i="1" dirty="0">
                <a:solidFill>
                  <a:schemeClr val="accent3"/>
                </a:solidFill>
              </a:rPr>
              <a:t>Neuro-Oncology</a:t>
            </a:r>
            <a:pPr indent="0" marL="0">
              <a:buNone/>
            </a:pPr>
            <a:r>
              <a:rPr lang="en-US" sz="1000" dirty="0">
                <a:solidFill>
                  <a:schemeClr val="accent3"/>
                </a:solidFill>
              </a:rPr>
              <a:t>. 2025;27(Suppl 5):v149–v150. doi:10.1093/neuonc/noaf201.0590</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Table 2. PNOC025: Evaluability, Dosing, and Safety</a:t>
            </a:r>
            <a:endParaRPr lang="en-US" sz="3400" dirty="0"/>
          </a:p>
        </p:txBody>
      </p:sp>
      <p:graphicFrame>
        <p:nvGraphicFramePr>
          <p:cNvPr id="3" name="Table 2"/>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3931920"/>
                <a:gridCol w="3657600"/>
              </a:tblGrid>
              <a:tr h="246888">
                <a:tc>
                  <a:txBody>
                    <a:bodyPr/>
                    <a:lstStyle/>
                    <a:p>
                      <a:pPr algn="l" indent="0" marL="0">
                        <a:buNone/>
                      </a:pPr>
                      <a:r>
                        <a:rPr lang="en-US" sz="1300" b="1" dirty="0">
                          <a:solidFill>
                            <a:schemeClr val="bg1"/>
                          </a:solidFill>
                        </a:rPr>
                        <a:t>Measure</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tx1"/>
                    </a:solidFill>
                  </a:tcPr>
                </a:tc>
                <a:tc>
                  <a:txBody>
                    <a:bodyPr/>
                    <a:lstStyle/>
                    <a:p>
                      <a:pPr algn="l" indent="0" marL="0">
                        <a:buNone/>
                      </a:pPr>
                      <a:r>
                        <a:rPr lang="en-US" sz="1300" b="1" dirty="0">
                          <a:solidFill>
                            <a:schemeClr val="bg1"/>
                          </a:solidFill>
                        </a:rPr>
                        <a:t>Value</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tx1"/>
                    </a:solidFill>
                  </a:tcPr>
                </a:tc>
              </a:tr>
              <a:tr h="246888">
                <a:tc gridSpan="2">
                  <a:txBody>
                    <a:bodyPr/>
                    <a:lstStyle/>
                    <a:p>
                      <a:pPr indent="0" marL="0">
                        <a:buNone/>
                      </a:pPr>
                      <a:r>
                        <a:rPr lang="en-US" sz="1200" b="1" spc="100" kern="0" dirty="0">
                          <a:solidFill>
                            <a:schemeClr val="accent1"/>
                          </a:solidFill>
                        </a:rPr>
                        <a:t>EVALUABILITY</a:t>
                      </a:r>
                      <a:endParaRPr lang="en-US" sz="12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bg2"/>
                    </a:solidFill>
                  </a:tcPr>
                </a:tc>
                <a:tc hMerge="1">
                  <a:tcPr/>
                </a:tc>
              </a:tr>
              <a:tr h="246888">
                <a:tc>
                  <a:txBody>
                    <a:bodyPr/>
                    <a:lstStyle/>
                    <a:p>
                      <a:pPr indent="0" marL="0">
                        <a:buNone/>
                      </a:pPr>
                      <a:r>
                        <a:rPr lang="en-US" sz="1300" dirty="0">
                          <a:solidFill>
                            <a:schemeClr val="tx1"/>
                          </a:solidFill>
                        </a:rPr>
                        <a:t>Evaluable for toxicity</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11</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Evaluable for response</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10 (5 children, 5 adults)</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Withdrew during DLT period</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2 (adults)</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Early DLT, the only study DLT (toxicity-evaluable only)</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1 (child)</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gridSpan="2">
                  <a:txBody>
                    <a:bodyPr/>
                    <a:lstStyle/>
                    <a:p>
                      <a:pPr indent="0" marL="0">
                        <a:buNone/>
                      </a:pPr>
                      <a:r>
                        <a:rPr lang="en-US" sz="1200" b="1" spc="100" kern="0" dirty="0">
                          <a:solidFill>
                            <a:schemeClr val="accent1"/>
                          </a:solidFill>
                        </a:rPr>
                        <a:t>MAGROLIMAB DOSE</a:t>
                      </a:r>
                      <a:endParaRPr lang="en-US" sz="12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bg2"/>
                    </a:solidFill>
                  </a:tcPr>
                </a:tc>
                <a:tc hMerge="1">
                  <a:tcPr/>
                </a:tc>
              </a:tr>
              <a:tr h="246888">
                <a:tc>
                  <a:txBody>
                    <a:bodyPr/>
                    <a:lstStyle/>
                    <a:p>
                      <a:pPr indent="0" marL="0">
                        <a:buNone/>
                      </a:pPr>
                      <a:r>
                        <a:rPr lang="en-US" sz="1300" dirty="0">
                          <a:solidFill>
                            <a:schemeClr val="tx1"/>
                          </a:solidFill>
                        </a:rPr>
                        <a:t>Dose level 1: 30 mg/kg/dose (fully accrued)</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8</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Dose level 2: 45 mg/kg/dose</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2 (adults)</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gridSpan="2">
                  <a:txBody>
                    <a:bodyPr/>
                    <a:lstStyle/>
                    <a:p>
                      <a:pPr indent="0" marL="0">
                        <a:buNone/>
                      </a:pPr>
                      <a:r>
                        <a:rPr lang="en-US" sz="1200" b="1" spc="100" kern="0" dirty="0">
                          <a:solidFill>
                            <a:schemeClr val="accent1"/>
                          </a:solidFill>
                        </a:rPr>
                        <a:t>TREATMENT COURSE</a:t>
                      </a:r>
                      <a:endParaRPr lang="en-US" sz="12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bg2"/>
                    </a:solidFill>
                  </a:tcPr>
                </a:tc>
                <a:tc hMerge="1">
                  <a:tcPr/>
                </a:tc>
              </a:tr>
              <a:tr h="246888">
                <a:tc>
                  <a:txBody>
                    <a:bodyPr/>
                    <a:lstStyle/>
                    <a:p>
                      <a:pPr indent="0" marL="0">
                        <a:buNone/>
                      </a:pPr>
                      <a:r>
                        <a:rPr lang="en-US" sz="1300" dirty="0">
                          <a:solidFill>
                            <a:schemeClr val="tx1"/>
                          </a:solidFill>
                        </a:rPr>
                        <a:t>Off treatment for disease progression</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All but 1 patient</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a:txBody>
                    <a:bodyPr/>
                    <a:lstStyle/>
                    <a:p>
                      <a:pPr indent="0" marL="0">
                        <a:buNone/>
                      </a:pPr>
                      <a:r>
                        <a:rPr lang="en-US" sz="1300" dirty="0">
                          <a:solidFill>
                            <a:schemeClr val="tx1"/>
                          </a:solidFill>
                        </a:rPr>
                        <a:t>Completed all 24 cycles</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1 (child, anaplastic ependymoma)</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gridSpan="2">
                  <a:txBody>
                    <a:bodyPr/>
                    <a:lstStyle/>
                    <a:p>
                      <a:pPr indent="0" marL="0">
                        <a:buNone/>
                      </a:pPr>
                      <a:r>
                        <a:rPr lang="en-US" sz="1200" b="1" spc="100" kern="0" dirty="0">
                          <a:solidFill>
                            <a:schemeClr val="accent1"/>
                          </a:solidFill>
                        </a:rPr>
                        <a:t>SAFETY</a:t>
                      </a:r>
                      <a:endParaRPr lang="en-US" sz="12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solidFill>
                      <a:schemeClr val="bg2"/>
                    </a:solidFill>
                  </a:tcPr>
                </a:tc>
                <a:tc hMerge="1">
                  <a:tcPr/>
                </a:tc>
              </a:tr>
              <a:tr h="246888">
                <a:tc>
                  <a:txBody>
                    <a:bodyPr/>
                    <a:lstStyle/>
                    <a:p>
                      <a:pPr indent="0" marL="0">
                        <a:buNone/>
                      </a:pPr>
                      <a:r>
                        <a:rPr lang="en-US" sz="1300" dirty="0">
                          <a:solidFill>
                            <a:schemeClr val="tx1"/>
                          </a:solidFill>
                        </a:rPr>
                        <a:t>Grade ≥3 TRAEs</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a:txBody>
                    <a:bodyPr/>
                    <a:lstStyle/>
                    <a:p>
                      <a:pPr indent="0" marL="0">
                        <a:buNone/>
                      </a:pPr>
                      <a:r>
                        <a:rPr lang="en-US" sz="1300" b="1" dirty="0">
                          <a:solidFill>
                            <a:schemeClr val="tx1"/>
                          </a:solidFill>
                        </a:rPr>
                        <a:t>5</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r>
              <a:tr h="246888">
                <a:tc gridSpan="2">
                  <a:txBody>
                    <a:bodyPr/>
                    <a:lstStyle/>
                    <a:p>
                      <a:pPr indent="0" marL="0">
                        <a:buNone/>
                      </a:pPr>
                      <a:r>
                        <a:rPr lang="en-US" sz="1300" i="1" dirty="0">
                          <a:solidFill>
                            <a:schemeClr val="tx2"/>
                          </a:solidFill>
                        </a:rPr>
                        <a:t>Anemia, fatigue, fever, headache, intratumoral hemorrhage (n = 1 each)</a:t>
                      </a:r>
                      <a:endParaRPr lang="en-US" sz="1300" dirty="0"/>
                    </a:p>
                  </a:txBody>
                  <a:tcPr marL="101600" marR="101600" marT="38100" marB="38100" anchor="ctr">
                    <a:lnL w="6350" cap="flat" cmpd="sng" algn="ctr">
                      <a:solidFill>
                        <a:srgbClr val="D5DADA"/>
                      </a:solidFill>
                      <a:prstDash val="solid"/>
                      <a:round/>
                      <a:headEnd type="none" w="med" len="med"/>
                      <a:tailEnd type="none" w="med" len="med"/>
                    </a:lnL>
                    <a:lnR w="6350" cap="flat" cmpd="sng" algn="ctr">
                      <a:solidFill>
                        <a:srgbClr val="D5DADA"/>
                      </a:solidFill>
                      <a:prstDash val="solid"/>
                      <a:round/>
                      <a:headEnd type="none" w="med" len="med"/>
                      <a:tailEnd type="none" w="med" len="med"/>
                    </a:lnR>
                    <a:lnT w="6350" cap="flat" cmpd="sng" algn="ctr">
                      <a:solidFill>
                        <a:srgbClr val="D5DADA"/>
                      </a:solidFill>
                      <a:prstDash val="solid"/>
                      <a:round/>
                      <a:headEnd type="none" w="med" len="med"/>
                      <a:tailEnd type="none" w="med" len="med"/>
                    </a:lnT>
                    <a:lnB w="6350" cap="flat" cmpd="sng" algn="ctr">
                      <a:solidFill>
                        <a:srgbClr val="D5DADA"/>
                      </a:solidFill>
                      <a:prstDash val="solid"/>
                      <a:round/>
                      <a:headEnd type="none" w="med" len="med"/>
                      <a:tailEnd type="none" w="med" len="med"/>
                    </a:lnB>
                  </a:tcPr>
                </a:tc>
                <a:tc hMerge="1">
                  <a:tcPr/>
                </a:tc>
              </a:tr>
            </a:tbl>
          </a:graphicData>
        </a:graphic>
      </p:graphicFrame>
      <p:sp>
        <p:nvSpPr>
          <p:cNvPr id="4" name="Shape 1"/>
          <p:cNvSpPr/>
          <p:nvPr/>
        </p:nvSpPr>
        <p:spPr>
          <a:xfrm>
            <a:off x="8412480" y="1417320"/>
            <a:ext cx="3227832" cy="1188720"/>
          </a:xfrm>
          <a:prstGeom prst="rect">
            <a:avLst/>
          </a:prstGeom>
          <a:solidFill>
            <a:schemeClr val="bg2"/>
          </a:solidFill>
          <a:ln/>
        </p:spPr>
      </p:sp>
      <p:sp>
        <p:nvSpPr>
          <p:cNvPr id="5" name="Text 2"/>
          <p:cNvSpPr txBox="1"/>
          <p:nvPr/>
        </p:nvSpPr>
        <p:spPr>
          <a:xfrm>
            <a:off x="8503920" y="1508760"/>
            <a:ext cx="1280160" cy="10058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1</a:t>
            </a:r>
            <a:endParaRPr lang="en-US" sz="3600" dirty="0"/>
          </a:p>
        </p:txBody>
      </p:sp>
      <p:sp>
        <p:nvSpPr>
          <p:cNvPr id="6" name="Text 3"/>
          <p:cNvSpPr txBox="1"/>
          <p:nvPr/>
        </p:nvSpPr>
        <p:spPr>
          <a:xfrm>
            <a:off x="9875520" y="1508760"/>
            <a:ext cx="1645920" cy="1005840"/>
          </a:xfrm>
          <a:prstGeom prst="rect">
            <a:avLst/>
          </a:prstGeom>
          <a:noFill/>
          <a:ln/>
        </p:spPr>
        <p:txBody>
          <a:bodyPr wrap="square" lIns="0" tIns="0" rIns="0" bIns="0" rtlCol="0" anchor="ctr"/>
          <a:lstStyle/>
          <a:p>
            <a:pPr indent="0" marL="0">
              <a:buNone/>
            </a:pPr>
            <a:r>
              <a:rPr lang="en-US" sz="1400" dirty="0">
                <a:solidFill>
                  <a:schemeClr val="tx1"/>
                </a:solidFill>
              </a:rPr>
              <a:t>dose-limiting toxicity in the whole study</a:t>
            </a:r>
            <a:endParaRPr lang="en-US" sz="1400" dirty="0"/>
          </a:p>
        </p:txBody>
      </p:sp>
      <p:sp>
        <p:nvSpPr>
          <p:cNvPr id="7" name="Shape 4"/>
          <p:cNvSpPr/>
          <p:nvPr/>
        </p:nvSpPr>
        <p:spPr>
          <a:xfrm>
            <a:off x="8412480" y="2761488"/>
            <a:ext cx="3227832" cy="1188720"/>
          </a:xfrm>
          <a:prstGeom prst="rect">
            <a:avLst/>
          </a:prstGeom>
          <a:solidFill>
            <a:schemeClr val="bg2"/>
          </a:solidFill>
          <a:ln/>
        </p:spPr>
      </p:sp>
      <p:sp>
        <p:nvSpPr>
          <p:cNvPr id="8" name="Text 5"/>
          <p:cNvSpPr txBox="1"/>
          <p:nvPr/>
        </p:nvSpPr>
        <p:spPr>
          <a:xfrm>
            <a:off x="8503920" y="2852928"/>
            <a:ext cx="1280160" cy="10058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5</a:t>
            </a:r>
            <a:endParaRPr lang="en-US" sz="3600" dirty="0"/>
          </a:p>
        </p:txBody>
      </p:sp>
      <p:sp>
        <p:nvSpPr>
          <p:cNvPr id="9" name="Text 6"/>
          <p:cNvSpPr txBox="1"/>
          <p:nvPr/>
        </p:nvSpPr>
        <p:spPr>
          <a:xfrm>
            <a:off x="9875520" y="2852928"/>
            <a:ext cx="1645920" cy="1005840"/>
          </a:xfrm>
          <a:prstGeom prst="rect">
            <a:avLst/>
          </a:prstGeom>
          <a:noFill/>
          <a:ln/>
        </p:spPr>
        <p:txBody>
          <a:bodyPr wrap="square" lIns="0" tIns="0" rIns="0" bIns="0" rtlCol="0" anchor="ctr"/>
          <a:lstStyle/>
          <a:p>
            <a:pPr indent="0" marL="0">
              <a:buNone/>
            </a:pPr>
            <a:r>
              <a:rPr lang="en-US" sz="1400" dirty="0">
                <a:solidFill>
                  <a:schemeClr val="tx1"/>
                </a:solidFill>
              </a:rPr>
              <a:t>grade ≥3 treatment-related adverse events</a:t>
            </a:r>
            <a:endParaRPr lang="en-US" sz="1400" dirty="0"/>
          </a:p>
        </p:txBody>
      </p:sp>
      <p:sp>
        <p:nvSpPr>
          <p:cNvPr id="10" name="Shape 7"/>
          <p:cNvSpPr/>
          <p:nvPr/>
        </p:nvSpPr>
        <p:spPr>
          <a:xfrm>
            <a:off x="8412480" y="4105656"/>
            <a:ext cx="3227832" cy="1188720"/>
          </a:xfrm>
          <a:prstGeom prst="rect">
            <a:avLst/>
          </a:prstGeom>
          <a:solidFill>
            <a:schemeClr val="bg2"/>
          </a:solidFill>
          <a:ln/>
        </p:spPr>
      </p:sp>
      <p:sp>
        <p:nvSpPr>
          <p:cNvPr id="11" name="Text 8"/>
          <p:cNvSpPr txBox="1"/>
          <p:nvPr/>
        </p:nvSpPr>
        <p:spPr>
          <a:xfrm>
            <a:off x="8503920" y="4197096"/>
            <a:ext cx="1280160" cy="10058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24</a:t>
            </a:r>
            <a:endParaRPr lang="en-US" sz="3600" dirty="0"/>
          </a:p>
        </p:txBody>
      </p:sp>
      <p:sp>
        <p:nvSpPr>
          <p:cNvPr id="12" name="Text 9"/>
          <p:cNvSpPr txBox="1"/>
          <p:nvPr/>
        </p:nvSpPr>
        <p:spPr>
          <a:xfrm>
            <a:off x="9875520" y="4197096"/>
            <a:ext cx="1645920" cy="1005840"/>
          </a:xfrm>
          <a:prstGeom prst="rect">
            <a:avLst/>
          </a:prstGeom>
          <a:noFill/>
          <a:ln/>
        </p:spPr>
        <p:txBody>
          <a:bodyPr wrap="square" lIns="0" tIns="0" rIns="0" bIns="0" rtlCol="0" anchor="ctr"/>
          <a:lstStyle/>
          <a:p>
            <a:pPr indent="0" marL="0">
              <a:buNone/>
            </a:pPr>
            <a:r>
              <a:rPr lang="en-US" sz="1400" dirty="0">
                <a:solidFill>
                  <a:schemeClr val="tx1"/>
                </a:solidFill>
              </a:rPr>
              <a:t>cycles completed by 1 child with anaplastic ependymoma</a:t>
            </a:r>
            <a:endParaRPr lang="en-US" sz="1400" dirty="0"/>
          </a:p>
        </p:txBody>
      </p:sp>
      <p:sp>
        <p:nvSpPr>
          <p:cNvPr id="13" name="Text 10"/>
          <p:cNvSpPr txBox="1"/>
          <p:nvPr/>
        </p:nvSpPr>
        <p:spPr>
          <a:xfrm>
            <a:off x="548640" y="5577840"/>
            <a:ext cx="11091672" cy="256032"/>
          </a:xfrm>
          <a:prstGeom prst="rect">
            <a:avLst/>
          </a:prstGeom>
          <a:noFill/>
          <a:ln/>
        </p:spPr>
        <p:txBody>
          <a:bodyPr wrap="square" lIns="0" tIns="0" rIns="0" bIns="0" rtlCol="0" anchor="ctr"/>
          <a:lstStyle/>
          <a:p>
            <a:pPr indent="0" marL="0">
              <a:buNone/>
            </a:pPr>
            <a:r>
              <a:rPr lang="en-US" sz="1000" i="1" dirty="0">
                <a:solidFill>
                  <a:schemeClr val="accent3"/>
                </a:solidFill>
              </a:rPr>
              <a:t>DLT, dose-limiting toxicity; TRAE, treatment-related adverse event. The sponsor discontinued the magrolimab program before enrollment was completed, for reasons unrelated to this trial.</a:t>
            </a:r>
            <a:endParaRPr lang="en-US" sz="1000" dirty="0"/>
          </a:p>
        </p:txBody>
      </p:sp>
      <p:sp>
        <p:nvSpPr>
          <p:cNvPr id="14" name="Text 11"/>
          <p:cNvSpPr txBox="1"/>
          <p:nvPr/>
        </p:nvSpPr>
        <p:spPr>
          <a:xfrm>
            <a:off x="548640" y="5852160"/>
            <a:ext cx="11091672" cy="457200"/>
          </a:xfrm>
          <a:prstGeom prst="rect">
            <a:avLst/>
          </a:prstGeom>
          <a:noFill/>
          <a:ln/>
        </p:spPr>
        <p:txBody>
          <a:bodyPr wrap="square" lIns="0" tIns="0" rIns="0" bIns="0" rtlCol="0" anchor="t"/>
          <a:lstStyle/>
          <a:p>
            <a:pPr indent="0" marL="0">
              <a:buNone/>
            </a:pPr>
            <a:r>
              <a:rPr lang="en-US" sz="1000" dirty="0">
                <a:solidFill>
                  <a:schemeClr val="accent3"/>
                </a:solidFill>
              </a:rPr>
              <a:t>Whipple N, Molinaro A, Reddy A, et al. CTP-18. PNOC025: a phase 1 study assessing the safety and tolerability of magrolimab in children and adults with recurrent or progressive malignant brain tumors. </a:t>
            </a:r>
            <a:pPr indent="0" marL="0">
              <a:buNone/>
            </a:pPr>
            <a:r>
              <a:rPr lang="en-US" sz="1000" i="1" dirty="0">
                <a:solidFill>
                  <a:schemeClr val="accent3"/>
                </a:solidFill>
              </a:rPr>
              <a:t>Neuro-Oncology</a:t>
            </a:r>
            <a:pPr indent="0" marL="0">
              <a:buNone/>
            </a:pPr>
            <a:r>
              <a:rPr lang="en-US" sz="1000" dirty="0">
                <a:solidFill>
                  <a:schemeClr val="accent3"/>
                </a:solidFill>
              </a:rPr>
              <a:t>. 2025;27(Suppl 5):v149–v150. doi:10.1093/neuonc/noaf201.0590</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University of Utah Neurosurgery">
  <a:themeElements>
    <a:clrScheme name="University of Utah Neurosurgery">
      <a:dk1>
        <a:srgbClr val="1A1A1A"/>
      </a:dk1>
      <a:lt1>
        <a:srgbClr val="FFFFFF"/>
      </a:lt1>
      <a:dk2>
        <a:srgbClr val="3B3B3B"/>
      </a:dk2>
      <a:lt2>
        <a:srgbClr val="EEF0F0"/>
      </a:lt2>
      <a:accent1>
        <a:srgbClr val="BE0000"/>
      </a:accent1>
      <a:accent2>
        <a:srgbClr val="890000"/>
      </a:accent2>
      <a:accent3>
        <a:srgbClr val="708E99"/>
      </a:accent3>
      <a:accent4>
        <a:srgbClr val="5B6770"/>
      </a:accent4>
      <a:accent5>
        <a:srgbClr val="FFB81D"/>
      </a:accent5>
      <a:accent6>
        <a:srgbClr val="A7A8AA"/>
      </a:accent6>
      <a:hlink>
        <a:srgbClr val="BE0000"/>
      </a:hlink>
      <a:folHlink>
        <a:srgbClr val="890000"/>
      </a:folHlink>
    </a:clrScheme>
    <a:fontScheme name="University of Utah Neurosurg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University of Utah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Neurosurgery Grand Rounds</dc:title>
  <dc:subject>PptxGenJS Presentation</dc:subject>
  <dc:creator>Department of Neurosurgery, University of Utah Health</dc:creator>
  <cp:lastModifiedBy>Department of Neurosurgery, University of Utah Health</cp:lastModifiedBy>
  <cp:revision>1</cp:revision>
  <dcterms:created xsi:type="dcterms:W3CDTF">2026-10-27T22:34:42Z</dcterms:created>
  <dcterms:modified xsi:type="dcterms:W3CDTF">2026-10-27T22:34:42Z</dcterms:modified>
</cp:coreProperties>
</file>