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HH Medulloblastoma" id="{36a9d79f-7188-5f28-a5b1-aebc79a26a54}">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SHH-activated medulloblastoma arises from cerebellar granule neuron precursors, which normally proliferate in response to Sonic hedgehog secreted by Purkinje cells. In the tumor, the pathway is constitutively active: loss of PTCH1 or SUFU, activating SMO mutations, or GLI2/MYCN amplification. It accounts for about a quarter to a third of medulloblastomas, with peaks in infancy and adulthood, and often arises in a cerebellar hemisphere. Infants typically carry SUFU or PTCH1 alterations, children TP53 mutations (frequently germline Li-Fraumeni) with MYCN/GLI2 amplification, and adults PTCH1, SMO and TERT promoter mutations. Germline predisposition includes Gorlin syndrome (PTCH1/SUFU), Li-Fraumeni (TP53) and ELP1. WHO CNS5 separates SHH TP53-wild-type from SHH TP53-mutant tumors; the TP53-mutant group has the worst outcome, while infants with desmoplastic/nodular or MBEN histology do well. Standard therapy is maximal safe resection, craniospinal irradiation for children 3 and older, and chemotherapy. SMO inhibitors such as vismodegib work in tumors with alterations upstream of SMO (PTCH1, SMO) but not downstream (SUFU, GLI2, MYCN), and they can cause premature growth-plate fusion in skeletally immature children (Robinson et al., JCO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U_TITLE">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616952" y="0"/>
            <a:ext cx="4572000" cy="6858000"/>
          </a:xfrm>
          <a:prstGeom prst="rect">
            <a:avLst/>
          </a:prstGeom>
          <a:solidFill>
            <a:schemeClr val="tx1"/>
          </a:solidFill>
          <a:ln/>
        </p:spPr>
      </p:sp>
      <p:pic>
        <p:nvPicPr>
          <p:cNvPr id="3" name="Image 0" descr="preencoded.png">    </p:cNvPr>
          <p:cNvPicPr>
            <a:picLocks noChangeAspect="1"/>
          </p:cNvPicPr>
          <p:nvPr/>
        </p:nvPicPr>
        <p:blipFill>
          <a:blip r:embed="rId1"/>
          <a:stretch>
            <a:fillRect/>
          </a:stretch>
        </p:blipFill>
        <p:spPr>
          <a:xfrm>
            <a:off x="8394192" y="1920240"/>
            <a:ext cx="3017520" cy="3017520"/>
          </a:xfrm>
          <a:prstGeom prst="rect">
            <a:avLst/>
          </a:prstGeom>
        </p:spPr>
      </p:pic>
      <p:sp>
        <p:nvSpPr>
          <p:cNvPr id="4" name="Text 1"/>
          <p:cNvSpPr/>
          <p:nvPr/>
        </p:nvSpPr>
        <p:spPr>
          <a:xfrm>
            <a:off x="640080" y="548640"/>
            <a:ext cx="6400800" cy="320040"/>
          </a:xfrm>
          <a:prstGeom prst="rect">
            <a:avLst/>
          </a:prstGeom>
          <a:noFill/>
          <a:ln/>
        </p:spPr>
        <p:txBody>
          <a:bodyPr wrap="square" lIns="0" tIns="0" rIns="0" bIns="0" rtlCol="0" anchor="ctr"/>
          <a:lstStyle/>
          <a:p>
            <a:pPr indent="0" marL="0">
              <a:buNone/>
            </a:pPr>
            <a:r>
              <a:rPr lang="en-US" sz="1200" b="1" spc="400" kern="0" dirty="0">
                <a:solidFill>
                  <a:schemeClr val="bg1"/>
                </a:solidFill>
              </a:rPr>
              <a:t>UNIVERSITY OF UTAH HEALTH</a:t>
            </a:r>
            <a:endParaRPr lang="en-US" sz="1200" dirty="0"/>
          </a:p>
        </p:txBody>
      </p:sp>
      <p:sp>
        <p:nvSpPr>
          <p:cNvPr id="5" name="Text 2"/>
          <p:cNvSpPr/>
          <p:nvPr/>
        </p:nvSpPr>
        <p:spPr>
          <a:xfrm>
            <a:off x="640080" y="868680"/>
            <a:ext cx="6400800" cy="274320"/>
          </a:xfrm>
          <a:prstGeom prst="rect">
            <a:avLst/>
          </a:prstGeom>
          <a:noFill/>
          <a:ln/>
        </p:spPr>
        <p:txBody>
          <a:bodyPr wrap="square" lIns="0" tIns="0" rIns="0" bIns="0" rtlCol="0" anchor="ctr"/>
          <a:lstStyle/>
          <a:p>
            <a:pPr indent="0" marL="0">
              <a:buNone/>
            </a:pPr>
            <a:r>
              <a:rPr lang="en-US" sz="1200" dirty="0">
                <a:solidFill>
                  <a:srgbClr val="F2C4C4"/>
                </a:solidFill>
              </a:rPr>
              <a:t>Department of Neurosurgery</a:t>
            </a:r>
            <a:endParaRPr lang="en-US" sz="1200" dirty="0"/>
          </a:p>
        </p:txBody>
      </p:sp>
      <p:sp>
        <p:nvSpPr>
          <p:cNvPr id="6" name="Text 3"/>
          <p:cNvSpPr/>
          <p:nvPr>
            <p:ph idx="104" type="title" hasCustomPrompt="1"/>
          </p:nvPr>
        </p:nvSpPr>
        <p:spPr>
          <a:xfrm>
            <a:off x="640080" y="1828800"/>
            <a:ext cx="65836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Presentation Title</a:t>
            </a:r>
            <a:endParaRPr lang="en-US" sz="4400" dirty="0"/>
          </a:p>
        </p:txBody>
      </p:sp>
      <p:sp>
        <p:nvSpPr>
          <p:cNvPr id="7" name="Text 3"/>
          <p:cNvSpPr/>
          <p:nvPr>
            <p:ph idx="105" type="body" hasCustomPrompt="1"/>
          </p:nvPr>
        </p:nvSpPr>
        <p:spPr>
          <a:xfrm>
            <a:off x="640080" y="3794760"/>
            <a:ext cx="6583680" cy="731520"/>
          </a:xfrm>
          <a:prstGeom prst="rect">
            <a:avLst/>
          </a:prstGeom>
          <a:noFill/>
          <a:ln/>
        </p:spPr>
        <p:txBody>
          <a:bodyPr wrap="square" rtlCol="0"/>
          <a:lstStyle>
            <a:lvl1pPr indent="0" marL="0">
              <a:buNone/>
              <a:defRPr lang="en-US" sz="2000" dirty="0">
                <a:solidFill>
                  <a:srgbClr val="F2C4C4"/>
                </a:solidFill>
              </a:defRPr>
            </a:lvl1pPr>
          </a:lstStyle>
          <a:p>
            <a:pPr indent="0" marL="0">
              <a:buNone/>
            </a:pPr>
            <a:r>
              <a:rPr lang="en-US" sz="2000" dirty="0">
                <a:solidFill>
                  <a:srgbClr val="F2C4C4"/>
                </a:solidFill>
              </a:rPr>
              <a:t>Subtitle</a:t>
            </a:r>
            <a:endParaRPr lang="en-US" sz="2000" dirty="0"/>
          </a:p>
        </p:txBody>
      </p:sp>
      <p:sp>
        <p:nvSpPr>
          <p:cNvPr id="8" name="Text 3"/>
          <p:cNvSpPr/>
          <p:nvPr>
            <p:ph idx="106" type="body" hasCustomPrompt="1"/>
          </p:nvPr>
        </p:nvSpPr>
        <p:spPr>
          <a:xfrm>
            <a:off x="640080" y="4983480"/>
            <a:ext cx="6583680" cy="1188720"/>
          </a:xfrm>
          <a:prstGeom prst="rect">
            <a:avLst/>
          </a:prstGeom>
          <a:noFill/>
          <a:ln/>
        </p:spPr>
        <p:txBody>
          <a:bodyPr wrap="square" rtlCol="0"/>
          <a:lstStyle>
            <a:lvl1pPr indent="0" marL="0">
              <a:buNone/>
              <a:defRPr lang="en-US" sz="1400" dirty="0">
                <a:solidFill>
                  <a:schemeClr val="bg1"/>
                </a:solidFill>
              </a:defRPr>
            </a:lvl1pPr>
          </a:lstStyle>
          <a:p>
            <a:pPr indent="0" marL="0">
              <a:buNone/>
            </a:pPr>
            <a:r>
              <a:rPr lang="en-US" sz="1400" dirty="0">
                <a:solidFill>
                  <a:schemeClr val="bg1"/>
                </a:solidFill>
              </a:rPr>
              <a:t>Presenter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U_SECTION">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80960" y="914400"/>
            <a:ext cx="5029200" cy="5029200"/>
          </a:xfrm>
          <a:prstGeom prst="rect">
            <a:avLst/>
          </a:prstGeom>
        </p:spPr>
      </p:pic>
      <p:sp>
        <p:nvSpPr>
          <p:cNvPr id="3" name="Text 0"/>
          <p:cNvSpPr/>
          <p:nvPr>
            <p:ph idx="101" type="body" hasCustomPrompt="1"/>
          </p:nvPr>
        </p:nvSpPr>
        <p:spPr>
          <a:xfrm>
            <a:off x="731520" y="1280160"/>
            <a:ext cx="3657600" cy="1371600"/>
          </a:xfrm>
          <a:prstGeom prst="rect">
            <a:avLst/>
          </a:prstGeom>
          <a:noFill/>
          <a:ln/>
        </p:spPr>
        <p:txBody>
          <a:bodyPr wrap="square" rtlCol="0"/>
          <a:lstStyle>
            <a:lvl1pPr indent="0" marL="0">
              <a:buNone/>
              <a:defRPr lang="en-US" sz="8800" b="1" dirty="0">
                <a:solidFill>
                  <a:schemeClr val="accent1"/>
                </a:solidFill>
                <a:latin typeface="Cambria" pitchFamily="34" charset="0"/>
                <a:ea typeface="Cambria" pitchFamily="34" charset="-122"/>
                <a:cs typeface="Cambria" pitchFamily="34" charset="-120"/>
              </a:defRPr>
            </a:lvl1pPr>
          </a:lstStyle>
          <a:p>
            <a:pPr indent="0" marL="0">
              <a:buNone/>
            </a:pPr>
            <a:r>
              <a:rPr lang="en-US" sz="8800" b="1" dirty="0">
                <a:solidFill>
                  <a:schemeClr val="accent1"/>
                </a:solidFill>
                <a:latin typeface="Cambria" pitchFamily="34" charset="0"/>
                <a:ea typeface="Cambria" pitchFamily="34" charset="-122"/>
                <a:cs typeface="Cambria" pitchFamily="34" charset="-120"/>
              </a:rPr>
              <a:t>01</a:t>
            </a:r>
            <a:endParaRPr lang="en-US" sz="8800" dirty="0"/>
          </a:p>
        </p:txBody>
      </p:sp>
      <p:sp>
        <p:nvSpPr>
          <p:cNvPr id="4" name="Text 0"/>
          <p:cNvSpPr/>
          <p:nvPr>
            <p:ph idx="102" type="title" hasCustomPrompt="1"/>
          </p:nvPr>
        </p:nvSpPr>
        <p:spPr>
          <a:xfrm>
            <a:off x="731520" y="2834640"/>
            <a:ext cx="777240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Section Title</a:t>
            </a:r>
            <a:endParaRPr lang="en-US" sz="4400" dirty="0"/>
          </a:p>
        </p:txBody>
      </p:sp>
      <p:sp>
        <p:nvSpPr>
          <p:cNvPr id="5" name="Text 0"/>
          <p:cNvSpPr/>
          <p:nvPr>
            <p:ph idx="103" type="body" hasCustomPrompt="1"/>
          </p:nvPr>
        </p:nvSpPr>
        <p:spPr>
          <a:xfrm>
            <a:off x="731520" y="4114800"/>
            <a:ext cx="6858000" cy="914400"/>
          </a:xfrm>
          <a:prstGeom prst="rect">
            <a:avLst/>
          </a:prstGeom>
          <a:noFill/>
          <a:ln/>
        </p:spPr>
        <p:txBody>
          <a:bodyPr wrap="square" rtlCol="0"/>
          <a:lstStyle>
            <a:lvl1pPr indent="0" marL="0">
              <a:buNone/>
              <a:defRPr lang="en-US" sz="1800" dirty="0">
                <a:solidFill>
                  <a:srgbClr val="A7A8AA"/>
                </a:solidFill>
              </a:defRPr>
            </a:lvl1pPr>
          </a:lstStyle>
          <a:p>
            <a:pPr indent="0" marL="0">
              <a:buNone/>
            </a:pPr>
            <a:r>
              <a:rPr lang="en-US" sz="1800" dirty="0">
                <a:solidFill>
                  <a:srgbClr val="A7A8AA"/>
                </a:solidFill>
              </a:rPr>
              <a:t>Section description</a:t>
            </a:r>
            <a:endParaRPr lang="en-US" sz="1800" dirty="0"/>
          </a:p>
        </p:txBody>
      </p:sp>
      <p:pic>
        <p:nvPicPr>
          <p:cNvPr id="6" name="Image 1" descr="University of Utah Health logo">    </p:cNvPr>
          <p:cNvPicPr>
            <a:picLocks noChangeAspect="1"/>
          </p:cNvPicPr>
          <p:nvPr/>
        </p:nvPicPr>
        <p:blipFill>
          <a:blip r:embed="rId2"/>
          <a:stretch>
            <a:fillRect/>
          </a:stretch>
        </p:blipFill>
        <p:spPr>
          <a:xfrm>
            <a:off x="548640" y="6336792"/>
            <a:ext cx="329184" cy="329184"/>
          </a:xfrm>
          <a:prstGeom prst="rect">
            <a:avLst/>
          </a:prstGeom>
        </p:spPr>
      </p:pic>
      <p:sp>
        <p:nvSpPr>
          <p:cNvPr id="7"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A7A8AA"/>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UU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Slide Title</a:t>
            </a:r>
            <a:endParaRPr lang="en-US" sz="3400" dirty="0"/>
          </a:p>
        </p:txBody>
      </p:sp>
      <p:pic>
        <p:nvPicPr>
          <p:cNvPr id="3" name="Image 0" descr="University of Utah Health logo">    </p:cNvPr>
          <p:cNvPicPr>
            <a:picLocks noChangeAspect="1"/>
          </p:cNvPicPr>
          <p:nvPr/>
        </p:nvPicPr>
        <p:blipFill>
          <a:blip r:embed="rId1"/>
          <a:stretch>
            <a:fillRect/>
          </a:stretch>
        </p:blipFill>
        <p:spPr>
          <a:xfrm>
            <a:off x="548640" y="6336792"/>
            <a:ext cx="329184" cy="329184"/>
          </a:xfrm>
          <a:prstGeom prst="rect">
            <a:avLst/>
          </a:prstGeom>
        </p:spPr>
      </p:pic>
      <p:sp>
        <p:nvSpPr>
          <p:cNvPr id="4"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6B6B6B"/>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B6B6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UU_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Slide Title</a:t>
            </a:r>
            <a:endParaRPr lang="en-US" sz="3400" dirty="0"/>
          </a:p>
        </p:txBody>
      </p:sp>
      <p:pic>
        <p:nvPicPr>
          <p:cNvPr id="3" name="Image 0" descr="University of Utah Health logo">    </p:cNvPr>
          <p:cNvPicPr>
            <a:picLocks noChangeAspect="1"/>
          </p:cNvPicPr>
          <p:nvPr/>
        </p:nvPicPr>
        <p:blipFill>
          <a:blip r:embed="rId1"/>
          <a:stretch>
            <a:fillRect/>
          </a:stretch>
        </p:blipFill>
        <p:spPr>
          <a:xfrm>
            <a:off x="548640" y="6336792"/>
            <a:ext cx="329184" cy="329184"/>
          </a:xfrm>
          <a:prstGeom prst="rect">
            <a:avLst/>
          </a:prstGeom>
        </p:spPr>
      </p:pic>
      <p:sp>
        <p:nvSpPr>
          <p:cNvPr id="4"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A7A8AA"/>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UU_CLOSING">
    <p:bg>
      <p:bgPr>
        <a:solidFill>
          <a:schemeClr val="accent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184648" y="822960"/>
            <a:ext cx="1828800" cy="1828800"/>
          </a:xfrm>
          <a:prstGeom prst="rect">
            <a:avLst/>
          </a:prstGeom>
        </p:spPr>
      </p:pic>
      <p:sp>
        <p:nvSpPr>
          <p:cNvPr id="3" name="Text 0"/>
          <p:cNvSpPr/>
          <p:nvPr>
            <p:ph idx="101" type="title" hasCustomPrompt="1"/>
          </p:nvPr>
        </p:nvSpPr>
        <p:spPr>
          <a:xfrm>
            <a:off x="914400" y="2834640"/>
            <a:ext cx="10360152" cy="109728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r>
              <a:rPr lang="en-US" sz="5400" b="1" dirty="0">
                <a:solidFill>
                  <a:schemeClr val="bg1"/>
                </a:solidFill>
              </a:rPr>
              <a:t>Questions</a:t>
            </a:r>
            <a:endParaRPr lang="en-US" sz="5400" dirty="0"/>
          </a:p>
        </p:txBody>
      </p:sp>
      <p:sp>
        <p:nvSpPr>
          <p:cNvPr id="4" name="Text 0"/>
          <p:cNvSpPr/>
          <p:nvPr>
            <p:ph idx="102" type="body" hasCustomPrompt="1"/>
          </p:nvPr>
        </p:nvSpPr>
        <p:spPr>
          <a:xfrm>
            <a:off x="1371600" y="4023360"/>
            <a:ext cx="9445752" cy="1371600"/>
          </a:xfrm>
          <a:prstGeom prst="rect">
            <a:avLst/>
          </a:prstGeom>
          <a:noFill/>
          <a:ln/>
        </p:spPr>
        <p:txBody>
          <a:bodyPr wrap="square" rtlCol="0"/>
          <a:lstStyle>
            <a:lvl1pPr algn="ctr" indent="0" marL="0">
              <a:buNone/>
              <a:defRPr lang="en-US" sz="1800" dirty="0">
                <a:solidFill>
                  <a:srgbClr val="F2C4C4"/>
                </a:solidFill>
              </a:defRPr>
            </a:lvl1pPr>
          </a:lstStyle>
          <a:p>
            <a:pPr algn="ctr" indent="0" marL="0">
              <a:buNone/>
            </a:pPr>
            <a:r>
              <a:rPr lang="en-US" sz="1800" dirty="0">
                <a:solidFill>
                  <a:srgbClr val="F2C4C4"/>
                </a:solidFill>
              </a:rPr>
              <a:t>Contact</a:t>
            </a:r>
            <a:endParaRPr lang="en-US" sz="1800" dirty="0"/>
          </a:p>
        </p:txBody>
      </p:sp>
      <p:sp>
        <p:nvSpPr>
          <p:cNvPr id="5" name="Text 0"/>
          <p:cNvSpPr/>
          <p:nvPr/>
        </p:nvSpPr>
        <p:spPr>
          <a:xfrm>
            <a:off x="914400" y="6126480"/>
            <a:ext cx="10360152" cy="320040"/>
          </a:xfrm>
          <a:prstGeom prst="rect">
            <a:avLst/>
          </a:prstGeom>
          <a:noFill/>
          <a:ln/>
        </p:spPr>
        <p:txBody>
          <a:bodyPr wrap="square" lIns="0" tIns="0" rIns="0" bIns="0" rtlCol="0" anchor="ctr"/>
          <a:lstStyle/>
          <a:p>
            <a:pPr algn="ctr" indent="0" marL="0">
              <a:buNone/>
            </a:pPr>
            <a:r>
              <a:rPr lang="en-US" sz="1100" b="1" spc="300" kern="0" dirty="0">
                <a:solidFill>
                  <a:schemeClr val="bg1"/>
                </a:solidFill>
              </a:rPr>
              <a:t>UNIVERSITY OF UTAH HEALTH  |  DEPARTMENT OF NEUROSURGERY</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SHH-Activated Medulloblastoma: The Basics</a:t>
            </a:r>
            <a:endParaRPr lang="en-US" sz="3400" dirty="0"/>
          </a:p>
        </p:txBody>
      </p:sp>
      <p:pic>
        <p:nvPicPr>
          <p:cNvPr id="3" name="Medulloblastoma illustration" descr="Medulloblastoma in the cerebellum of a child (Cleveland Clinic illustration)">    </p:cNvPr>
          <p:cNvPicPr>
            <a:picLocks noChangeAspect="1"/>
          </p:cNvPicPr>
          <p:nvPr/>
        </p:nvPicPr>
        <p:blipFill>
          <a:blip r:embed="rId1"/>
          <a:stretch>
            <a:fillRect/>
          </a:stretch>
        </p:blipFill>
        <p:spPr>
          <a:xfrm>
            <a:off x="548640" y="1417320"/>
            <a:ext cx="3785616" cy="4206240"/>
          </a:xfrm>
          <a:prstGeom prst="rect">
            <a:avLst/>
          </a:prstGeom>
        </p:spPr>
      </p:pic>
      <p:sp>
        <p:nvSpPr>
          <p:cNvPr id="4" name="Origin statement"/>
          <p:cNvSpPr txBox="1"/>
          <p:nvPr/>
        </p:nvSpPr>
        <p:spPr>
          <a:xfrm>
            <a:off x="4663440" y="1371600"/>
            <a:ext cx="6976872" cy="548640"/>
          </a:xfrm>
          <a:prstGeom prst="rect">
            <a:avLst/>
          </a:prstGeom>
          <a:noFill/>
          <a:ln/>
        </p:spPr>
        <p:txBody>
          <a:bodyPr wrap="square" lIns="0" tIns="0" rIns="0" bIns="0" rtlCol="0" anchor="t"/>
          <a:lstStyle/>
          <a:p>
            <a:pPr indent="0" marL="0">
              <a:buNone/>
            </a:pPr>
            <a:r>
              <a:rPr lang="en-US" sz="1600" dirty="0">
                <a:solidFill>
                  <a:schemeClr val="tx1"/>
                </a:solidFill>
              </a:rPr>
              <a:t>Arises from cerebellar </a:t>
            </a:r>
            <a:pPr indent="0" marL="0">
              <a:buNone/>
            </a:pPr>
            <a:r>
              <a:rPr lang="en-US" sz="1600" b="1" dirty="0">
                <a:solidFill>
                  <a:schemeClr val="accent1"/>
                </a:solidFill>
              </a:rPr>
              <a:t>granule neuron precursors (GNPs)</a:t>
            </a:r>
            <a:pPr indent="0" marL="0">
              <a:buNone/>
            </a:pPr>
            <a:r>
              <a:rPr lang="en-US" sz="1600" dirty="0">
                <a:solidFill>
                  <a:schemeClr val="tx1"/>
                </a:solidFill>
              </a:rPr>
              <a:t> driven by constitutive Sonic hedgehog signaling</a:t>
            </a:r>
            <a:endParaRPr lang="en-US" sz="1600" dirty="0"/>
          </a:p>
        </p:txBody>
      </p:sp>
      <p:sp>
        <p:nvSpPr>
          <p:cNvPr id="5" name="Pathway SHH"/>
          <p:cNvSpPr/>
          <p:nvPr/>
        </p:nvSpPr>
        <p:spPr>
          <a:xfrm>
            <a:off x="4663440" y="2011680"/>
            <a:ext cx="941832" cy="566928"/>
          </a:xfrm>
          <a:prstGeom prst="roundRect">
            <a:avLst>
              <a:gd name="adj" fmla="val 12903"/>
            </a:avLst>
          </a:prstGeom>
          <a:solidFill>
            <a:schemeClr val="tx2"/>
          </a:solidFill>
          <a:ln/>
        </p:spPr>
        <p:txBody>
          <a:bodyPr wrap="square" lIns="0" tIns="0" rIns="0" bIns="0" rtlCol="0" anchor="ctr"/>
          <a:lstStyle/>
          <a:p>
            <a:pPr algn="ctr" indent="0" marL="0">
              <a:buNone/>
            </a:pPr>
            <a:r>
              <a:rPr lang="en-US" sz="1400" b="1" dirty="0">
                <a:solidFill>
                  <a:schemeClr val="bg1"/>
                </a:solidFill>
              </a:rPr>
              <a:t>SHH</a:t>
            </a:r>
            <a:endParaRPr lang="en-US" sz="1400" dirty="0"/>
          </a:p>
        </p:txBody>
      </p:sp>
      <p:sp>
        <p:nvSpPr>
          <p:cNvPr id="6" name="Text 3"/>
          <p:cNvSpPr txBox="1"/>
          <p:nvPr/>
        </p:nvSpPr>
        <p:spPr>
          <a:xfrm>
            <a:off x="5605272" y="2011680"/>
            <a:ext cx="265176" cy="566928"/>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7" name="Pathway PTCH1"/>
          <p:cNvSpPr/>
          <p:nvPr/>
        </p:nvSpPr>
        <p:spPr>
          <a:xfrm>
            <a:off x="5870448" y="2011680"/>
            <a:ext cx="941832" cy="566928"/>
          </a:xfrm>
          <a:prstGeom prst="roundRect">
            <a:avLst>
              <a:gd name="adj" fmla="val 12903"/>
            </a:avLst>
          </a:prstGeom>
          <a:solidFill>
            <a:schemeClr val="accent1"/>
          </a:solidFill>
          <a:ln/>
        </p:spPr>
        <p:txBody>
          <a:bodyPr wrap="square" lIns="0" tIns="0" rIns="0" bIns="0" rtlCol="0" anchor="ctr"/>
          <a:lstStyle/>
          <a:p>
            <a:pPr algn="ctr" indent="0" marL="0">
              <a:buNone/>
            </a:pPr>
            <a:r>
              <a:rPr lang="en-US" sz="1400" b="1" dirty="0">
                <a:solidFill>
                  <a:schemeClr val="bg1"/>
                </a:solidFill>
              </a:rPr>
              <a:t>PTCH1</a:t>
            </a:r>
            <a:endParaRPr lang="en-US" sz="1400" dirty="0"/>
          </a:p>
        </p:txBody>
      </p:sp>
      <p:sp>
        <p:nvSpPr>
          <p:cNvPr id="8" name="Text 5"/>
          <p:cNvSpPr txBox="1"/>
          <p:nvPr/>
        </p:nvSpPr>
        <p:spPr>
          <a:xfrm>
            <a:off x="6812280" y="2011680"/>
            <a:ext cx="265176" cy="566928"/>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9" name="Pathway SMO"/>
          <p:cNvSpPr/>
          <p:nvPr/>
        </p:nvSpPr>
        <p:spPr>
          <a:xfrm>
            <a:off x="7077456" y="2011680"/>
            <a:ext cx="941832" cy="566928"/>
          </a:xfrm>
          <a:prstGeom prst="roundRect">
            <a:avLst>
              <a:gd name="adj" fmla="val 12903"/>
            </a:avLst>
          </a:prstGeom>
          <a:solidFill>
            <a:schemeClr val="accent1"/>
          </a:solidFill>
          <a:ln/>
        </p:spPr>
        <p:txBody>
          <a:bodyPr wrap="square" lIns="0" tIns="0" rIns="0" bIns="0" rtlCol="0" anchor="ctr"/>
          <a:lstStyle/>
          <a:p>
            <a:pPr algn="ctr" indent="0" marL="0">
              <a:buNone/>
            </a:pPr>
            <a:r>
              <a:rPr lang="en-US" sz="1400" b="1" dirty="0">
                <a:solidFill>
                  <a:schemeClr val="bg1"/>
                </a:solidFill>
              </a:rPr>
              <a:t>SMO</a:t>
            </a:r>
            <a:endParaRPr lang="en-US" sz="1400" dirty="0"/>
          </a:p>
        </p:txBody>
      </p:sp>
      <p:sp>
        <p:nvSpPr>
          <p:cNvPr id="10" name="Text 7"/>
          <p:cNvSpPr txBox="1"/>
          <p:nvPr/>
        </p:nvSpPr>
        <p:spPr>
          <a:xfrm>
            <a:off x="8019288" y="2011680"/>
            <a:ext cx="265176" cy="566928"/>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11" name="Pathway SUFU"/>
          <p:cNvSpPr/>
          <p:nvPr/>
        </p:nvSpPr>
        <p:spPr>
          <a:xfrm>
            <a:off x="8284464" y="2011680"/>
            <a:ext cx="941832" cy="566928"/>
          </a:xfrm>
          <a:prstGeom prst="roundRect">
            <a:avLst>
              <a:gd name="adj" fmla="val 12903"/>
            </a:avLst>
          </a:prstGeom>
          <a:solidFill>
            <a:schemeClr val="accent1"/>
          </a:solidFill>
          <a:ln/>
        </p:spPr>
        <p:txBody>
          <a:bodyPr wrap="square" lIns="0" tIns="0" rIns="0" bIns="0" rtlCol="0" anchor="ctr"/>
          <a:lstStyle/>
          <a:p>
            <a:pPr algn="ctr" indent="0" marL="0">
              <a:buNone/>
            </a:pPr>
            <a:r>
              <a:rPr lang="en-US" sz="1400" b="1" dirty="0">
                <a:solidFill>
                  <a:schemeClr val="bg1"/>
                </a:solidFill>
              </a:rPr>
              <a:t>SUFU</a:t>
            </a:r>
            <a:endParaRPr lang="en-US" sz="1400" dirty="0"/>
          </a:p>
        </p:txBody>
      </p:sp>
      <p:sp>
        <p:nvSpPr>
          <p:cNvPr id="12" name="Text 9"/>
          <p:cNvSpPr txBox="1"/>
          <p:nvPr/>
        </p:nvSpPr>
        <p:spPr>
          <a:xfrm>
            <a:off x="9226296" y="2011680"/>
            <a:ext cx="265176" cy="566928"/>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13" name="Pathway GLI1/2"/>
          <p:cNvSpPr/>
          <p:nvPr/>
        </p:nvSpPr>
        <p:spPr>
          <a:xfrm>
            <a:off x="9491472" y="2011680"/>
            <a:ext cx="941832" cy="566928"/>
          </a:xfrm>
          <a:prstGeom prst="roundRect">
            <a:avLst>
              <a:gd name="adj" fmla="val 12903"/>
            </a:avLst>
          </a:prstGeom>
          <a:solidFill>
            <a:schemeClr val="accent1"/>
          </a:solidFill>
          <a:ln/>
        </p:spPr>
        <p:txBody>
          <a:bodyPr wrap="square" lIns="0" tIns="0" rIns="0" bIns="0" rtlCol="0" anchor="ctr"/>
          <a:lstStyle/>
          <a:p>
            <a:pPr algn="ctr" indent="0" marL="0">
              <a:buNone/>
            </a:pPr>
            <a:r>
              <a:rPr lang="en-US" sz="1400" b="1" dirty="0">
                <a:solidFill>
                  <a:schemeClr val="bg1"/>
                </a:solidFill>
              </a:rPr>
              <a:t>GLI1/2</a:t>
            </a:r>
            <a:endParaRPr lang="en-US" sz="1400" dirty="0"/>
          </a:p>
        </p:txBody>
      </p:sp>
      <p:sp>
        <p:nvSpPr>
          <p:cNvPr id="14" name="Text 11"/>
          <p:cNvSpPr txBox="1"/>
          <p:nvPr/>
        </p:nvSpPr>
        <p:spPr>
          <a:xfrm>
            <a:off x="10433304" y="2011680"/>
            <a:ext cx="265176" cy="566928"/>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15" name="Pathway MYCN Cyclin D1"/>
          <p:cNvSpPr/>
          <p:nvPr/>
        </p:nvSpPr>
        <p:spPr>
          <a:xfrm>
            <a:off x="10698480" y="2011680"/>
            <a:ext cx="941832" cy="566928"/>
          </a:xfrm>
          <a:prstGeom prst="roundRect">
            <a:avLst>
              <a:gd name="adj" fmla="val 12903"/>
            </a:avLst>
          </a:prstGeom>
          <a:solidFill>
            <a:schemeClr val="accent1"/>
          </a:solidFill>
          <a:ln/>
        </p:spPr>
        <p:txBody>
          <a:bodyPr wrap="square" lIns="0" tIns="0" rIns="0" bIns="0" rtlCol="0" anchor="ctr"/>
          <a:lstStyle/>
          <a:p>
            <a:pPr algn="ctr" indent="0" marL="0">
              <a:buNone/>
            </a:pPr>
            <a:r>
              <a:rPr lang="en-US" sz="1100" b="1" dirty="0">
                <a:solidFill>
                  <a:schemeClr val="bg1"/>
                </a:solidFill>
              </a:rPr>
              <a:t>MYCN</a:t>
            </a:r>
            <a:endParaRPr lang="en-US" sz="1100" dirty="0"/>
          </a:p>
          <a:p>
            <a:pPr algn="ctr" indent="0" marL="0">
              <a:buNone/>
            </a:pPr>
            <a:r>
              <a:rPr lang="en-US" sz="1100" b="1" dirty="0">
                <a:solidFill>
                  <a:schemeClr val="bg1"/>
                </a:solidFill>
              </a:rPr>
              <a:t>Cyclin D1</a:t>
            </a:r>
            <a:endParaRPr lang="en-US" sz="1100" dirty="0"/>
          </a:p>
        </p:txBody>
      </p:sp>
      <p:sp>
        <p:nvSpPr>
          <p:cNvPr id="16" name="Text 13"/>
          <p:cNvSpPr txBox="1"/>
          <p:nvPr/>
        </p:nvSpPr>
        <p:spPr>
          <a:xfrm>
            <a:off x="4663440" y="2651760"/>
            <a:ext cx="6976872" cy="256032"/>
          </a:xfrm>
          <a:prstGeom prst="rect">
            <a:avLst/>
          </a:prstGeom>
          <a:noFill/>
          <a:ln/>
        </p:spPr>
        <p:txBody>
          <a:bodyPr wrap="square" lIns="0" tIns="0" rIns="0" bIns="0" rtlCol="0" anchor="ctr"/>
          <a:lstStyle/>
          <a:p>
            <a:pPr indent="0" marL="0">
              <a:buNone/>
            </a:pPr>
            <a:r>
              <a:rPr lang="en-US" sz="1100" i="1" dirty="0">
                <a:solidFill>
                  <a:schemeClr val="accent3"/>
                </a:solidFill>
              </a:rPr>
              <a:t>SHH from Purkinje cells → GNP proliferation.  Red = recurrently mutated or amplified in SHH medulloblastoma.</a:t>
            </a:r>
            <a:endParaRPr lang="en-US" sz="1100" dirty="0"/>
          </a:p>
        </p:txBody>
      </p:sp>
      <p:sp>
        <p:nvSpPr>
          <p:cNvPr id="17" name="Shape 14"/>
          <p:cNvSpPr/>
          <p:nvPr/>
        </p:nvSpPr>
        <p:spPr>
          <a:xfrm>
            <a:off x="4663440" y="2907792"/>
            <a:ext cx="3351276" cy="1261872"/>
          </a:xfrm>
          <a:prstGeom prst="rect">
            <a:avLst/>
          </a:prstGeom>
          <a:solidFill>
            <a:schemeClr val="bg2"/>
          </a:solidFill>
          <a:ln/>
        </p:spPr>
      </p:sp>
      <p:sp>
        <p:nvSpPr>
          <p:cNvPr id="18" name="Text 15"/>
          <p:cNvSpPr txBox="1"/>
          <p:nvPr/>
        </p:nvSpPr>
        <p:spPr>
          <a:xfrm>
            <a:off x="4846320" y="3017520"/>
            <a:ext cx="2985516" cy="292608"/>
          </a:xfrm>
          <a:prstGeom prst="rect">
            <a:avLst/>
          </a:prstGeom>
          <a:noFill/>
          <a:ln/>
        </p:spPr>
        <p:txBody>
          <a:bodyPr wrap="square" lIns="0" tIns="0" rIns="0" bIns="0" rtlCol="0" anchor="ctr"/>
          <a:lstStyle/>
          <a:p>
            <a:pPr indent="0" marL="0">
              <a:buNone/>
            </a:pPr>
            <a:r>
              <a:rPr lang="en-US" sz="1500" b="1" dirty="0">
                <a:solidFill>
                  <a:schemeClr val="accent1"/>
                </a:solidFill>
                <a:latin typeface="Cambria" pitchFamily="34" charset="0"/>
                <a:ea typeface="Cambria" pitchFamily="34" charset="-122"/>
                <a:cs typeface="Cambria" pitchFamily="34" charset="-120"/>
              </a:rPr>
              <a:t>Epidemiology</a:t>
            </a:r>
            <a:endParaRPr lang="en-US" sz="1500" dirty="0"/>
          </a:p>
        </p:txBody>
      </p:sp>
      <p:sp>
        <p:nvSpPr>
          <p:cNvPr id="19" name="Epidemiology points"/>
          <p:cNvSpPr txBox="1"/>
          <p:nvPr/>
        </p:nvSpPr>
        <p:spPr>
          <a:xfrm>
            <a:off x="4846320" y="3337560"/>
            <a:ext cx="3031236" cy="758952"/>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rPr>
              <a:t>~25–30% of medulloblastomas</a:t>
            </a:r>
            <a:endParaRPr lang="en-US" sz="1200" dirty="0"/>
          </a:p>
          <a:p>
            <a:pPr marL="177800" indent="-177800">
              <a:spcAft>
                <a:spcPts val="200"/>
              </a:spcAft>
              <a:buSzPct val="100000"/>
              <a:buChar char="•"/>
            </a:pPr>
            <a:r>
              <a:rPr lang="en-US" sz="1200" dirty="0">
                <a:solidFill>
                  <a:schemeClr val="tx1"/>
                </a:solidFill>
              </a:rPr>
              <a:t>Bimodal: infants (&lt;3 y) and adults</a:t>
            </a:r>
            <a:endParaRPr lang="en-US" sz="1200" dirty="0"/>
          </a:p>
          <a:p>
            <a:pPr marL="177800" indent="-177800">
              <a:spcAft>
                <a:spcPts val="200"/>
              </a:spcAft>
              <a:buSzPct val="100000"/>
              <a:buChar char="•"/>
            </a:pPr>
            <a:r>
              <a:rPr lang="en-US" sz="1200" dirty="0">
                <a:solidFill>
                  <a:schemeClr val="tx1"/>
                </a:solidFill>
              </a:rPr>
              <a:t>Often in a cerebellar hemisphere</a:t>
            </a:r>
            <a:endParaRPr lang="en-US" sz="1200" dirty="0"/>
          </a:p>
        </p:txBody>
      </p:sp>
      <p:sp>
        <p:nvSpPr>
          <p:cNvPr id="20" name="Shape 17"/>
          <p:cNvSpPr/>
          <p:nvPr/>
        </p:nvSpPr>
        <p:spPr>
          <a:xfrm>
            <a:off x="8289036" y="2907792"/>
            <a:ext cx="3351276" cy="1261872"/>
          </a:xfrm>
          <a:prstGeom prst="rect">
            <a:avLst/>
          </a:prstGeom>
          <a:solidFill>
            <a:schemeClr val="bg2"/>
          </a:solidFill>
          <a:ln/>
        </p:spPr>
      </p:sp>
      <p:sp>
        <p:nvSpPr>
          <p:cNvPr id="21" name="Text 18"/>
          <p:cNvSpPr txBox="1"/>
          <p:nvPr/>
        </p:nvSpPr>
        <p:spPr>
          <a:xfrm>
            <a:off x="8471916" y="3017520"/>
            <a:ext cx="2985516" cy="292608"/>
          </a:xfrm>
          <a:prstGeom prst="rect">
            <a:avLst/>
          </a:prstGeom>
          <a:noFill/>
          <a:ln/>
        </p:spPr>
        <p:txBody>
          <a:bodyPr wrap="square" lIns="0" tIns="0" rIns="0" bIns="0" rtlCol="0" anchor="ctr"/>
          <a:lstStyle/>
          <a:p>
            <a:pPr indent="0" marL="0">
              <a:buNone/>
            </a:pPr>
            <a:r>
              <a:rPr lang="en-US" sz="1500" b="1" dirty="0">
                <a:solidFill>
                  <a:schemeClr val="accent1"/>
                </a:solidFill>
                <a:latin typeface="Cambria" pitchFamily="34" charset="0"/>
                <a:ea typeface="Cambria" pitchFamily="34" charset="-122"/>
                <a:cs typeface="Cambria" pitchFamily="34" charset="-120"/>
              </a:rPr>
              <a:t>Genetics</a:t>
            </a:r>
            <a:endParaRPr lang="en-US" sz="1500" dirty="0"/>
          </a:p>
        </p:txBody>
      </p:sp>
      <p:sp>
        <p:nvSpPr>
          <p:cNvPr id="22" name="Genetics points"/>
          <p:cNvSpPr txBox="1"/>
          <p:nvPr/>
        </p:nvSpPr>
        <p:spPr>
          <a:xfrm>
            <a:off x="8471916" y="3337560"/>
            <a:ext cx="3031236" cy="758952"/>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rPr>
              <a:t>Infants: SUFU, PTCH1</a:t>
            </a:r>
            <a:endParaRPr lang="en-US" sz="1200" dirty="0"/>
          </a:p>
          <a:p>
            <a:pPr marL="177800" indent="-177800">
              <a:spcAft>
                <a:spcPts val="200"/>
              </a:spcAft>
              <a:buSzPct val="100000"/>
              <a:buChar char="•"/>
            </a:pPr>
            <a:r>
              <a:rPr lang="en-US" sz="1200" dirty="0">
                <a:solidFill>
                  <a:schemeClr val="tx1"/>
                </a:solidFill>
              </a:rPr>
              <a:t>Children: TP53, MYCN/GLI2 amplification</a:t>
            </a:r>
            <a:endParaRPr lang="en-US" sz="1200" dirty="0"/>
          </a:p>
          <a:p>
            <a:pPr marL="177800" indent="-177800">
              <a:spcAft>
                <a:spcPts val="200"/>
              </a:spcAft>
              <a:buSzPct val="100000"/>
              <a:buChar char="•"/>
            </a:pPr>
            <a:r>
              <a:rPr lang="en-US" sz="1200" dirty="0">
                <a:solidFill>
                  <a:schemeClr val="tx1"/>
                </a:solidFill>
              </a:rPr>
              <a:t>Adults: PTCH1, SMO, TERT promoter</a:t>
            </a:r>
            <a:endParaRPr lang="en-US" sz="1200" dirty="0"/>
          </a:p>
          <a:p>
            <a:pPr marL="177800" indent="-177800">
              <a:spcAft>
                <a:spcPts val="200"/>
              </a:spcAft>
              <a:buSzPct val="100000"/>
              <a:buChar char="•"/>
            </a:pPr>
            <a:r>
              <a:rPr lang="en-US" sz="1200" dirty="0">
                <a:solidFill>
                  <a:schemeClr val="tx1"/>
                </a:solidFill>
              </a:rPr>
              <a:t>Germline: Gorlin, Li-Fraumeni, ELP1</a:t>
            </a:r>
            <a:endParaRPr lang="en-US" sz="1200" dirty="0"/>
          </a:p>
        </p:txBody>
      </p:sp>
      <p:sp>
        <p:nvSpPr>
          <p:cNvPr id="23" name="Shape 20"/>
          <p:cNvSpPr/>
          <p:nvPr/>
        </p:nvSpPr>
        <p:spPr>
          <a:xfrm>
            <a:off x="4663440" y="4334256"/>
            <a:ext cx="3351276" cy="1261872"/>
          </a:xfrm>
          <a:prstGeom prst="rect">
            <a:avLst/>
          </a:prstGeom>
          <a:solidFill>
            <a:schemeClr val="bg2"/>
          </a:solidFill>
          <a:ln/>
        </p:spPr>
      </p:sp>
      <p:sp>
        <p:nvSpPr>
          <p:cNvPr id="24" name="Text 21"/>
          <p:cNvSpPr txBox="1"/>
          <p:nvPr/>
        </p:nvSpPr>
        <p:spPr>
          <a:xfrm>
            <a:off x="4846320" y="4443984"/>
            <a:ext cx="2985516" cy="292608"/>
          </a:xfrm>
          <a:prstGeom prst="rect">
            <a:avLst/>
          </a:prstGeom>
          <a:noFill/>
          <a:ln/>
        </p:spPr>
        <p:txBody>
          <a:bodyPr wrap="square" lIns="0" tIns="0" rIns="0" bIns="0" rtlCol="0" anchor="ctr"/>
          <a:lstStyle/>
          <a:p>
            <a:pPr indent="0" marL="0">
              <a:buNone/>
            </a:pPr>
            <a:r>
              <a:rPr lang="en-US" sz="1500" b="1" dirty="0">
                <a:solidFill>
                  <a:schemeClr val="accent1"/>
                </a:solidFill>
                <a:latin typeface="Cambria" pitchFamily="34" charset="0"/>
                <a:ea typeface="Cambria" pitchFamily="34" charset="-122"/>
                <a:cs typeface="Cambria" pitchFamily="34" charset="-120"/>
              </a:rPr>
              <a:t>Pathology &amp; WHO CNS5</a:t>
            </a:r>
            <a:endParaRPr lang="en-US" sz="1500" dirty="0"/>
          </a:p>
        </p:txBody>
      </p:sp>
      <p:sp>
        <p:nvSpPr>
          <p:cNvPr id="25" name="Pathology &amp; WHO CNS5 points"/>
          <p:cNvSpPr txBox="1"/>
          <p:nvPr/>
        </p:nvSpPr>
        <p:spPr>
          <a:xfrm>
            <a:off x="4846320" y="4764024"/>
            <a:ext cx="3031236" cy="758952"/>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rPr>
              <a:t>Desmoplastic/nodular; MBEN in infants</a:t>
            </a:r>
            <a:endParaRPr lang="en-US" sz="1200" dirty="0"/>
          </a:p>
          <a:p>
            <a:pPr marL="177800" indent="-177800">
              <a:spcAft>
                <a:spcPts val="200"/>
              </a:spcAft>
              <a:buSzPct val="100000"/>
              <a:buChar char="•"/>
            </a:pPr>
            <a:r>
              <a:rPr lang="en-US" sz="1200" dirty="0">
                <a:solidFill>
                  <a:schemeClr val="tx1"/>
                </a:solidFill>
              </a:rPr>
              <a:t>SHH TP53-wild-type vs. TP53-mutant</a:t>
            </a:r>
            <a:endParaRPr lang="en-US" sz="1200" dirty="0"/>
          </a:p>
          <a:p>
            <a:pPr marL="177800" indent="-177800">
              <a:spcAft>
                <a:spcPts val="200"/>
              </a:spcAft>
              <a:buSzPct val="100000"/>
              <a:buChar char="•"/>
            </a:pPr>
            <a:r>
              <a:rPr lang="en-US" sz="1200" dirty="0">
                <a:solidFill>
                  <a:schemeClr val="tx1"/>
                </a:solidFill>
              </a:rPr>
              <a:t>TP53-mutant: poorest outcome</a:t>
            </a:r>
            <a:endParaRPr lang="en-US" sz="1200" dirty="0"/>
          </a:p>
        </p:txBody>
      </p:sp>
      <p:sp>
        <p:nvSpPr>
          <p:cNvPr id="26" name="Shape 23"/>
          <p:cNvSpPr/>
          <p:nvPr/>
        </p:nvSpPr>
        <p:spPr>
          <a:xfrm>
            <a:off x="8289036" y="4334256"/>
            <a:ext cx="3351276" cy="1261872"/>
          </a:xfrm>
          <a:prstGeom prst="rect">
            <a:avLst/>
          </a:prstGeom>
          <a:solidFill>
            <a:schemeClr val="bg2"/>
          </a:solidFill>
          <a:ln/>
        </p:spPr>
      </p:sp>
      <p:sp>
        <p:nvSpPr>
          <p:cNvPr id="27" name="Text 24"/>
          <p:cNvSpPr txBox="1"/>
          <p:nvPr/>
        </p:nvSpPr>
        <p:spPr>
          <a:xfrm>
            <a:off x="8471916" y="4443984"/>
            <a:ext cx="2985516" cy="292608"/>
          </a:xfrm>
          <a:prstGeom prst="rect">
            <a:avLst/>
          </a:prstGeom>
          <a:noFill/>
          <a:ln/>
        </p:spPr>
        <p:txBody>
          <a:bodyPr wrap="square" lIns="0" tIns="0" rIns="0" bIns="0" rtlCol="0" anchor="ctr"/>
          <a:lstStyle/>
          <a:p>
            <a:pPr indent="0" marL="0">
              <a:buNone/>
            </a:pPr>
            <a:r>
              <a:rPr lang="en-US" sz="1500" b="1" dirty="0">
                <a:solidFill>
                  <a:schemeClr val="accent1"/>
                </a:solidFill>
                <a:latin typeface="Cambria" pitchFamily="34" charset="0"/>
                <a:ea typeface="Cambria" pitchFamily="34" charset="-122"/>
                <a:cs typeface="Cambria" pitchFamily="34" charset="-120"/>
              </a:rPr>
              <a:t>Treatment</a:t>
            </a:r>
            <a:endParaRPr lang="en-US" sz="1500" dirty="0"/>
          </a:p>
        </p:txBody>
      </p:sp>
      <p:sp>
        <p:nvSpPr>
          <p:cNvPr id="28" name="Treatment points"/>
          <p:cNvSpPr txBox="1"/>
          <p:nvPr/>
        </p:nvSpPr>
        <p:spPr>
          <a:xfrm>
            <a:off x="8471916" y="4764024"/>
            <a:ext cx="3031236" cy="758952"/>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rPr>
              <a:t>Resection + CSI (age ≥3) + chemotherapy</a:t>
            </a:r>
            <a:endParaRPr lang="en-US" sz="1200" dirty="0"/>
          </a:p>
          <a:p>
            <a:pPr marL="177800" indent="-177800">
              <a:spcAft>
                <a:spcPts val="200"/>
              </a:spcAft>
              <a:buSzPct val="100000"/>
              <a:buChar char="•"/>
            </a:pPr>
            <a:r>
              <a:rPr lang="en-US" sz="1200" dirty="0">
                <a:solidFill>
                  <a:schemeClr val="tx1"/>
                </a:solidFill>
              </a:rPr>
              <a:t>Infants: radiation-sparing regimens</a:t>
            </a:r>
            <a:endParaRPr lang="en-US" sz="1200" dirty="0"/>
          </a:p>
          <a:p>
            <a:pPr marL="177800" indent="-177800">
              <a:spcAft>
                <a:spcPts val="200"/>
              </a:spcAft>
              <a:buSzPct val="100000"/>
              <a:buChar char="•"/>
            </a:pPr>
            <a:r>
              <a:rPr lang="en-US" sz="1200" dirty="0">
                <a:solidFill>
                  <a:schemeClr val="tx1"/>
                </a:solidFill>
              </a:rPr>
              <a:t>SMO inhibitors: upstream mutations only</a:t>
            </a:r>
            <a:endParaRPr lang="en-US" sz="1200" dirty="0"/>
          </a:p>
          <a:p>
            <a:pPr marL="177800" indent="-177800">
              <a:spcAft>
                <a:spcPts val="200"/>
              </a:spcAft>
              <a:buSzPct val="100000"/>
              <a:buChar char="•"/>
            </a:pPr>
            <a:r>
              <a:rPr lang="en-US" sz="1200" dirty="0">
                <a:solidFill>
                  <a:schemeClr val="tx1"/>
                </a:solidFill>
              </a:rPr>
              <a:t>Growth-plate fusion risk in children</a:t>
            </a:r>
            <a:endParaRPr lang="en-US" sz="1200" dirty="0"/>
          </a:p>
        </p:txBody>
      </p:sp>
      <p:sp>
        <p:nvSpPr>
          <p:cNvPr id="29" name="References"/>
          <p:cNvSpPr txBox="1"/>
          <p:nvPr/>
        </p:nvSpPr>
        <p:spPr>
          <a:xfrm>
            <a:off x="548640" y="5779008"/>
            <a:ext cx="11091672" cy="411480"/>
          </a:xfrm>
          <a:prstGeom prst="rect">
            <a:avLst/>
          </a:prstGeom>
          <a:noFill/>
          <a:ln/>
        </p:spPr>
        <p:txBody>
          <a:bodyPr wrap="square" lIns="0" tIns="0" rIns="0" bIns="0" rtlCol="0" anchor="t"/>
          <a:lstStyle/>
          <a:p>
            <a:pPr indent="0" marL="0">
              <a:buNone/>
            </a:pPr>
            <a:r>
              <a:rPr lang="en-US" sz="1000" dirty="0">
                <a:solidFill>
                  <a:schemeClr val="accent3"/>
                </a:solidFill>
              </a:rPr>
              <a:t>Illustration © 2025 Cleveland Clinic.  Northcott PA, et al. </a:t>
            </a:r>
            <a:pPr indent="0" marL="0">
              <a:buNone/>
            </a:pPr>
            <a:r>
              <a:rPr lang="en-US" sz="1000" i="1" dirty="0">
                <a:solidFill>
                  <a:schemeClr val="accent3"/>
                </a:solidFill>
              </a:rPr>
              <a:t>Nat Rev Dis Primers</a:t>
            </a:r>
            <a:pPr indent="0" marL="0">
              <a:buNone/>
            </a:pPr>
            <a:r>
              <a:rPr lang="en-US" sz="1000" dirty="0">
                <a:solidFill>
                  <a:schemeClr val="accent3"/>
                </a:solidFill>
              </a:rPr>
              <a:t>. 2019;5(1):11. PMID: 30765705.  Louis DN, et al. </a:t>
            </a:r>
            <a:pPr indent="0" marL="0">
              <a:buNone/>
            </a:pPr>
            <a:r>
              <a:rPr lang="en-US" sz="1000" i="1" dirty="0">
                <a:solidFill>
                  <a:schemeClr val="accent3"/>
                </a:solidFill>
              </a:rPr>
              <a:t>Neuro Oncol</a:t>
            </a:r>
            <a:pPr indent="0" marL="0">
              <a:buNone/>
            </a:pPr>
            <a:r>
              <a:rPr lang="en-US" sz="1000" dirty="0">
                <a:solidFill>
                  <a:schemeClr val="accent3"/>
                </a:solidFill>
              </a:rPr>
              <a:t>. 2021;23(8):1231–1251. PMID: 34185076.  Robinson GW, et al. </a:t>
            </a:r>
            <a:pPr indent="0" marL="0">
              <a:buNone/>
            </a:pPr>
            <a:r>
              <a:rPr lang="en-US" sz="1000" i="1" dirty="0">
                <a:solidFill>
                  <a:schemeClr val="accent3"/>
                </a:solidFill>
              </a:rPr>
              <a:t>J Clin Oncol</a:t>
            </a:r>
            <a:pPr indent="0" marL="0">
              <a:buNone/>
            </a:pPr>
            <a:r>
              <a:rPr lang="en-US" sz="1000" dirty="0">
                <a:solidFill>
                  <a:schemeClr val="accent3"/>
                </a:solidFill>
              </a:rPr>
              <a:t>. 2015;33(24):2646–2654. PMID: 26169613.</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B6B6B"/>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University of Utah Neurosurgery">
  <a:themeElements>
    <a:clrScheme name="University of Utah Neurosurgery">
      <a:dk1>
        <a:srgbClr val="1A1A1A"/>
      </a:dk1>
      <a:lt1>
        <a:srgbClr val="FFFFFF"/>
      </a:lt1>
      <a:dk2>
        <a:srgbClr val="3B3B3B"/>
      </a:dk2>
      <a:lt2>
        <a:srgbClr val="EEF0F0"/>
      </a:lt2>
      <a:accent1>
        <a:srgbClr val="BE0000"/>
      </a:accent1>
      <a:accent2>
        <a:srgbClr val="890000"/>
      </a:accent2>
      <a:accent3>
        <a:srgbClr val="708E99"/>
      </a:accent3>
      <a:accent4>
        <a:srgbClr val="5B6770"/>
      </a:accent4>
      <a:accent5>
        <a:srgbClr val="FFB81D"/>
      </a:accent5>
      <a:accent6>
        <a:srgbClr val="A7A8AA"/>
      </a:accent6>
      <a:hlink>
        <a:srgbClr val="BE0000"/>
      </a:hlink>
      <a:folHlink>
        <a:srgbClr val="890000"/>
      </a:folHlink>
    </a:clrScheme>
    <a:fontScheme name="University of Utah Neurosurg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University of Utah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Neurosurgery Grand Rounds</dc:title>
  <dc:subject>PptxGenJS Presentation</dc:subject>
  <dc:creator>Department of Neurosurgery, University of Utah Health</dc:creator>
  <cp:lastModifiedBy>Department of Neurosurgery, University of Utah Health</cp:lastModifiedBy>
  <cp:revision>1</cp:revision>
  <dcterms:created xsi:type="dcterms:W3CDTF">2026-10-28T03:52:24Z</dcterms:created>
  <dcterms:modified xsi:type="dcterms:W3CDTF">2026-10-28T03:52:24Z</dcterms:modified>
</cp:coreProperties>
</file>