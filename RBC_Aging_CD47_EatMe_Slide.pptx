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BC Aging" id="{7bf46fe5-0a0b-52a7-313d-e4a54d0a03b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blood cell aging. Left: a newly released RBC leaves the bone marrow with an intact membrane, abundant surface CD47 (the 'don't eat me' signal), and eat-me proteins confined to the inner membrane leaflet. Middle: in mid-circulation, the membrane is partially disrupted, CD47 is reduced, and some eat-me proteins have appeared on the outer surface, though most remain on the inner leaflet. Right: the senescent RBC has a degenerated membrane, minimal CD47, and predominantly outer-surface eat-me proteins, marking it for clearance by phagocytes. Every element is a native PowerPoint shape and can be recolored, moved, or animated.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192024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bg1"/>
                </a:solidFill>
              </a:rPr>
              <a:t>UNIVERSITY OF UTAH HEALTH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4C4"/>
                </a:solidFill>
              </a:rPr>
              <a:t>Department of Neurosurgery</a:t>
            </a:r>
            <a:endParaRPr lang="en-US" sz="12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40080" y="182880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379476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F2C4C4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F2C4C4"/>
                </a:solidFill>
              </a:rPr>
              <a:t>Subtitle</a:t>
            </a:r>
            <a:endParaRPr lang="en-US" sz="2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40080" y="498348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Presenter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91440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83464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114800"/>
            <a:ext cx="6858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A7A8AA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7A8AA"/>
                </a:solidFill>
              </a:rPr>
              <a:t>Section description</a:t>
            </a:r>
            <a:endParaRPr lang="en-US" sz="1800" dirty="0"/>
          </a:p>
        </p:txBody>
      </p:sp>
      <p:pic>
        <p:nvPicPr>
          <p:cNvPr id="6" name="Image 1" descr="University of Utah Health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329184" cy="32918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87552" y="6355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8AA"/>
                </a:solidFill>
              </a:rPr>
              <a:t>Neurosurgery Grand Rounds  |  University of Utah Health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pic>
        <p:nvPicPr>
          <p:cNvPr id="3" name="Image 0" descr="University of Utah Health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" y="6355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Neurosurgery Grand Rounds  |  University of Utah Health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Slide Title</a:t>
            </a:r>
            <a:endParaRPr lang="en-US" sz="3400" dirty="0"/>
          </a:p>
        </p:txBody>
      </p:sp>
      <p:pic>
        <p:nvPicPr>
          <p:cNvPr id="3" name="Image 0" descr="University of Utah Health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" y="6355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8AA"/>
                </a:solidFill>
              </a:rPr>
              <a:t>Neurosurgery Grand Rounds  |  University of Utah Health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CLOSING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82296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834640"/>
            <a:ext cx="1036015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Questions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023360"/>
            <a:ext cx="94457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F2C4C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F2C4C4"/>
                </a:solidFill>
              </a:rPr>
              <a:t>Contact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914400" y="61264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UNIVERSITY OF UTAH HEALTH  |  DEPARTMENT OF NEUROSURGERY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Red Blood Cell Aging: From “Don’t Eat Me” to “Eat Me”</a:t>
            </a:r>
            <a:endParaRPr lang="en-US" sz="3400" dirty="0"/>
          </a:p>
        </p:txBody>
      </p:sp>
      <p:sp>
        <p:nvSpPr>
          <p:cNvPr id="3" name="Circulation"/>
          <p:cNvSpPr/>
          <p:nvPr/>
        </p:nvSpPr>
        <p:spPr>
          <a:xfrm>
            <a:off x="1463040" y="2331720"/>
            <a:ext cx="10177272" cy="1463040"/>
          </a:xfrm>
          <a:prstGeom prst="rightArrow">
            <a:avLst/>
          </a:prstGeom>
          <a:solidFill>
            <a:srgbClr val="FBEAEA"/>
          </a:solidFill>
          <a:ln/>
        </p:spPr>
      </p:sp>
      <p:sp>
        <p:nvSpPr>
          <p:cNvPr id="4" name="Bone marrow"/>
          <p:cNvSpPr/>
          <p:nvPr/>
        </p:nvSpPr>
        <p:spPr>
          <a:xfrm>
            <a:off x="548640" y="1417320"/>
            <a:ext cx="1737360" cy="3291840"/>
          </a:xfrm>
          <a:prstGeom prst="roundRect">
            <a:avLst>
              <a:gd name="adj" fmla="val 10526"/>
            </a:avLst>
          </a:prstGeom>
          <a:solidFill>
            <a:srgbClr val="E6E1DA"/>
          </a:solidFill>
          <a:ln/>
        </p:spPr>
      </p:sp>
      <p:sp>
        <p:nvSpPr>
          <p:cNvPr id="5" name="Marrow precursor 1"/>
          <p:cNvSpPr/>
          <p:nvPr/>
        </p:nvSpPr>
        <p:spPr>
          <a:xfrm>
            <a:off x="868680" y="2331720"/>
            <a:ext cx="292608" cy="292608"/>
          </a:xfrm>
          <a:prstGeom prst="ellipse">
            <a:avLst/>
          </a:prstGeom>
          <a:solidFill>
            <a:srgbClr val="D9B8B8"/>
          </a:solidFill>
          <a:ln w="6350">
            <a:solidFill>
              <a:srgbClr val="A88AA8"/>
            </a:solidFill>
            <a:prstDash val="solid"/>
          </a:ln>
        </p:spPr>
      </p:sp>
      <p:sp>
        <p:nvSpPr>
          <p:cNvPr id="6" name="Marrow precursor 2"/>
          <p:cNvSpPr/>
          <p:nvPr/>
        </p:nvSpPr>
        <p:spPr>
          <a:xfrm>
            <a:off x="1371600" y="2011680"/>
            <a:ext cx="237744" cy="237744"/>
          </a:xfrm>
          <a:prstGeom prst="ellipse">
            <a:avLst/>
          </a:prstGeom>
          <a:solidFill>
            <a:srgbClr val="C9A9C9"/>
          </a:solidFill>
          <a:ln w="6350">
            <a:solidFill>
              <a:srgbClr val="A88AA8"/>
            </a:solidFill>
            <a:prstDash val="solid"/>
          </a:ln>
        </p:spPr>
      </p:sp>
      <p:sp>
        <p:nvSpPr>
          <p:cNvPr id="7" name="Marrow precursor 3"/>
          <p:cNvSpPr/>
          <p:nvPr/>
        </p:nvSpPr>
        <p:spPr>
          <a:xfrm>
            <a:off x="960120" y="3611880"/>
            <a:ext cx="256032" cy="256032"/>
          </a:xfrm>
          <a:prstGeom prst="ellipse">
            <a:avLst/>
          </a:prstGeom>
          <a:solidFill>
            <a:srgbClr val="D9B8B8"/>
          </a:solidFill>
          <a:ln w="6350">
            <a:solidFill>
              <a:srgbClr val="A88AA8"/>
            </a:solidFill>
            <a:prstDash val="solid"/>
          </a:ln>
        </p:spPr>
      </p:sp>
      <p:sp>
        <p:nvSpPr>
          <p:cNvPr id="8" name="Marrow precursor 4"/>
          <p:cNvSpPr/>
          <p:nvPr/>
        </p:nvSpPr>
        <p:spPr>
          <a:xfrm>
            <a:off x="1508760" y="3977640"/>
            <a:ext cx="274320" cy="274320"/>
          </a:xfrm>
          <a:prstGeom prst="ellipse">
            <a:avLst/>
          </a:prstGeom>
          <a:solidFill>
            <a:srgbClr val="C9A9C9"/>
          </a:solidFill>
          <a:ln w="6350">
            <a:solidFill>
              <a:srgbClr val="A88AA8"/>
            </a:solidFill>
            <a:prstDash val="solid"/>
          </a:ln>
        </p:spPr>
      </p:sp>
      <p:sp>
        <p:nvSpPr>
          <p:cNvPr id="9" name="Marrow precursor 5"/>
          <p:cNvSpPr/>
          <p:nvPr/>
        </p:nvSpPr>
        <p:spPr>
          <a:xfrm>
            <a:off x="822960" y="4297680"/>
            <a:ext cx="182880" cy="182880"/>
          </a:xfrm>
          <a:prstGeom prst="ellipse">
            <a:avLst/>
          </a:prstGeom>
          <a:solidFill>
            <a:srgbClr val="D9B8B8"/>
          </a:solidFill>
          <a:ln w="6350">
            <a:solidFill>
              <a:srgbClr val="A88AA8"/>
            </a:solidFill>
            <a:prstDash val="solid"/>
          </a:ln>
        </p:spPr>
      </p:sp>
      <p:sp>
        <p:nvSpPr>
          <p:cNvPr id="10" name="Marrow precursor 6"/>
          <p:cNvSpPr/>
          <p:nvPr/>
        </p:nvSpPr>
        <p:spPr>
          <a:xfrm>
            <a:off x="1417320" y="1691640"/>
            <a:ext cx="164592" cy="164592"/>
          </a:xfrm>
          <a:prstGeom prst="ellipse">
            <a:avLst/>
          </a:prstGeom>
          <a:solidFill>
            <a:srgbClr val="C9A9C9"/>
          </a:solidFill>
          <a:ln w="6350">
            <a:solidFill>
              <a:srgbClr val="A88A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BONE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MARROW</a:t>
            </a:r>
            <a:endParaRPr lang="en-US" sz="1100" dirty="0"/>
          </a:p>
        </p:txBody>
      </p:sp>
      <p:sp>
        <p:nvSpPr>
          <p:cNvPr id="12" name="New RBC cytoplasm"/>
          <p:cNvSpPr/>
          <p:nvPr/>
        </p:nvSpPr>
        <p:spPr>
          <a:xfrm>
            <a:off x="2103120" y="2148840"/>
            <a:ext cx="1828800" cy="1828800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3" name="New RBC central pallor"/>
          <p:cNvSpPr/>
          <p:nvPr/>
        </p:nvSpPr>
        <p:spPr>
          <a:xfrm>
            <a:off x="2595067" y="2640787"/>
            <a:ext cx="844906" cy="844906"/>
          </a:xfrm>
          <a:prstGeom prst="ellipse">
            <a:avLst/>
          </a:prstGeom>
          <a:solidFill>
            <a:srgbClr val="DE5A5A"/>
          </a:solidFill>
          <a:ln/>
        </p:spPr>
      </p:sp>
      <p:sp>
        <p:nvSpPr>
          <p:cNvPr id="14" name="New RBC outer leaflet 1"/>
          <p:cNvSpPr/>
          <p:nvPr/>
        </p:nvSpPr>
        <p:spPr>
          <a:xfrm>
            <a:off x="2011680" y="2057400"/>
            <a:ext cx="2011680" cy="2011680"/>
          </a:xfrm>
          <a:prstGeom prst="blockArc">
            <a:avLst>
              <a:gd name="adj1" fmla="val 0"/>
              <a:gd name="adj2" fmla="val 21594000"/>
              <a:gd name="adj3" fmla="val 3409"/>
            </a:avLst>
          </a:prstGeom>
          <a:solidFill>
            <a:srgbClr val="3B3B3B"/>
          </a:solidFill>
          <a:ln/>
        </p:spPr>
      </p:sp>
      <p:sp>
        <p:nvSpPr>
          <p:cNvPr id="15" name="New RBC inner leaflet 1"/>
          <p:cNvSpPr/>
          <p:nvPr/>
        </p:nvSpPr>
        <p:spPr>
          <a:xfrm>
            <a:off x="2080260" y="2125980"/>
            <a:ext cx="1874520" cy="1874520"/>
          </a:xfrm>
          <a:prstGeom prst="blockArc">
            <a:avLst>
              <a:gd name="adj1" fmla="val 0"/>
              <a:gd name="adj2" fmla="val 21594000"/>
              <a:gd name="adj3" fmla="val 3659"/>
            </a:avLst>
          </a:prstGeom>
          <a:solidFill>
            <a:srgbClr val="8FA7B0"/>
          </a:solidFill>
          <a:ln/>
        </p:spPr>
      </p:sp>
      <p:sp>
        <p:nvSpPr>
          <p:cNvPr id="16" name="New RBC CD47 stalk"/>
          <p:cNvSpPr/>
          <p:nvPr/>
        </p:nvSpPr>
        <p:spPr>
          <a:xfrm rot="11400000">
            <a:off x="3186597" y="1918344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17" name="New RBC CD47"/>
          <p:cNvSpPr/>
          <p:nvPr/>
        </p:nvSpPr>
        <p:spPr>
          <a:xfrm>
            <a:off x="3158535" y="1805989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18" name="New RBC CD47 stalk"/>
          <p:cNvSpPr/>
          <p:nvPr/>
        </p:nvSpPr>
        <p:spPr>
          <a:xfrm rot="12942857">
            <a:off x="3629087" y="2104869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19" name="New RBC CD47"/>
          <p:cNvSpPr/>
          <p:nvPr/>
        </p:nvSpPr>
        <p:spPr>
          <a:xfrm>
            <a:off x="3653523" y="2014644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20" name="New RBC CD47 stalk"/>
          <p:cNvSpPr/>
          <p:nvPr/>
        </p:nvSpPr>
        <p:spPr>
          <a:xfrm rot="14485714">
            <a:off x="3946826" y="2464912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21" name="New RBC CD47"/>
          <p:cNvSpPr/>
          <p:nvPr/>
        </p:nvSpPr>
        <p:spPr>
          <a:xfrm>
            <a:off x="4008960" y="2417404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22" name="New RBC CD47 stalk"/>
          <p:cNvSpPr/>
          <p:nvPr/>
        </p:nvSpPr>
        <p:spPr>
          <a:xfrm rot="16028571">
            <a:off x="4076883" y="2927161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23" name="New RBC CD47"/>
          <p:cNvSpPr/>
          <p:nvPr/>
        </p:nvSpPr>
        <p:spPr>
          <a:xfrm>
            <a:off x="4154448" y="2934496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24" name="New RBC CD47 stalk"/>
          <p:cNvSpPr/>
          <p:nvPr/>
        </p:nvSpPr>
        <p:spPr>
          <a:xfrm rot="-4028571">
            <a:off x="3993497" y="3400062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25" name="New RBC CD47"/>
          <p:cNvSpPr/>
          <p:nvPr/>
        </p:nvSpPr>
        <p:spPr>
          <a:xfrm>
            <a:off x="4061169" y="3463504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26" name="New RBC CD47 stalk"/>
          <p:cNvSpPr/>
          <p:nvPr/>
        </p:nvSpPr>
        <p:spPr>
          <a:xfrm rot="-2485714">
            <a:off x="3713186" y="3789952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27" name="New RBC CD47"/>
          <p:cNvSpPr/>
          <p:nvPr/>
        </p:nvSpPr>
        <p:spPr>
          <a:xfrm>
            <a:off x="3747600" y="3899652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28" name="New RBC CD47 stalk"/>
          <p:cNvSpPr/>
          <p:nvPr/>
        </p:nvSpPr>
        <p:spPr>
          <a:xfrm rot="-942857">
            <a:off x="3291467" y="4019608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29" name="New RBC CD47"/>
          <p:cNvSpPr/>
          <p:nvPr/>
        </p:nvSpPr>
        <p:spPr>
          <a:xfrm>
            <a:off x="3275847" y="4156555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30" name="New RBC CD47 stalk"/>
          <p:cNvSpPr/>
          <p:nvPr/>
        </p:nvSpPr>
        <p:spPr>
          <a:xfrm rot="600000">
            <a:off x="2811867" y="4043544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31" name="New RBC CD47"/>
          <p:cNvSpPr/>
          <p:nvPr/>
        </p:nvSpPr>
        <p:spPr>
          <a:xfrm>
            <a:off x="2739345" y="4183331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32" name="New RBC CD47 stalk"/>
          <p:cNvSpPr/>
          <p:nvPr/>
        </p:nvSpPr>
        <p:spPr>
          <a:xfrm rot="2142857">
            <a:off x="2369377" y="3857019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33" name="New RBC CD47"/>
          <p:cNvSpPr/>
          <p:nvPr/>
        </p:nvSpPr>
        <p:spPr>
          <a:xfrm>
            <a:off x="2244357" y="3974676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34" name="New RBC CD47 stalk"/>
          <p:cNvSpPr/>
          <p:nvPr/>
        </p:nvSpPr>
        <p:spPr>
          <a:xfrm rot="3685714">
            <a:off x="2051638" y="3496976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35" name="New RBC CD47"/>
          <p:cNvSpPr/>
          <p:nvPr/>
        </p:nvSpPr>
        <p:spPr>
          <a:xfrm>
            <a:off x="1888920" y="3571916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36" name="New RBC CD47 stalk"/>
          <p:cNvSpPr/>
          <p:nvPr/>
        </p:nvSpPr>
        <p:spPr>
          <a:xfrm rot="5228571">
            <a:off x="1921581" y="3034727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37" name="New RBC CD47"/>
          <p:cNvSpPr/>
          <p:nvPr/>
        </p:nvSpPr>
        <p:spPr>
          <a:xfrm>
            <a:off x="1743432" y="3054824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38" name="New RBC CD47 stalk"/>
          <p:cNvSpPr/>
          <p:nvPr/>
        </p:nvSpPr>
        <p:spPr>
          <a:xfrm rot="6771429">
            <a:off x="2004967" y="2561826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39" name="New RBC CD47"/>
          <p:cNvSpPr/>
          <p:nvPr/>
        </p:nvSpPr>
        <p:spPr>
          <a:xfrm>
            <a:off x="1836711" y="2525816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40" name="New RBC CD47 stalk"/>
          <p:cNvSpPr/>
          <p:nvPr/>
        </p:nvSpPr>
        <p:spPr>
          <a:xfrm rot="8314286">
            <a:off x="2285278" y="2171936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41" name="New RBC CD47"/>
          <p:cNvSpPr/>
          <p:nvPr/>
        </p:nvSpPr>
        <p:spPr>
          <a:xfrm>
            <a:off x="2150280" y="2089668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42" name="New RBC CD47 stalk"/>
          <p:cNvSpPr/>
          <p:nvPr/>
        </p:nvSpPr>
        <p:spPr>
          <a:xfrm rot="9857143">
            <a:off x="2706997" y="1942280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43" name="New RBC CD47"/>
          <p:cNvSpPr/>
          <p:nvPr/>
        </p:nvSpPr>
        <p:spPr>
          <a:xfrm>
            <a:off x="2622033" y="1832765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44" name="New RBC eat-me (inner)"/>
          <p:cNvSpPr/>
          <p:nvPr/>
        </p:nvSpPr>
        <p:spPr>
          <a:xfrm rot="17400000">
            <a:off x="3211883" y="2237964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45" name="New RBC eat-me (inner)"/>
          <p:cNvSpPr/>
          <p:nvPr/>
        </p:nvSpPr>
        <p:spPr>
          <a:xfrm rot="18942857">
            <a:off x="3509288" y="2430049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46" name="New RBC eat-me (inner)"/>
          <p:cNvSpPr/>
          <p:nvPr/>
        </p:nvSpPr>
        <p:spPr>
          <a:xfrm rot="20485714">
            <a:off x="3693899" y="2732151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47" name="New RBC eat-me (inner)"/>
          <p:cNvSpPr/>
          <p:nvPr/>
        </p:nvSpPr>
        <p:spPr>
          <a:xfrm rot="428571">
            <a:off x="3729150" y="3084435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48" name="New RBC eat-me (inner)"/>
          <p:cNvSpPr/>
          <p:nvPr/>
        </p:nvSpPr>
        <p:spPr>
          <a:xfrm rot="1971429">
            <a:off x="3608060" y="3417127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49" name="New RBC eat-me (inner)"/>
          <p:cNvSpPr/>
          <p:nvPr/>
        </p:nvSpPr>
        <p:spPr>
          <a:xfrm rot="3514286">
            <a:off x="3354612" y="3664333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0" name="New RBC eat-me (inner)"/>
          <p:cNvSpPr/>
          <p:nvPr/>
        </p:nvSpPr>
        <p:spPr>
          <a:xfrm rot="5057143">
            <a:off x="3019005" y="3777091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1" name="New RBC eat-me (inner)"/>
          <p:cNvSpPr/>
          <p:nvPr/>
        </p:nvSpPr>
        <p:spPr>
          <a:xfrm rot="6600000">
            <a:off x="2667709" y="3733068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2" name="New RBC eat-me (inner)"/>
          <p:cNvSpPr/>
          <p:nvPr/>
        </p:nvSpPr>
        <p:spPr>
          <a:xfrm rot="8142857">
            <a:off x="2370304" y="3540983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3" name="New RBC eat-me (inner)"/>
          <p:cNvSpPr/>
          <p:nvPr/>
        </p:nvSpPr>
        <p:spPr>
          <a:xfrm rot="9685714">
            <a:off x="2185693" y="3238881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4" name="New RBC eat-me (inner)"/>
          <p:cNvSpPr/>
          <p:nvPr/>
        </p:nvSpPr>
        <p:spPr>
          <a:xfrm rot="11228571">
            <a:off x="2150442" y="2886597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5" name="New RBC eat-me (inner)"/>
          <p:cNvSpPr/>
          <p:nvPr/>
        </p:nvSpPr>
        <p:spPr>
          <a:xfrm rot="12771429">
            <a:off x="2271532" y="2553905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6" name="New RBC eat-me (inner)"/>
          <p:cNvSpPr/>
          <p:nvPr/>
        </p:nvSpPr>
        <p:spPr>
          <a:xfrm rot="14314286">
            <a:off x="2524980" y="2306699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7" name="New RBC eat-me (inner)"/>
          <p:cNvSpPr/>
          <p:nvPr/>
        </p:nvSpPr>
        <p:spPr>
          <a:xfrm rot="15857143">
            <a:off x="2860587" y="2193941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58" name="New RBC heading"/>
          <p:cNvSpPr txBox="1"/>
          <p:nvPr/>
        </p:nvSpPr>
        <p:spPr>
          <a:xfrm>
            <a:off x="1508760" y="1325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RBC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Day 0  |  leaving the marrow</a:t>
            </a:r>
            <a:endParaRPr lang="en-US" sz="1700" dirty="0"/>
          </a:p>
        </p:txBody>
      </p:sp>
      <p:sp>
        <p:nvSpPr>
          <p:cNvPr id="59" name="New RBC summary"/>
          <p:cNvSpPr txBox="1"/>
          <p:nvPr/>
        </p:nvSpPr>
        <p:spPr>
          <a:xfrm>
            <a:off x="150876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Membrane intact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CD47 high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Eat-me signals on inner leaflet only</a:t>
            </a:r>
            <a:endParaRPr lang="en-US" sz="1400" dirty="0"/>
          </a:p>
        </p:txBody>
      </p:sp>
      <p:sp>
        <p:nvSpPr>
          <p:cNvPr id="60" name="Intermediate RBC cytoplasm"/>
          <p:cNvSpPr/>
          <p:nvPr/>
        </p:nvSpPr>
        <p:spPr>
          <a:xfrm>
            <a:off x="5532120" y="2194560"/>
            <a:ext cx="1737360" cy="1737360"/>
          </a:xfrm>
          <a:prstGeom prst="ellipse">
            <a:avLst/>
          </a:prstGeom>
          <a:solidFill>
            <a:srgbClr val="B11A1A"/>
          </a:solidFill>
          <a:ln/>
        </p:spPr>
      </p:sp>
      <p:sp>
        <p:nvSpPr>
          <p:cNvPr id="61" name="Intermediate RBC central pallor"/>
          <p:cNvSpPr/>
          <p:nvPr/>
        </p:nvSpPr>
        <p:spPr>
          <a:xfrm>
            <a:off x="5997550" y="2659990"/>
            <a:ext cx="806501" cy="806501"/>
          </a:xfrm>
          <a:prstGeom prst="ellipse">
            <a:avLst/>
          </a:prstGeom>
          <a:solidFill>
            <a:srgbClr val="D66A6A"/>
          </a:solidFill>
          <a:ln/>
        </p:spPr>
      </p:sp>
      <p:sp>
        <p:nvSpPr>
          <p:cNvPr id="62" name="Intermediate RBC outer leaflet 1"/>
          <p:cNvSpPr/>
          <p:nvPr/>
        </p:nvSpPr>
        <p:spPr>
          <a:xfrm>
            <a:off x="5440680" y="2103120"/>
            <a:ext cx="1920240" cy="1920240"/>
          </a:xfrm>
          <a:prstGeom prst="blockArc">
            <a:avLst>
              <a:gd name="adj1" fmla="val 2520000"/>
              <a:gd name="adj2" fmla="val 9240000"/>
              <a:gd name="adj3" fmla="val 3571"/>
            </a:avLst>
          </a:prstGeom>
          <a:solidFill>
            <a:srgbClr val="3B3B3B"/>
          </a:solidFill>
          <a:ln/>
        </p:spPr>
      </p:sp>
      <p:sp>
        <p:nvSpPr>
          <p:cNvPr id="63" name="Intermediate RBC inner leaflet 1"/>
          <p:cNvSpPr/>
          <p:nvPr/>
        </p:nvSpPr>
        <p:spPr>
          <a:xfrm>
            <a:off x="5509260" y="2171700"/>
            <a:ext cx="1783080" cy="1783080"/>
          </a:xfrm>
          <a:prstGeom prst="blockArc">
            <a:avLst>
              <a:gd name="adj1" fmla="val 2520000"/>
              <a:gd name="adj2" fmla="val 9240000"/>
              <a:gd name="adj3" fmla="val 3846"/>
            </a:avLst>
          </a:prstGeom>
          <a:solidFill>
            <a:srgbClr val="8FA7B0"/>
          </a:solidFill>
          <a:ln/>
        </p:spPr>
      </p:sp>
      <p:sp>
        <p:nvSpPr>
          <p:cNvPr id="64" name="Intermediate RBC outer leaflet 2"/>
          <p:cNvSpPr/>
          <p:nvPr/>
        </p:nvSpPr>
        <p:spPr>
          <a:xfrm>
            <a:off x="5440680" y="2103120"/>
            <a:ext cx="1920240" cy="1920240"/>
          </a:xfrm>
          <a:prstGeom prst="blockArc">
            <a:avLst>
              <a:gd name="adj1" fmla="val 9960000"/>
              <a:gd name="adj2" fmla="val 16620000"/>
              <a:gd name="adj3" fmla="val 3571"/>
            </a:avLst>
          </a:prstGeom>
          <a:solidFill>
            <a:srgbClr val="3B3B3B"/>
          </a:solidFill>
          <a:ln/>
        </p:spPr>
      </p:sp>
      <p:sp>
        <p:nvSpPr>
          <p:cNvPr id="65" name="Intermediate RBC inner leaflet 2"/>
          <p:cNvSpPr/>
          <p:nvPr/>
        </p:nvSpPr>
        <p:spPr>
          <a:xfrm>
            <a:off x="5509260" y="2171700"/>
            <a:ext cx="1783080" cy="1783080"/>
          </a:xfrm>
          <a:prstGeom prst="blockArc">
            <a:avLst>
              <a:gd name="adj1" fmla="val 9960000"/>
              <a:gd name="adj2" fmla="val 16620000"/>
              <a:gd name="adj3" fmla="val 3846"/>
            </a:avLst>
          </a:prstGeom>
          <a:solidFill>
            <a:srgbClr val="8FA7B0"/>
          </a:solidFill>
          <a:ln/>
        </p:spPr>
      </p:sp>
      <p:sp>
        <p:nvSpPr>
          <p:cNvPr id="66" name="Intermediate RBC outer leaflet 3"/>
          <p:cNvSpPr/>
          <p:nvPr/>
        </p:nvSpPr>
        <p:spPr>
          <a:xfrm>
            <a:off x="5440680" y="2103120"/>
            <a:ext cx="1920240" cy="1920240"/>
          </a:xfrm>
          <a:prstGeom prst="blockArc">
            <a:avLst>
              <a:gd name="adj1" fmla="val 17580000"/>
              <a:gd name="adj2" fmla="val 1680000"/>
              <a:gd name="adj3" fmla="val 3571"/>
            </a:avLst>
          </a:prstGeom>
          <a:solidFill>
            <a:srgbClr val="3B3B3B"/>
          </a:solidFill>
          <a:ln/>
        </p:spPr>
      </p:sp>
      <p:sp>
        <p:nvSpPr>
          <p:cNvPr id="67" name="Intermediate RBC inner leaflet 3"/>
          <p:cNvSpPr/>
          <p:nvPr/>
        </p:nvSpPr>
        <p:spPr>
          <a:xfrm>
            <a:off x="5509260" y="2171700"/>
            <a:ext cx="1783080" cy="1783080"/>
          </a:xfrm>
          <a:prstGeom prst="blockArc">
            <a:avLst>
              <a:gd name="adj1" fmla="val 17580000"/>
              <a:gd name="adj2" fmla="val 1680000"/>
              <a:gd name="adj3" fmla="val 3846"/>
            </a:avLst>
          </a:prstGeom>
          <a:solidFill>
            <a:srgbClr val="8FA7B0"/>
          </a:solidFill>
          <a:ln/>
        </p:spPr>
      </p:sp>
      <p:sp>
        <p:nvSpPr>
          <p:cNvPr id="68" name="Intermediate RBC eat-me (outer)"/>
          <p:cNvSpPr/>
          <p:nvPr/>
        </p:nvSpPr>
        <p:spPr>
          <a:xfrm rot="3495000">
            <a:off x="6852363" y="3840834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69" name="Intermediate RBC CD47 stalk"/>
          <p:cNvSpPr/>
          <p:nvPr/>
        </p:nvSpPr>
        <p:spPr>
          <a:xfrm rot="-435000">
            <a:off x="6512910" y="4005955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70" name="Intermediate RBC CD47"/>
          <p:cNvSpPr/>
          <p:nvPr/>
        </p:nvSpPr>
        <p:spPr>
          <a:xfrm>
            <a:off x="6478773" y="4146663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71" name="Intermediate RBC eat-me (outer)"/>
          <p:cNvSpPr/>
          <p:nvPr/>
        </p:nvSpPr>
        <p:spPr>
          <a:xfrm rot="6435000">
            <a:off x="6024803" y="3946113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72" name="Intermediate RBC CD47 stalk"/>
          <p:cNvSpPr/>
          <p:nvPr/>
        </p:nvSpPr>
        <p:spPr>
          <a:xfrm rot="2505000">
            <a:off x="5694475" y="3751824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73" name="Intermediate RBC CD47"/>
          <p:cNvSpPr/>
          <p:nvPr/>
        </p:nvSpPr>
        <p:spPr>
          <a:xfrm>
            <a:off x="5558940" y="3861047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74" name="Intermediate RBC eat-me (outer)"/>
          <p:cNvSpPr/>
          <p:nvPr/>
        </p:nvSpPr>
        <p:spPr>
          <a:xfrm rot="10575000">
            <a:off x="5319390" y="3051301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75" name="Intermediate RBC CD47 stalk"/>
          <p:cNvSpPr/>
          <p:nvPr/>
        </p:nvSpPr>
        <p:spPr>
          <a:xfrm rot="6645000">
            <a:off x="5416263" y="2614865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76" name="Intermediate RBC CD47"/>
          <p:cNvSpPr/>
          <p:nvPr/>
        </p:nvSpPr>
        <p:spPr>
          <a:xfrm>
            <a:off x="5246259" y="2583226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77" name="Intermediate RBC CD47 stalk"/>
          <p:cNvSpPr/>
          <p:nvPr/>
        </p:nvSpPr>
        <p:spPr>
          <a:xfrm rot="8115000">
            <a:off x="5655073" y="2247129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78" name="Intermediate RBC CD47"/>
          <p:cNvSpPr/>
          <p:nvPr/>
        </p:nvSpPr>
        <p:spPr>
          <a:xfrm>
            <a:off x="5514656" y="2169930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79" name="Intermediate RBC eat-me (outer)"/>
          <p:cNvSpPr/>
          <p:nvPr/>
        </p:nvSpPr>
        <p:spPr>
          <a:xfrm rot="14985000">
            <a:off x="5974938" y="2041846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80" name="Intermediate RBC CD47 stalk"/>
          <p:cNvSpPr/>
          <p:nvPr/>
        </p:nvSpPr>
        <p:spPr>
          <a:xfrm rot="12495000">
            <a:off x="6871580" y="2070744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81" name="Intermediate RBC CD47"/>
          <p:cNvSpPr/>
          <p:nvPr/>
        </p:nvSpPr>
        <p:spPr>
          <a:xfrm>
            <a:off x="6881880" y="1971692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82" name="Intermediate RBC eat-me (outer)"/>
          <p:cNvSpPr/>
          <p:nvPr/>
        </p:nvSpPr>
        <p:spPr>
          <a:xfrm rot="19365000">
            <a:off x="7123727" y="2376687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83" name="Intermediate RBC CD47 stalk"/>
          <p:cNvSpPr/>
          <p:nvPr/>
        </p:nvSpPr>
        <p:spPr>
          <a:xfrm rot="15435000">
            <a:off x="7390306" y="2752904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84" name="Intermediate RBC CD47"/>
          <p:cNvSpPr/>
          <p:nvPr/>
        </p:nvSpPr>
        <p:spPr>
          <a:xfrm>
            <a:off x="7464873" y="2738367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85" name="Intermediate RBC CD47 stalk"/>
          <p:cNvSpPr/>
          <p:nvPr/>
        </p:nvSpPr>
        <p:spPr>
          <a:xfrm rot="-4695000">
            <a:off x="7394132" y="3191361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86" name="Intermediate RBC CD47"/>
          <p:cNvSpPr/>
          <p:nvPr/>
        </p:nvSpPr>
        <p:spPr>
          <a:xfrm>
            <a:off x="7469174" y="3231147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87" name="Intermediate RBC eat-me (inner)"/>
          <p:cNvSpPr/>
          <p:nvPr/>
        </p:nvSpPr>
        <p:spPr>
          <a:xfrm rot="3642000">
            <a:off x="6690019" y="3639401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88" name="Intermediate RBC eat-me (inner)"/>
          <p:cNvSpPr/>
          <p:nvPr/>
        </p:nvSpPr>
        <p:spPr>
          <a:xfrm rot="5406000">
            <a:off x="6321767" y="3735323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89" name="Intermediate RBC eat-me (inner)"/>
          <p:cNvSpPr/>
          <p:nvPr/>
        </p:nvSpPr>
        <p:spPr>
          <a:xfrm rot="7170000">
            <a:off x="5953853" y="3638116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0" name="Intermediate RBC eat-me (inner)"/>
          <p:cNvSpPr/>
          <p:nvPr/>
        </p:nvSpPr>
        <p:spPr>
          <a:xfrm rot="8934000">
            <a:off x="5681040" y="3372817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1" name="Intermediate RBC eat-me (inner)"/>
          <p:cNvSpPr/>
          <p:nvPr/>
        </p:nvSpPr>
        <p:spPr>
          <a:xfrm rot="11898000">
            <a:off x="5611189" y="2750082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2" name="Intermediate RBC eat-me (inner)"/>
          <p:cNvSpPr/>
          <p:nvPr/>
        </p:nvSpPr>
        <p:spPr>
          <a:xfrm rot="13662000">
            <a:off x="5818446" y="2430935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3" name="Intermediate RBC eat-me (inner)"/>
          <p:cNvSpPr/>
          <p:nvPr/>
        </p:nvSpPr>
        <p:spPr>
          <a:xfrm rot="15426000">
            <a:off x="6155681" y="2254632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4" name="Intermediate RBC eat-me (inner)"/>
          <p:cNvSpPr/>
          <p:nvPr/>
        </p:nvSpPr>
        <p:spPr>
          <a:xfrm rot="18630000">
            <a:off x="6810037" y="2415358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5" name="Intermediate RBC eat-me (inner)"/>
          <p:cNvSpPr/>
          <p:nvPr/>
        </p:nvSpPr>
        <p:spPr>
          <a:xfrm rot="20394000">
            <a:off x="7027216" y="2727837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6" name="Intermediate RBC eat-me (inner)"/>
          <p:cNvSpPr/>
          <p:nvPr/>
        </p:nvSpPr>
        <p:spPr>
          <a:xfrm rot="558000">
            <a:off x="7063028" y="3106688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97" name="Intermediate RBC heading"/>
          <p:cNvSpPr txBox="1"/>
          <p:nvPr/>
        </p:nvSpPr>
        <p:spPr>
          <a:xfrm>
            <a:off x="4892040" y="1325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Intermediate-Age RBC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Mid-circulation</a:t>
            </a:r>
            <a:endParaRPr lang="en-US" sz="1700" dirty="0"/>
          </a:p>
        </p:txBody>
      </p:sp>
      <p:sp>
        <p:nvSpPr>
          <p:cNvPr id="98" name="Intermediate RBC summary"/>
          <p:cNvSpPr txBox="1"/>
          <p:nvPr/>
        </p:nvSpPr>
        <p:spPr>
          <a:xfrm>
            <a:off x="489204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Membrane partially open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CD47 reduced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Eat-me mostly inner, some outer</a:t>
            </a:r>
            <a:endParaRPr lang="en-US" sz="1400" dirty="0"/>
          </a:p>
        </p:txBody>
      </p:sp>
      <p:sp>
        <p:nvSpPr>
          <p:cNvPr id="99" name="Senescent RBC cytoplasm"/>
          <p:cNvSpPr/>
          <p:nvPr/>
        </p:nvSpPr>
        <p:spPr>
          <a:xfrm>
            <a:off x="8979408" y="2258568"/>
            <a:ext cx="1609344" cy="1609344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100" name="Senescent RBC central pallor"/>
          <p:cNvSpPr/>
          <p:nvPr/>
        </p:nvSpPr>
        <p:spPr>
          <a:xfrm>
            <a:off x="9407713" y="2686873"/>
            <a:ext cx="752734" cy="752734"/>
          </a:xfrm>
          <a:prstGeom prst="ellipse">
            <a:avLst/>
          </a:prstGeom>
          <a:solidFill>
            <a:srgbClr val="C48A8A"/>
          </a:solidFill>
          <a:ln/>
        </p:spPr>
      </p:sp>
      <p:sp>
        <p:nvSpPr>
          <p:cNvPr id="101" name="Senescent RBC outer leaflet 1"/>
          <p:cNvSpPr/>
          <p:nvPr/>
        </p:nvSpPr>
        <p:spPr>
          <a:xfrm>
            <a:off x="8887968" y="2167128"/>
            <a:ext cx="1792224" cy="1792224"/>
          </a:xfrm>
          <a:prstGeom prst="blockArc">
            <a:avLst>
              <a:gd name="adj1" fmla="val 1680000"/>
              <a:gd name="adj2" fmla="val 5040000"/>
              <a:gd name="adj3" fmla="val 3827"/>
            </a:avLst>
          </a:prstGeom>
          <a:solidFill>
            <a:srgbClr val="3B3B3B"/>
          </a:solidFill>
          <a:ln/>
        </p:spPr>
      </p:sp>
      <p:sp>
        <p:nvSpPr>
          <p:cNvPr id="102" name="Senescent RBC inner leaflet 1"/>
          <p:cNvSpPr/>
          <p:nvPr/>
        </p:nvSpPr>
        <p:spPr>
          <a:xfrm>
            <a:off x="8956548" y="2235708"/>
            <a:ext cx="1655064" cy="1655064"/>
          </a:xfrm>
          <a:prstGeom prst="blockArc">
            <a:avLst>
              <a:gd name="adj1" fmla="val 1680000"/>
              <a:gd name="adj2" fmla="val 5040000"/>
              <a:gd name="adj3" fmla="val 4144"/>
            </a:avLst>
          </a:prstGeom>
          <a:solidFill>
            <a:srgbClr val="8FA7B0"/>
          </a:solidFill>
          <a:ln/>
        </p:spPr>
      </p:sp>
      <p:sp>
        <p:nvSpPr>
          <p:cNvPr id="103" name="Senescent RBC outer leaflet 2"/>
          <p:cNvSpPr/>
          <p:nvPr/>
        </p:nvSpPr>
        <p:spPr>
          <a:xfrm>
            <a:off x="8887968" y="2167128"/>
            <a:ext cx="1792224" cy="1792224"/>
          </a:xfrm>
          <a:prstGeom prst="blockArc">
            <a:avLst>
              <a:gd name="adj1" fmla="val 6360000"/>
              <a:gd name="adj2" fmla="val 9360000"/>
              <a:gd name="adj3" fmla="val 3827"/>
            </a:avLst>
          </a:prstGeom>
          <a:solidFill>
            <a:srgbClr val="3B3B3B"/>
          </a:solidFill>
          <a:ln/>
        </p:spPr>
      </p:sp>
      <p:sp>
        <p:nvSpPr>
          <p:cNvPr id="104" name="Senescent RBC inner leaflet 2"/>
          <p:cNvSpPr/>
          <p:nvPr/>
        </p:nvSpPr>
        <p:spPr>
          <a:xfrm>
            <a:off x="8956548" y="2235708"/>
            <a:ext cx="1655064" cy="1655064"/>
          </a:xfrm>
          <a:prstGeom prst="blockArc">
            <a:avLst>
              <a:gd name="adj1" fmla="val 6360000"/>
              <a:gd name="adj2" fmla="val 9360000"/>
              <a:gd name="adj3" fmla="val 4144"/>
            </a:avLst>
          </a:prstGeom>
          <a:solidFill>
            <a:srgbClr val="8FA7B0"/>
          </a:solidFill>
          <a:ln/>
        </p:spPr>
      </p:sp>
      <p:sp>
        <p:nvSpPr>
          <p:cNvPr id="105" name="Senescent RBC outer leaflet 3"/>
          <p:cNvSpPr/>
          <p:nvPr/>
        </p:nvSpPr>
        <p:spPr>
          <a:xfrm>
            <a:off x="8887968" y="2167128"/>
            <a:ext cx="1792224" cy="1792224"/>
          </a:xfrm>
          <a:prstGeom prst="blockArc">
            <a:avLst>
              <a:gd name="adj1" fmla="val 11040000"/>
              <a:gd name="adj2" fmla="val 13800000"/>
              <a:gd name="adj3" fmla="val 3827"/>
            </a:avLst>
          </a:prstGeom>
          <a:solidFill>
            <a:srgbClr val="3B3B3B"/>
          </a:solidFill>
          <a:ln/>
        </p:spPr>
      </p:sp>
      <p:sp>
        <p:nvSpPr>
          <p:cNvPr id="106" name="Senescent RBC inner leaflet 3"/>
          <p:cNvSpPr/>
          <p:nvPr/>
        </p:nvSpPr>
        <p:spPr>
          <a:xfrm>
            <a:off x="8956548" y="2235708"/>
            <a:ext cx="1655064" cy="1655064"/>
          </a:xfrm>
          <a:prstGeom prst="blockArc">
            <a:avLst>
              <a:gd name="adj1" fmla="val 11040000"/>
              <a:gd name="adj2" fmla="val 13800000"/>
              <a:gd name="adj3" fmla="val 4144"/>
            </a:avLst>
          </a:prstGeom>
          <a:solidFill>
            <a:srgbClr val="8FA7B0"/>
          </a:solidFill>
          <a:ln/>
        </p:spPr>
      </p:sp>
      <p:sp>
        <p:nvSpPr>
          <p:cNvPr id="107" name="Senescent RBC outer leaflet 4"/>
          <p:cNvSpPr/>
          <p:nvPr/>
        </p:nvSpPr>
        <p:spPr>
          <a:xfrm>
            <a:off x="8887968" y="2167128"/>
            <a:ext cx="1792224" cy="1792224"/>
          </a:xfrm>
          <a:prstGeom prst="blockArc">
            <a:avLst>
              <a:gd name="adj1" fmla="val 15000000"/>
              <a:gd name="adj2" fmla="val 17880000"/>
              <a:gd name="adj3" fmla="val 3827"/>
            </a:avLst>
          </a:prstGeom>
          <a:solidFill>
            <a:srgbClr val="3B3B3B"/>
          </a:solidFill>
          <a:ln/>
        </p:spPr>
      </p:sp>
      <p:sp>
        <p:nvSpPr>
          <p:cNvPr id="108" name="Senescent RBC inner leaflet 4"/>
          <p:cNvSpPr/>
          <p:nvPr/>
        </p:nvSpPr>
        <p:spPr>
          <a:xfrm>
            <a:off x="8956548" y="2235708"/>
            <a:ext cx="1655064" cy="1655064"/>
          </a:xfrm>
          <a:prstGeom prst="blockArc">
            <a:avLst>
              <a:gd name="adj1" fmla="val 15000000"/>
              <a:gd name="adj2" fmla="val 17880000"/>
              <a:gd name="adj3" fmla="val 4144"/>
            </a:avLst>
          </a:prstGeom>
          <a:solidFill>
            <a:srgbClr val="8FA7B0"/>
          </a:solidFill>
          <a:ln/>
        </p:spPr>
      </p:sp>
      <p:sp>
        <p:nvSpPr>
          <p:cNvPr id="109" name="Senescent RBC outer leaflet 5"/>
          <p:cNvSpPr/>
          <p:nvPr/>
        </p:nvSpPr>
        <p:spPr>
          <a:xfrm>
            <a:off x="8887968" y="2167128"/>
            <a:ext cx="1792224" cy="1792224"/>
          </a:xfrm>
          <a:prstGeom prst="blockArc">
            <a:avLst>
              <a:gd name="adj1" fmla="val 19320000"/>
              <a:gd name="adj2" fmla="val 120000"/>
              <a:gd name="adj3" fmla="val 3827"/>
            </a:avLst>
          </a:prstGeom>
          <a:solidFill>
            <a:srgbClr val="3B3B3B"/>
          </a:solidFill>
          <a:ln/>
        </p:spPr>
      </p:sp>
      <p:sp>
        <p:nvSpPr>
          <p:cNvPr id="110" name="Senescent RBC inner leaflet 5"/>
          <p:cNvSpPr/>
          <p:nvPr/>
        </p:nvSpPr>
        <p:spPr>
          <a:xfrm>
            <a:off x="8956548" y="2235708"/>
            <a:ext cx="1655064" cy="1655064"/>
          </a:xfrm>
          <a:prstGeom prst="blockArc">
            <a:avLst>
              <a:gd name="adj1" fmla="val 19320000"/>
              <a:gd name="adj2" fmla="val 120000"/>
              <a:gd name="adj3" fmla="val 4144"/>
            </a:avLst>
          </a:prstGeom>
          <a:solidFill>
            <a:srgbClr val="8FA7B0"/>
          </a:solidFill>
          <a:ln/>
        </p:spPr>
      </p:sp>
      <p:sp>
        <p:nvSpPr>
          <p:cNvPr id="111" name="Senescent RBC eat-me (outer)"/>
          <p:cNvSpPr/>
          <p:nvPr/>
        </p:nvSpPr>
        <p:spPr>
          <a:xfrm rot="2320000">
            <a:off x="10441733" y="3573962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12" name="Senescent RBC eat-me (outer)"/>
          <p:cNvSpPr/>
          <p:nvPr/>
        </p:nvSpPr>
        <p:spPr>
          <a:xfrm rot="3120000">
            <a:off x="10286206" y="3727690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13" name="Senescent RBC eat-me (outer)"/>
          <p:cNvSpPr/>
          <p:nvPr/>
        </p:nvSpPr>
        <p:spPr>
          <a:xfrm rot="3920000">
            <a:off x="10099419" y="3841407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14" name="Senescent RBC eat-me (outer)"/>
          <p:cNvSpPr/>
          <p:nvPr/>
        </p:nvSpPr>
        <p:spPr>
          <a:xfrm rot="4720000">
            <a:off x="9891442" y="3908983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15" name="Senescent RBC eat-me (outer)"/>
          <p:cNvSpPr/>
          <p:nvPr/>
        </p:nvSpPr>
        <p:spPr>
          <a:xfrm rot="7320000">
            <a:off x="9207261" y="3784235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16" name="Senescent RBC eat-me (outer)"/>
          <p:cNvSpPr/>
          <p:nvPr/>
        </p:nvSpPr>
        <p:spPr>
          <a:xfrm rot="8120000">
            <a:off x="9036517" y="3647606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17" name="Senescent RBC eat-me (outer)"/>
          <p:cNvSpPr/>
          <p:nvPr/>
        </p:nvSpPr>
        <p:spPr>
          <a:xfrm rot="8920000">
            <a:off x="8901884" y="3475284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18" name="Senescent RBC CD47 stalk"/>
          <p:cNvSpPr/>
          <p:nvPr/>
        </p:nvSpPr>
        <p:spPr>
          <a:xfrm rot="6480000">
            <a:off x="8843967" y="2681425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119" name="Senescent RBC CD47"/>
          <p:cNvSpPr/>
          <p:nvPr/>
        </p:nvSpPr>
        <p:spPr>
          <a:xfrm>
            <a:off x="8671925" y="2655582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120" name="Senescent RBC eat-me (outer)"/>
          <p:cNvSpPr/>
          <p:nvPr/>
        </p:nvSpPr>
        <p:spPr>
          <a:xfrm rot="12680000">
            <a:off x="8901884" y="2495748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21" name="Senescent RBC eat-me (outer)"/>
          <p:cNvSpPr/>
          <p:nvPr/>
        </p:nvSpPr>
        <p:spPr>
          <a:xfrm rot="13480000">
            <a:off x="9036517" y="2323426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22" name="Senescent RBC eat-me (outer)"/>
          <p:cNvSpPr/>
          <p:nvPr/>
        </p:nvSpPr>
        <p:spPr>
          <a:xfrm rot="15960000">
            <a:off x="9640657" y="2045978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23" name="Senescent RBC eat-me (outer)"/>
          <p:cNvSpPr/>
          <p:nvPr/>
        </p:nvSpPr>
        <p:spPr>
          <a:xfrm rot="16760000">
            <a:off x="9859100" y="2056152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24" name="Senescent RBC eat-me (outer)"/>
          <p:cNvSpPr/>
          <p:nvPr/>
        </p:nvSpPr>
        <p:spPr>
          <a:xfrm rot="17560000">
            <a:off x="10069309" y="2116429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25" name="Senescent RBC eat-me (outer)"/>
          <p:cNvSpPr/>
          <p:nvPr/>
        </p:nvSpPr>
        <p:spPr>
          <a:xfrm rot="20280000">
            <a:off x="10579607" y="2632700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26" name="Senescent RBC CD47 stalk"/>
          <p:cNvSpPr/>
          <p:nvPr/>
        </p:nvSpPr>
        <p:spPr>
          <a:xfrm rot="15680000">
            <a:off x="10723989" y="2834890"/>
            <a:ext cx="36576" cy="164592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127" name="Senescent RBC CD47"/>
          <p:cNvSpPr/>
          <p:nvPr/>
        </p:nvSpPr>
        <p:spPr>
          <a:xfrm>
            <a:off x="10800251" y="2829316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128" name="Senescent RBC eat-me (inner)"/>
          <p:cNvSpPr/>
          <p:nvPr/>
        </p:nvSpPr>
        <p:spPr>
          <a:xfrm rot="3920000">
            <a:off x="9992567" y="3608738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29" name="Senescent RBC eat-me (inner)"/>
          <p:cNvSpPr/>
          <p:nvPr/>
        </p:nvSpPr>
        <p:spPr>
          <a:xfrm rot="11880000">
            <a:off x="9054121" y="2773592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30" name="Senescent RBC eat-me (inner)"/>
          <p:cNvSpPr/>
          <p:nvPr/>
        </p:nvSpPr>
        <p:spPr>
          <a:xfrm rot="17560000">
            <a:off x="9970642" y="2352686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31" name="Senescent RBC heading"/>
          <p:cNvSpPr txBox="1"/>
          <p:nvPr/>
        </p:nvSpPr>
        <p:spPr>
          <a:xfrm>
            <a:off x="8275320" y="1325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Senescent RBC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~Day 120  |  end of lifespan</a:t>
            </a:r>
            <a:endParaRPr lang="en-US" sz="1700" dirty="0"/>
          </a:p>
        </p:txBody>
      </p:sp>
      <p:sp>
        <p:nvSpPr>
          <p:cNvPr id="132" name="Senescent RBC summary"/>
          <p:cNvSpPr txBox="1"/>
          <p:nvPr/>
        </p:nvSpPr>
        <p:spPr>
          <a:xfrm>
            <a:off x="827532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Membrane degenerated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CD47 minimal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Eat-me predominantly outer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621792" y="5824728"/>
            <a:ext cx="36576" cy="146304"/>
          </a:xfrm>
          <a:prstGeom prst="rect">
            <a:avLst/>
          </a:prstGeom>
          <a:solidFill>
            <a:srgbClr val="1E5E3A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71500" y="5705856"/>
            <a:ext cx="137160" cy="137160"/>
          </a:xfrm>
          <a:prstGeom prst="ellipse">
            <a:avLst/>
          </a:prstGeom>
          <a:solidFill>
            <a:srgbClr val="2E8B57"/>
          </a:solidFill>
          <a:ln w="9525">
            <a:solidFill>
              <a:srgbClr val="1E5E3A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68680" y="5705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CD47 (“don’t eat me”)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3337560" y="5774436"/>
            <a:ext cx="155448" cy="15544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3611880" y="5705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“Eat me” protein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5532120" y="5779008"/>
            <a:ext cx="274320" cy="73152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532120" y="5852160"/>
            <a:ext cx="274320" cy="73152"/>
          </a:xfrm>
          <a:prstGeom prst="rect">
            <a:avLst/>
          </a:prstGeom>
          <a:solidFill>
            <a:srgbClr val="8FA7B0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5897880" y="5705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Outer / inner membrane leaflet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8778240" y="5705856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Direction of aging in circulation →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of Utah Neurosurgery">
  <a:themeElements>
    <a:clrScheme name="University of Utah Neurosurgery">
      <a:dk1>
        <a:srgbClr val="1A1A1A"/>
      </a:dk1>
      <a:lt1>
        <a:srgbClr val="FFFFFF"/>
      </a:lt1>
      <a:dk2>
        <a:srgbClr val="3B3B3B"/>
      </a:dk2>
      <a:lt2>
        <a:srgbClr val="EEF0F0"/>
      </a:lt2>
      <a:accent1>
        <a:srgbClr val="BE0000"/>
      </a:accent1>
      <a:accent2>
        <a:srgbClr val="890000"/>
      </a:accent2>
      <a:accent3>
        <a:srgbClr val="708E99"/>
      </a:accent3>
      <a:accent4>
        <a:srgbClr val="5B6770"/>
      </a:accent4>
      <a:accent5>
        <a:srgbClr val="FFB81D"/>
      </a:accent5>
      <a:accent6>
        <a:srgbClr val="A7A8AA"/>
      </a:accent6>
      <a:hlink>
        <a:srgbClr val="BE0000"/>
      </a:hlink>
      <a:folHlink>
        <a:srgbClr val="890000"/>
      </a:folHlink>
    </a:clrScheme>
    <a:fontScheme name="University of Utah Neurosurge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University of Utah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Neurosurgery Grand Rounds</dc:title>
  <dc:subject>PptxGenJS Presentation</dc:subject>
  <dc:creator>Department of Neurosurgery, University of Utah Health</dc:creator>
  <cp:lastModifiedBy>Department of Neurosurgery, University of Utah Health</cp:lastModifiedBy>
  <cp:revision>1</cp:revision>
  <dcterms:created xsi:type="dcterms:W3CDTF">2026-10-26T19:36:02Z</dcterms:created>
  <dcterms:modified xsi:type="dcterms:W3CDTF">2026-10-26T19:36:02Z</dcterms:modified>
</cp:coreProperties>
</file>