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BC Aging" id="{ef4a8fca-1951-96ec-e7f6-fb56cf52607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 blood cell aging. Left: a newly released RBC leaves the marrow cavity of a long bone with an intact membrane, abundant surface CD47 (the 'don't eat me' signal), and eat-me proteins confined to the inner membrane leaflet. Middle: in mid-circulation, the membrane is partially disrupted, CD47 is reduced, and some eat-me proteins have appeared on the outer surface, though most remain on the inner leaflet. Right: the senescent RBC has a degenerated membrane, minimal CD47, and predominantly outer-surface eat-me proteins, marking it for clearance. Far right: a macrophage in the red pulp of the spleen recognizes the exposed eat-me signals, extends pseudopods around the senescent RBC, and digests a previously engulfed RBC within a phagosome. Every element is a native PowerPoint shape and can be recolored, moved, or animated.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0"/>
            <a:ext cx="4572000" cy="685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2" y="192024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bg1"/>
                </a:solidFill>
              </a:rPr>
              <a:t>UNIVERSITY OF UTAH HEALTH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4C4"/>
                </a:solidFill>
              </a:rPr>
              <a:t>Department of Neurosurgery</a:t>
            </a:r>
            <a:endParaRPr lang="en-US" sz="12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F2C4C4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</a:t>
            </a:r>
            <a:endParaRPr lang="en-US" sz="2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Presenter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914400"/>
            <a:ext cx="5029200" cy="5029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7A8AA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Section description</a:t>
            </a:r>
            <a:endParaRPr lang="en-US" sz="1800" dirty="0"/>
          </a:p>
        </p:txBody>
      </p:sp>
      <p:pic>
        <p:nvPicPr>
          <p:cNvPr id="6" name="Image 1" descr="University of Utah Health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329184" cy="32918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987552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Slide Title</a:t>
            </a:r>
            <a:endParaRPr lang="en-US" sz="3400" dirty="0"/>
          </a:p>
        </p:txBody>
      </p:sp>
      <p:pic>
        <p:nvPicPr>
          <p:cNvPr id="3" name="Image 0" descr="University of Utah Health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Slide Title</a:t>
            </a:r>
            <a:endParaRPr lang="en-US" sz="3400" dirty="0"/>
          </a:p>
        </p:txBody>
      </p:sp>
      <p:pic>
        <p:nvPicPr>
          <p:cNvPr id="3" name="Image 0" descr="University of Utah Health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82296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Questions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F2C4C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Contact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UNIVERSITY OF UTAH HEALTH  |  DEPARTMENT OF NEUROSURGERY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Red Blood Cell Aging: From “Don’t Eat Me” to “Eat Me”</a:t>
            </a:r>
            <a:endParaRPr lang="en-US" sz="3400" dirty="0"/>
          </a:p>
        </p:txBody>
      </p:sp>
      <p:sp>
        <p:nvSpPr>
          <p:cNvPr id="3" name="Circulation"/>
          <p:cNvSpPr/>
          <p:nvPr/>
        </p:nvSpPr>
        <p:spPr>
          <a:xfrm>
            <a:off x="1325880" y="2331720"/>
            <a:ext cx="7589520" cy="1463040"/>
          </a:xfrm>
          <a:prstGeom prst="rightArrow">
            <a:avLst/>
          </a:prstGeom>
          <a:solidFill>
            <a:srgbClr val="FBEAEA"/>
          </a:solidFill>
          <a:ln/>
        </p:spPr>
      </p:sp>
      <p:sp>
        <p:nvSpPr>
          <p:cNvPr id="4" name="Bone"/>
          <p:cNvSpPr/>
          <p:nvPr/>
        </p:nvSpPr>
        <p:spPr>
          <a:xfrm>
            <a:off x="622676" y="1508981"/>
            <a:ext cx="985785" cy="3199958"/>
          </a:xfrm>
          <a:custGeom>
            <a:avLst/>
            <a:gdLst/>
            <a:ahLst/>
            <a:cxnLst/>
            <a:rect l="l" t="t" r="r" b="b"/>
            <a:pathLst>
              <a:path w="985785" h="3199958">
                <a:moveTo>
                  <a:pt x="767039" y="542912"/>
                </a:moveTo>
                <a:lnTo>
                  <a:pt x="809463" y="530654"/>
                </a:lnTo>
                <a:lnTo>
                  <a:pt x="849370" y="511747"/>
                </a:lnTo>
                <a:lnTo>
                  <a:pt x="885727" y="486682"/>
                </a:lnTo>
                <a:lnTo>
                  <a:pt x="917590" y="456108"/>
                </a:lnTo>
                <a:lnTo>
                  <a:pt x="944135" y="420817"/>
                </a:lnTo>
                <a:lnTo>
                  <a:pt x="964674" y="381725"/>
                </a:lnTo>
                <a:lnTo>
                  <a:pt x="978674" y="339843"/>
                </a:lnTo>
                <a:lnTo>
                  <a:pt x="985772" y="296258"/>
                </a:lnTo>
                <a:lnTo>
                  <a:pt x="985785" y="252099"/>
                </a:lnTo>
                <a:lnTo>
                  <a:pt x="978712" y="208510"/>
                </a:lnTo>
                <a:lnTo>
                  <a:pt x="964736" y="166620"/>
                </a:lnTo>
                <a:lnTo>
                  <a:pt x="944221" y="127515"/>
                </a:lnTo>
                <a:lnTo>
                  <a:pt x="917696" y="92210"/>
                </a:lnTo>
                <a:lnTo>
                  <a:pt x="885850" y="61617"/>
                </a:lnTo>
                <a:lnTo>
                  <a:pt x="849508" y="36531"/>
                </a:lnTo>
                <a:lnTo>
                  <a:pt x="809612" y="17601"/>
                </a:lnTo>
                <a:lnTo>
                  <a:pt x="767195" y="5318"/>
                </a:lnTo>
                <a:lnTo>
                  <a:pt x="723357" y="0"/>
                </a:lnTo>
                <a:lnTo>
                  <a:pt x="679234" y="1785"/>
                </a:lnTo>
                <a:lnTo>
                  <a:pt x="635969" y="10627"/>
                </a:lnTo>
                <a:lnTo>
                  <a:pt x="594683" y="26296"/>
                </a:lnTo>
                <a:lnTo>
                  <a:pt x="556446" y="48387"/>
                </a:lnTo>
                <a:lnTo>
                  <a:pt x="522249" y="76327"/>
                </a:lnTo>
                <a:lnTo>
                  <a:pt x="492979" y="109392"/>
                </a:lnTo>
                <a:lnTo>
                  <a:pt x="492806" y="109392"/>
                </a:lnTo>
                <a:lnTo>
                  <a:pt x="463535" y="76327"/>
                </a:lnTo>
                <a:lnTo>
                  <a:pt x="429339" y="48387"/>
                </a:lnTo>
                <a:lnTo>
                  <a:pt x="391102" y="26296"/>
                </a:lnTo>
                <a:lnTo>
                  <a:pt x="349816" y="10627"/>
                </a:lnTo>
                <a:lnTo>
                  <a:pt x="306551" y="1785"/>
                </a:lnTo>
                <a:lnTo>
                  <a:pt x="262427" y="0"/>
                </a:lnTo>
                <a:lnTo>
                  <a:pt x="218589" y="5318"/>
                </a:lnTo>
                <a:lnTo>
                  <a:pt x="176173" y="17601"/>
                </a:lnTo>
                <a:lnTo>
                  <a:pt x="136276" y="36531"/>
                </a:lnTo>
                <a:lnTo>
                  <a:pt x="99934" y="61617"/>
                </a:lnTo>
                <a:lnTo>
                  <a:pt x="68089" y="92210"/>
                </a:lnTo>
                <a:lnTo>
                  <a:pt x="41564" y="127515"/>
                </a:lnTo>
                <a:lnTo>
                  <a:pt x="21048" y="166620"/>
                </a:lnTo>
                <a:lnTo>
                  <a:pt x="7073" y="208510"/>
                </a:lnTo>
                <a:lnTo>
                  <a:pt x="0" y="252099"/>
                </a:lnTo>
                <a:lnTo>
                  <a:pt x="13" y="296258"/>
                </a:lnTo>
                <a:lnTo>
                  <a:pt x="7111" y="339843"/>
                </a:lnTo>
                <a:lnTo>
                  <a:pt x="21111" y="381725"/>
                </a:lnTo>
                <a:lnTo>
                  <a:pt x="41649" y="420817"/>
                </a:lnTo>
                <a:lnTo>
                  <a:pt x="68194" y="456108"/>
                </a:lnTo>
                <a:lnTo>
                  <a:pt x="100058" y="486682"/>
                </a:lnTo>
                <a:lnTo>
                  <a:pt x="136415" y="511747"/>
                </a:lnTo>
                <a:lnTo>
                  <a:pt x="176322" y="530654"/>
                </a:lnTo>
                <a:lnTo>
                  <a:pt x="218746" y="542912"/>
                </a:lnTo>
                <a:lnTo>
                  <a:pt x="218746" y="2657046"/>
                </a:lnTo>
                <a:lnTo>
                  <a:pt x="176322" y="2669304"/>
                </a:lnTo>
                <a:lnTo>
                  <a:pt x="136415" y="2688211"/>
                </a:lnTo>
                <a:lnTo>
                  <a:pt x="100058" y="2713276"/>
                </a:lnTo>
                <a:lnTo>
                  <a:pt x="68194" y="2743850"/>
                </a:lnTo>
                <a:lnTo>
                  <a:pt x="41649" y="2779141"/>
                </a:lnTo>
                <a:lnTo>
                  <a:pt x="21111" y="2818233"/>
                </a:lnTo>
                <a:lnTo>
                  <a:pt x="7111" y="2860115"/>
                </a:lnTo>
                <a:lnTo>
                  <a:pt x="13" y="2903700"/>
                </a:lnTo>
                <a:lnTo>
                  <a:pt x="0" y="2947859"/>
                </a:lnTo>
                <a:lnTo>
                  <a:pt x="7073" y="2991448"/>
                </a:lnTo>
                <a:lnTo>
                  <a:pt x="21048" y="3033338"/>
                </a:lnTo>
                <a:lnTo>
                  <a:pt x="41564" y="3072443"/>
                </a:lnTo>
                <a:lnTo>
                  <a:pt x="68089" y="3107748"/>
                </a:lnTo>
                <a:lnTo>
                  <a:pt x="99934" y="3138341"/>
                </a:lnTo>
                <a:lnTo>
                  <a:pt x="136276" y="3163427"/>
                </a:lnTo>
                <a:lnTo>
                  <a:pt x="176173" y="3182357"/>
                </a:lnTo>
                <a:lnTo>
                  <a:pt x="218589" y="3194640"/>
                </a:lnTo>
                <a:lnTo>
                  <a:pt x="262427" y="3199958"/>
                </a:lnTo>
                <a:lnTo>
                  <a:pt x="306551" y="3198173"/>
                </a:lnTo>
                <a:lnTo>
                  <a:pt x="349816" y="3189331"/>
                </a:lnTo>
                <a:lnTo>
                  <a:pt x="391102" y="3173662"/>
                </a:lnTo>
                <a:lnTo>
                  <a:pt x="429339" y="3151571"/>
                </a:lnTo>
                <a:lnTo>
                  <a:pt x="463535" y="3123631"/>
                </a:lnTo>
                <a:lnTo>
                  <a:pt x="492806" y="3090566"/>
                </a:lnTo>
                <a:lnTo>
                  <a:pt x="492979" y="3090566"/>
                </a:lnTo>
                <a:lnTo>
                  <a:pt x="522249" y="3123631"/>
                </a:lnTo>
                <a:lnTo>
                  <a:pt x="556446" y="3151571"/>
                </a:lnTo>
                <a:lnTo>
                  <a:pt x="594683" y="3173662"/>
                </a:lnTo>
                <a:lnTo>
                  <a:pt x="635969" y="3189331"/>
                </a:lnTo>
                <a:lnTo>
                  <a:pt x="679234" y="3198173"/>
                </a:lnTo>
                <a:lnTo>
                  <a:pt x="723357" y="3199958"/>
                </a:lnTo>
                <a:lnTo>
                  <a:pt x="767195" y="3194640"/>
                </a:lnTo>
                <a:lnTo>
                  <a:pt x="809612" y="3182357"/>
                </a:lnTo>
                <a:lnTo>
                  <a:pt x="849508" y="3163427"/>
                </a:lnTo>
                <a:lnTo>
                  <a:pt x="885850" y="3138341"/>
                </a:lnTo>
                <a:lnTo>
                  <a:pt x="917696" y="3107748"/>
                </a:lnTo>
                <a:lnTo>
                  <a:pt x="944221" y="3072443"/>
                </a:lnTo>
                <a:lnTo>
                  <a:pt x="964736" y="3033338"/>
                </a:lnTo>
                <a:lnTo>
                  <a:pt x="978712" y="2991448"/>
                </a:lnTo>
                <a:lnTo>
                  <a:pt x="985785" y="2947859"/>
                </a:lnTo>
                <a:lnTo>
                  <a:pt x="985772" y="2903700"/>
                </a:lnTo>
                <a:lnTo>
                  <a:pt x="978674" y="2860115"/>
                </a:lnTo>
                <a:lnTo>
                  <a:pt x="964674" y="2818233"/>
                </a:lnTo>
                <a:lnTo>
                  <a:pt x="944135" y="2779141"/>
                </a:lnTo>
                <a:lnTo>
                  <a:pt x="917590" y="2743850"/>
                </a:lnTo>
                <a:lnTo>
                  <a:pt x="885727" y="2713276"/>
                </a:lnTo>
                <a:lnTo>
                  <a:pt x="849370" y="2688211"/>
                </a:lnTo>
                <a:lnTo>
                  <a:pt x="809463" y="2669304"/>
                </a:lnTo>
                <a:lnTo>
                  <a:pt x="767039" y="2657046"/>
                </a:lnTo>
                <a:close/>
              </a:path>
            </a:pathLst>
          </a:custGeom>
          <a:solidFill>
            <a:srgbClr val="F1EADB"/>
          </a:solidFill>
          <a:ln w="15875">
            <a:solidFill>
              <a:srgbClr val="A8997A"/>
            </a:solidFill>
            <a:prstDash val="solid"/>
          </a:ln>
        </p:spPr>
      </p:sp>
      <p:sp>
        <p:nvSpPr>
          <p:cNvPr id="5" name="Marrow cavity"/>
          <p:cNvSpPr/>
          <p:nvPr/>
        </p:nvSpPr>
        <p:spPr>
          <a:xfrm>
            <a:off x="941832" y="1874520"/>
            <a:ext cx="347472" cy="2468880"/>
          </a:xfrm>
          <a:prstGeom prst="roundRect">
            <a:avLst>
              <a:gd name="adj" fmla="val 31579"/>
            </a:avLst>
          </a:prstGeom>
          <a:solidFill>
            <a:srgbClr val="E7A1A1"/>
          </a:solidFill>
          <a:ln w="9525">
            <a:solidFill>
              <a:srgbClr val="C97D7D"/>
            </a:solidFill>
            <a:prstDash val="solid"/>
          </a:ln>
        </p:spPr>
      </p:sp>
      <p:sp>
        <p:nvSpPr>
          <p:cNvPr id="6" name="Marrow precursor 1"/>
          <p:cNvSpPr/>
          <p:nvPr/>
        </p:nvSpPr>
        <p:spPr>
          <a:xfrm>
            <a:off x="987552" y="2057400"/>
            <a:ext cx="118872" cy="118872"/>
          </a:xfrm>
          <a:prstGeom prst="ellipse">
            <a:avLst/>
          </a:prstGeom>
          <a:solidFill>
            <a:srgbClr val="C24A4A"/>
          </a:solidFill>
          <a:ln/>
        </p:spPr>
      </p:sp>
      <p:sp>
        <p:nvSpPr>
          <p:cNvPr id="7" name="Marrow precursor 2"/>
          <p:cNvSpPr/>
          <p:nvPr/>
        </p:nvSpPr>
        <p:spPr>
          <a:xfrm>
            <a:off x="1115568" y="2377440"/>
            <a:ext cx="100584" cy="100584"/>
          </a:xfrm>
          <a:prstGeom prst="ellipse">
            <a:avLst/>
          </a:prstGeom>
          <a:solidFill>
            <a:srgbClr val="B07AB0"/>
          </a:solidFill>
          <a:ln/>
        </p:spPr>
      </p:sp>
      <p:sp>
        <p:nvSpPr>
          <p:cNvPr id="8" name="Marrow precursor 3"/>
          <p:cNvSpPr/>
          <p:nvPr/>
        </p:nvSpPr>
        <p:spPr>
          <a:xfrm>
            <a:off x="1005840" y="2743200"/>
            <a:ext cx="109728" cy="109728"/>
          </a:xfrm>
          <a:prstGeom prst="ellipse">
            <a:avLst/>
          </a:prstGeom>
          <a:solidFill>
            <a:srgbClr val="C24A4A"/>
          </a:solidFill>
          <a:ln/>
        </p:spPr>
      </p:sp>
      <p:sp>
        <p:nvSpPr>
          <p:cNvPr id="9" name="Marrow precursor 4"/>
          <p:cNvSpPr/>
          <p:nvPr/>
        </p:nvSpPr>
        <p:spPr>
          <a:xfrm>
            <a:off x="1133856" y="3108960"/>
            <a:ext cx="118872" cy="118872"/>
          </a:xfrm>
          <a:prstGeom prst="ellipse">
            <a:avLst/>
          </a:prstGeom>
          <a:solidFill>
            <a:srgbClr val="B07AB0"/>
          </a:solidFill>
          <a:ln/>
        </p:spPr>
      </p:sp>
      <p:sp>
        <p:nvSpPr>
          <p:cNvPr id="10" name="Marrow precursor 5"/>
          <p:cNvSpPr/>
          <p:nvPr/>
        </p:nvSpPr>
        <p:spPr>
          <a:xfrm>
            <a:off x="987552" y="3474720"/>
            <a:ext cx="100584" cy="100584"/>
          </a:xfrm>
          <a:prstGeom prst="ellipse">
            <a:avLst/>
          </a:prstGeom>
          <a:solidFill>
            <a:srgbClr val="C24A4A"/>
          </a:solidFill>
          <a:ln/>
        </p:spPr>
      </p:sp>
      <p:sp>
        <p:nvSpPr>
          <p:cNvPr id="11" name="Marrow precursor 6"/>
          <p:cNvSpPr/>
          <p:nvPr/>
        </p:nvSpPr>
        <p:spPr>
          <a:xfrm>
            <a:off x="1124712" y="3794760"/>
            <a:ext cx="109728" cy="109728"/>
          </a:xfrm>
          <a:prstGeom prst="ellipse">
            <a:avLst/>
          </a:prstGeom>
          <a:solidFill>
            <a:srgbClr val="B07AB0"/>
          </a:solidFill>
          <a:ln/>
        </p:spPr>
      </p:sp>
      <p:sp>
        <p:nvSpPr>
          <p:cNvPr id="12" name="Marrow precursor 7"/>
          <p:cNvSpPr/>
          <p:nvPr/>
        </p:nvSpPr>
        <p:spPr>
          <a:xfrm>
            <a:off x="1005840" y="4069080"/>
            <a:ext cx="91440" cy="91440"/>
          </a:xfrm>
          <a:prstGeom prst="ellipse">
            <a:avLst/>
          </a:prstGeom>
          <a:solidFill>
            <a:srgbClr val="C24A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Bone marrow</a:t>
            </a:r>
            <a:endParaRPr lang="en-US" sz="1200" dirty="0"/>
          </a:p>
        </p:txBody>
      </p:sp>
      <p:sp>
        <p:nvSpPr>
          <p:cNvPr id="14" name="New RBC cytoplasm"/>
          <p:cNvSpPr/>
          <p:nvPr/>
        </p:nvSpPr>
        <p:spPr>
          <a:xfrm>
            <a:off x="1920240" y="2286000"/>
            <a:ext cx="1554480" cy="1554480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5" name="New RBC central pallor"/>
          <p:cNvSpPr/>
          <p:nvPr/>
        </p:nvSpPr>
        <p:spPr>
          <a:xfrm>
            <a:off x="2332634" y="2698394"/>
            <a:ext cx="729691" cy="729691"/>
          </a:xfrm>
          <a:prstGeom prst="ellipse">
            <a:avLst/>
          </a:prstGeom>
          <a:solidFill>
            <a:srgbClr val="DE5A5A"/>
          </a:solidFill>
          <a:ln/>
        </p:spPr>
      </p:sp>
      <p:sp>
        <p:nvSpPr>
          <p:cNvPr id="16" name="New RBC outer leaflet 1"/>
          <p:cNvSpPr/>
          <p:nvPr/>
        </p:nvSpPr>
        <p:spPr>
          <a:xfrm>
            <a:off x="1828800" y="2194560"/>
            <a:ext cx="1737360" cy="1737360"/>
          </a:xfrm>
          <a:prstGeom prst="blockArc">
            <a:avLst>
              <a:gd name="adj1" fmla="val 0"/>
              <a:gd name="adj2" fmla="val 21594000"/>
              <a:gd name="adj3" fmla="val 3947"/>
            </a:avLst>
          </a:prstGeom>
          <a:solidFill>
            <a:srgbClr val="3B3B3B"/>
          </a:solidFill>
          <a:ln/>
        </p:spPr>
      </p:sp>
      <p:sp>
        <p:nvSpPr>
          <p:cNvPr id="17" name="New RBC inner leaflet 1"/>
          <p:cNvSpPr/>
          <p:nvPr/>
        </p:nvSpPr>
        <p:spPr>
          <a:xfrm>
            <a:off x="1897380" y="2263140"/>
            <a:ext cx="1600200" cy="1600200"/>
          </a:xfrm>
          <a:prstGeom prst="blockArc">
            <a:avLst>
              <a:gd name="adj1" fmla="val 0"/>
              <a:gd name="adj2" fmla="val 21594000"/>
              <a:gd name="adj3" fmla="val 4286"/>
            </a:avLst>
          </a:prstGeom>
          <a:solidFill>
            <a:srgbClr val="8FA7B0"/>
          </a:solidFill>
          <a:ln/>
        </p:spPr>
      </p:sp>
      <p:sp>
        <p:nvSpPr>
          <p:cNvPr id="18" name="New RBC CD47 stalk"/>
          <p:cNvSpPr/>
          <p:nvPr/>
        </p:nvSpPr>
        <p:spPr>
          <a:xfrm rot="11400000">
            <a:off x="2842739" y="2053421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19" name="New RBC CD47"/>
          <p:cNvSpPr/>
          <p:nvPr/>
        </p:nvSpPr>
        <p:spPr>
          <a:xfrm>
            <a:off x="2814677" y="1941065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20" name="New RBC CD47 stalk"/>
          <p:cNvSpPr/>
          <p:nvPr/>
        </p:nvSpPr>
        <p:spPr>
          <a:xfrm rot="12942857">
            <a:off x="3228980" y="2216235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21" name="New RBC CD47"/>
          <p:cNvSpPr/>
          <p:nvPr/>
        </p:nvSpPr>
        <p:spPr>
          <a:xfrm>
            <a:off x="3253417" y="2126010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22" name="New RBC CD47 stalk"/>
          <p:cNvSpPr/>
          <p:nvPr/>
        </p:nvSpPr>
        <p:spPr>
          <a:xfrm rot="14485714">
            <a:off x="3506329" y="2530509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23" name="New RBC CD47"/>
          <p:cNvSpPr/>
          <p:nvPr/>
        </p:nvSpPr>
        <p:spPr>
          <a:xfrm>
            <a:off x="3568464" y="2483001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24" name="New RBC CD47 stalk"/>
          <p:cNvSpPr/>
          <p:nvPr/>
        </p:nvSpPr>
        <p:spPr>
          <a:xfrm rot="16028571">
            <a:off x="3619853" y="2933998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25" name="New RBC CD47"/>
          <p:cNvSpPr/>
          <p:nvPr/>
        </p:nvSpPr>
        <p:spPr>
          <a:xfrm>
            <a:off x="3697418" y="2941332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26" name="New RBC CD47 stalk"/>
          <p:cNvSpPr/>
          <p:nvPr/>
        </p:nvSpPr>
        <p:spPr>
          <a:xfrm rot="-4028571">
            <a:off x="3547068" y="3346784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27" name="New RBC CD47"/>
          <p:cNvSpPr/>
          <p:nvPr/>
        </p:nvSpPr>
        <p:spPr>
          <a:xfrm>
            <a:off x="3614739" y="3410226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28" name="New RBC CD47 stalk"/>
          <p:cNvSpPr/>
          <p:nvPr/>
        </p:nvSpPr>
        <p:spPr>
          <a:xfrm rot="-2485714">
            <a:off x="3302389" y="3687112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29" name="New RBC CD47"/>
          <p:cNvSpPr/>
          <p:nvPr/>
        </p:nvSpPr>
        <p:spPr>
          <a:xfrm>
            <a:off x="3336803" y="3796812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30" name="New RBC CD47 stalk"/>
          <p:cNvSpPr/>
          <p:nvPr/>
        </p:nvSpPr>
        <p:spPr>
          <a:xfrm rot="-942857">
            <a:off x="2934278" y="3887574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31" name="New RBC CD47"/>
          <p:cNvSpPr/>
          <p:nvPr/>
        </p:nvSpPr>
        <p:spPr>
          <a:xfrm>
            <a:off x="2918658" y="4024522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32" name="New RBC CD47 stalk"/>
          <p:cNvSpPr/>
          <p:nvPr/>
        </p:nvSpPr>
        <p:spPr>
          <a:xfrm rot="600000">
            <a:off x="2515645" y="3908467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33" name="New RBC CD47"/>
          <p:cNvSpPr/>
          <p:nvPr/>
        </p:nvSpPr>
        <p:spPr>
          <a:xfrm>
            <a:off x="2443123" y="4048255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34" name="New RBC CD47 stalk"/>
          <p:cNvSpPr/>
          <p:nvPr/>
        </p:nvSpPr>
        <p:spPr>
          <a:xfrm rot="2142857">
            <a:off x="2129404" y="3745653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35" name="New RBC CD47"/>
          <p:cNvSpPr/>
          <p:nvPr/>
        </p:nvSpPr>
        <p:spPr>
          <a:xfrm>
            <a:off x="2004383" y="3863310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36" name="New RBC CD47 stalk"/>
          <p:cNvSpPr/>
          <p:nvPr/>
        </p:nvSpPr>
        <p:spPr>
          <a:xfrm rot="3685714">
            <a:off x="1852055" y="3431379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37" name="New RBC CD47"/>
          <p:cNvSpPr/>
          <p:nvPr/>
        </p:nvSpPr>
        <p:spPr>
          <a:xfrm>
            <a:off x="1689336" y="3506319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38" name="New RBC CD47 stalk"/>
          <p:cNvSpPr/>
          <p:nvPr/>
        </p:nvSpPr>
        <p:spPr>
          <a:xfrm rot="5228571">
            <a:off x="1738531" y="3027890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39" name="New RBC CD47"/>
          <p:cNvSpPr/>
          <p:nvPr/>
        </p:nvSpPr>
        <p:spPr>
          <a:xfrm>
            <a:off x="1560382" y="3047988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40" name="New RBC CD47 stalk"/>
          <p:cNvSpPr/>
          <p:nvPr/>
        </p:nvSpPr>
        <p:spPr>
          <a:xfrm rot="6771429">
            <a:off x="1811316" y="2615104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41" name="New RBC CD47"/>
          <p:cNvSpPr/>
          <p:nvPr/>
        </p:nvSpPr>
        <p:spPr>
          <a:xfrm>
            <a:off x="1643061" y="2579094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42" name="New RBC CD47 stalk"/>
          <p:cNvSpPr/>
          <p:nvPr/>
        </p:nvSpPr>
        <p:spPr>
          <a:xfrm rot="8314286">
            <a:off x="2055995" y="2274776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43" name="New RBC CD47"/>
          <p:cNvSpPr/>
          <p:nvPr/>
        </p:nvSpPr>
        <p:spPr>
          <a:xfrm>
            <a:off x="1920997" y="2192508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44" name="New RBC CD47 stalk"/>
          <p:cNvSpPr/>
          <p:nvPr/>
        </p:nvSpPr>
        <p:spPr>
          <a:xfrm rot="9857143">
            <a:off x="2424106" y="2074314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45" name="New RBC CD47"/>
          <p:cNvSpPr/>
          <p:nvPr/>
        </p:nvSpPr>
        <p:spPr>
          <a:xfrm>
            <a:off x="2339142" y="1964798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46" name="New RBC eat-me (inner)"/>
          <p:cNvSpPr/>
          <p:nvPr/>
        </p:nvSpPr>
        <p:spPr>
          <a:xfrm rot="17400000">
            <a:off x="2844931" y="236685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47" name="New RBC eat-me (inner)"/>
          <p:cNvSpPr/>
          <p:nvPr/>
        </p:nvSpPr>
        <p:spPr>
          <a:xfrm rot="18942857">
            <a:off x="3091060" y="252581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48" name="New RBC eat-me (inner)"/>
          <p:cNvSpPr/>
          <p:nvPr/>
        </p:nvSpPr>
        <p:spPr>
          <a:xfrm rot="20485714">
            <a:off x="3243841" y="2775835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49" name="New RBC eat-me (inner)"/>
          <p:cNvSpPr/>
          <p:nvPr/>
        </p:nvSpPr>
        <p:spPr>
          <a:xfrm rot="428571">
            <a:off x="3273015" y="3067380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0" name="New RBC eat-me (inner)"/>
          <p:cNvSpPr/>
          <p:nvPr/>
        </p:nvSpPr>
        <p:spPr>
          <a:xfrm rot="1971429">
            <a:off x="3172802" y="334271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1" name="New RBC eat-me (inner)"/>
          <p:cNvSpPr/>
          <p:nvPr/>
        </p:nvSpPr>
        <p:spPr>
          <a:xfrm rot="3514286">
            <a:off x="2963052" y="3547295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2" name="New RBC eat-me (inner)"/>
          <p:cNvSpPr/>
          <p:nvPr/>
        </p:nvSpPr>
        <p:spPr>
          <a:xfrm rot="5057143">
            <a:off x="2685308" y="364061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3" name="New RBC eat-me (inner)"/>
          <p:cNvSpPr/>
          <p:nvPr/>
        </p:nvSpPr>
        <p:spPr>
          <a:xfrm rot="6600000">
            <a:off x="2394581" y="3604180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4" name="New RBC eat-me (inner)"/>
          <p:cNvSpPr/>
          <p:nvPr/>
        </p:nvSpPr>
        <p:spPr>
          <a:xfrm rot="8142857">
            <a:off x="2148452" y="3445213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5" name="New RBC eat-me (inner)"/>
          <p:cNvSpPr/>
          <p:nvPr/>
        </p:nvSpPr>
        <p:spPr>
          <a:xfrm rot="9685714">
            <a:off x="1995671" y="3195197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6" name="New RBC eat-me (inner)"/>
          <p:cNvSpPr/>
          <p:nvPr/>
        </p:nvSpPr>
        <p:spPr>
          <a:xfrm rot="11228571">
            <a:off x="1966497" y="290365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7" name="New RBC eat-me (inner)"/>
          <p:cNvSpPr/>
          <p:nvPr/>
        </p:nvSpPr>
        <p:spPr>
          <a:xfrm rot="12771429">
            <a:off x="2066710" y="262832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8" name="New RBC eat-me (inner)"/>
          <p:cNvSpPr/>
          <p:nvPr/>
        </p:nvSpPr>
        <p:spPr>
          <a:xfrm rot="14314286">
            <a:off x="2276460" y="2423737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59" name="New RBC eat-me (inner)"/>
          <p:cNvSpPr/>
          <p:nvPr/>
        </p:nvSpPr>
        <p:spPr>
          <a:xfrm rot="15857143">
            <a:off x="2554204" y="2330420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60" name="New RBC heading"/>
          <p:cNvSpPr txBox="1"/>
          <p:nvPr/>
        </p:nvSpPr>
        <p:spPr>
          <a:xfrm>
            <a:off x="1508760" y="1325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RBC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Day 0  |  leaving marrow</a:t>
            </a:r>
            <a:endParaRPr lang="en-US" sz="1600" dirty="0"/>
          </a:p>
        </p:txBody>
      </p:sp>
      <p:sp>
        <p:nvSpPr>
          <p:cNvPr id="61" name="New RBC summary"/>
          <p:cNvSpPr txBox="1"/>
          <p:nvPr/>
        </p:nvSpPr>
        <p:spPr>
          <a:xfrm>
            <a:off x="173736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Membrane intact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CD47 high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Eat-me inside only</a:t>
            </a:r>
            <a:endParaRPr lang="en-US" sz="1400" dirty="0"/>
          </a:p>
        </p:txBody>
      </p:sp>
      <p:sp>
        <p:nvSpPr>
          <p:cNvPr id="62" name="Intermediate RBC cytoplasm"/>
          <p:cNvSpPr/>
          <p:nvPr/>
        </p:nvSpPr>
        <p:spPr>
          <a:xfrm>
            <a:off x="4297680" y="2331720"/>
            <a:ext cx="1463040" cy="1463040"/>
          </a:xfrm>
          <a:prstGeom prst="ellipse">
            <a:avLst/>
          </a:prstGeom>
          <a:solidFill>
            <a:srgbClr val="B11A1A"/>
          </a:solidFill>
          <a:ln/>
        </p:spPr>
      </p:sp>
      <p:sp>
        <p:nvSpPr>
          <p:cNvPr id="63" name="Intermediate RBC central pallor"/>
          <p:cNvSpPr/>
          <p:nvPr/>
        </p:nvSpPr>
        <p:spPr>
          <a:xfrm>
            <a:off x="4683557" y="2717597"/>
            <a:ext cx="691286" cy="691286"/>
          </a:xfrm>
          <a:prstGeom prst="ellipse">
            <a:avLst/>
          </a:prstGeom>
          <a:solidFill>
            <a:srgbClr val="D66A6A"/>
          </a:solidFill>
          <a:ln/>
        </p:spPr>
      </p:sp>
      <p:sp>
        <p:nvSpPr>
          <p:cNvPr id="64" name="Intermediate RBC outer leaflet 1"/>
          <p:cNvSpPr/>
          <p:nvPr/>
        </p:nvSpPr>
        <p:spPr>
          <a:xfrm>
            <a:off x="4206240" y="2240280"/>
            <a:ext cx="1645920" cy="1645920"/>
          </a:xfrm>
          <a:prstGeom prst="blockArc">
            <a:avLst>
              <a:gd name="adj1" fmla="val 2520000"/>
              <a:gd name="adj2" fmla="val 9240000"/>
              <a:gd name="adj3" fmla="val 4167"/>
            </a:avLst>
          </a:prstGeom>
          <a:solidFill>
            <a:srgbClr val="3B3B3B"/>
          </a:solidFill>
          <a:ln/>
        </p:spPr>
      </p:sp>
      <p:sp>
        <p:nvSpPr>
          <p:cNvPr id="65" name="Intermediate RBC inner leaflet 1"/>
          <p:cNvSpPr/>
          <p:nvPr/>
        </p:nvSpPr>
        <p:spPr>
          <a:xfrm>
            <a:off x="4274820" y="2308860"/>
            <a:ext cx="1508760" cy="1508760"/>
          </a:xfrm>
          <a:prstGeom prst="blockArc">
            <a:avLst>
              <a:gd name="adj1" fmla="val 2520000"/>
              <a:gd name="adj2" fmla="val 9240000"/>
              <a:gd name="adj3" fmla="val 4545"/>
            </a:avLst>
          </a:prstGeom>
          <a:solidFill>
            <a:srgbClr val="8FA7B0"/>
          </a:solidFill>
          <a:ln/>
        </p:spPr>
      </p:sp>
      <p:sp>
        <p:nvSpPr>
          <p:cNvPr id="66" name="Intermediate RBC outer leaflet 2"/>
          <p:cNvSpPr/>
          <p:nvPr/>
        </p:nvSpPr>
        <p:spPr>
          <a:xfrm>
            <a:off x="4206240" y="2240280"/>
            <a:ext cx="1645920" cy="1645920"/>
          </a:xfrm>
          <a:prstGeom prst="blockArc">
            <a:avLst>
              <a:gd name="adj1" fmla="val 9960000"/>
              <a:gd name="adj2" fmla="val 16620000"/>
              <a:gd name="adj3" fmla="val 4167"/>
            </a:avLst>
          </a:prstGeom>
          <a:solidFill>
            <a:srgbClr val="3B3B3B"/>
          </a:solidFill>
          <a:ln/>
        </p:spPr>
      </p:sp>
      <p:sp>
        <p:nvSpPr>
          <p:cNvPr id="67" name="Intermediate RBC inner leaflet 2"/>
          <p:cNvSpPr/>
          <p:nvPr/>
        </p:nvSpPr>
        <p:spPr>
          <a:xfrm>
            <a:off x="4274820" y="2308860"/>
            <a:ext cx="1508760" cy="1508760"/>
          </a:xfrm>
          <a:prstGeom prst="blockArc">
            <a:avLst>
              <a:gd name="adj1" fmla="val 9960000"/>
              <a:gd name="adj2" fmla="val 16620000"/>
              <a:gd name="adj3" fmla="val 4545"/>
            </a:avLst>
          </a:prstGeom>
          <a:solidFill>
            <a:srgbClr val="8FA7B0"/>
          </a:solidFill>
          <a:ln/>
        </p:spPr>
      </p:sp>
      <p:sp>
        <p:nvSpPr>
          <p:cNvPr id="68" name="Intermediate RBC outer leaflet 3"/>
          <p:cNvSpPr/>
          <p:nvPr/>
        </p:nvSpPr>
        <p:spPr>
          <a:xfrm>
            <a:off x="4206240" y="2240280"/>
            <a:ext cx="1645920" cy="1645920"/>
          </a:xfrm>
          <a:prstGeom prst="blockArc">
            <a:avLst>
              <a:gd name="adj1" fmla="val 17580000"/>
              <a:gd name="adj2" fmla="val 1680000"/>
              <a:gd name="adj3" fmla="val 4167"/>
            </a:avLst>
          </a:prstGeom>
          <a:solidFill>
            <a:srgbClr val="3B3B3B"/>
          </a:solidFill>
          <a:ln/>
        </p:spPr>
      </p:sp>
      <p:sp>
        <p:nvSpPr>
          <p:cNvPr id="69" name="Intermediate RBC inner leaflet 3"/>
          <p:cNvSpPr/>
          <p:nvPr/>
        </p:nvSpPr>
        <p:spPr>
          <a:xfrm>
            <a:off x="4274820" y="2308860"/>
            <a:ext cx="1508760" cy="1508760"/>
          </a:xfrm>
          <a:prstGeom prst="blockArc">
            <a:avLst>
              <a:gd name="adj1" fmla="val 17580000"/>
              <a:gd name="adj2" fmla="val 1680000"/>
              <a:gd name="adj3" fmla="val 4545"/>
            </a:avLst>
          </a:prstGeom>
          <a:solidFill>
            <a:srgbClr val="8FA7B0"/>
          </a:solidFill>
          <a:ln/>
        </p:spPr>
      </p:sp>
      <p:sp>
        <p:nvSpPr>
          <p:cNvPr id="70" name="Intermediate RBC eat-me (outer)"/>
          <p:cNvSpPr/>
          <p:nvPr/>
        </p:nvSpPr>
        <p:spPr>
          <a:xfrm rot="3495000">
            <a:off x="5408588" y="3724200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71" name="Intermediate RBC CD47 stalk"/>
          <p:cNvSpPr/>
          <p:nvPr/>
        </p:nvSpPr>
        <p:spPr>
          <a:xfrm rot="-435000">
            <a:off x="5124000" y="3869892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72" name="Intermediate RBC CD47"/>
          <p:cNvSpPr/>
          <p:nvPr/>
        </p:nvSpPr>
        <p:spPr>
          <a:xfrm>
            <a:off x="5089864" y="4010600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73" name="Intermediate RBC eat-me (outer)"/>
          <p:cNvSpPr/>
          <p:nvPr/>
        </p:nvSpPr>
        <p:spPr>
          <a:xfrm rot="6435000">
            <a:off x="4693876" y="3815123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74" name="Intermediate RBC CD47 stalk"/>
          <p:cNvSpPr/>
          <p:nvPr/>
        </p:nvSpPr>
        <p:spPr>
          <a:xfrm rot="2505000">
            <a:off x="4414207" y="3649495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75" name="Intermediate RBC CD47"/>
          <p:cNvSpPr/>
          <p:nvPr/>
        </p:nvSpPr>
        <p:spPr>
          <a:xfrm>
            <a:off x="4278672" y="3758718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76" name="Intermediate RBC eat-me (outer)"/>
          <p:cNvSpPr/>
          <p:nvPr/>
        </p:nvSpPr>
        <p:spPr>
          <a:xfrm rot="10575000">
            <a:off x="4084656" y="3042330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77" name="Intermediate RBC CD47 stalk"/>
          <p:cNvSpPr/>
          <p:nvPr/>
        </p:nvSpPr>
        <p:spPr>
          <a:xfrm rot="6645000">
            <a:off x="4172926" y="2663460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78" name="Intermediate RBC CD47"/>
          <p:cNvSpPr/>
          <p:nvPr/>
        </p:nvSpPr>
        <p:spPr>
          <a:xfrm>
            <a:off x="4002922" y="2631821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79" name="Intermediate RBC CD47 stalk"/>
          <p:cNvSpPr/>
          <p:nvPr/>
        </p:nvSpPr>
        <p:spPr>
          <a:xfrm rot="8115000">
            <a:off x="4380036" y="2344538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80" name="Intermediate RBC CD47"/>
          <p:cNvSpPr/>
          <p:nvPr/>
        </p:nvSpPr>
        <p:spPr>
          <a:xfrm>
            <a:off x="4239619" y="2267339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81" name="Intermediate RBC eat-me (outer)"/>
          <p:cNvSpPr/>
          <p:nvPr/>
        </p:nvSpPr>
        <p:spPr>
          <a:xfrm rot="14985000">
            <a:off x="4650811" y="2170528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82" name="Intermediate RBC CD47 stalk"/>
          <p:cNvSpPr/>
          <p:nvPr/>
        </p:nvSpPr>
        <p:spPr>
          <a:xfrm rot="12495000">
            <a:off x="5435059" y="2191567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83" name="Intermediate RBC CD47"/>
          <p:cNvSpPr/>
          <p:nvPr/>
        </p:nvSpPr>
        <p:spPr>
          <a:xfrm>
            <a:off x="5445360" y="2092515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84" name="Intermediate RBC eat-me (outer)"/>
          <p:cNvSpPr/>
          <p:nvPr/>
        </p:nvSpPr>
        <p:spPr>
          <a:xfrm rot="19365000">
            <a:off x="5642947" y="245970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85" name="Intermediate RBC CD47 stalk"/>
          <p:cNvSpPr/>
          <p:nvPr/>
        </p:nvSpPr>
        <p:spPr>
          <a:xfrm rot="15435000">
            <a:off x="5884928" y="2783174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86" name="Intermediate RBC CD47"/>
          <p:cNvSpPr/>
          <p:nvPr/>
        </p:nvSpPr>
        <p:spPr>
          <a:xfrm>
            <a:off x="5959495" y="2768638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87" name="Intermediate RBC CD47 stalk"/>
          <p:cNvSpPr/>
          <p:nvPr/>
        </p:nvSpPr>
        <p:spPr>
          <a:xfrm rot="-4695000">
            <a:off x="5888246" y="3163430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88" name="Intermediate RBC CD47"/>
          <p:cNvSpPr/>
          <p:nvPr/>
        </p:nvSpPr>
        <p:spPr>
          <a:xfrm>
            <a:off x="5963288" y="3203215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89" name="Intermediate RBC eat-me (inner)"/>
          <p:cNvSpPr/>
          <p:nvPr/>
        </p:nvSpPr>
        <p:spPr>
          <a:xfrm rot="3642000">
            <a:off x="5251295" y="3519787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0" name="Intermediate RBC eat-me (inner)"/>
          <p:cNvSpPr/>
          <p:nvPr/>
        </p:nvSpPr>
        <p:spPr>
          <a:xfrm rot="5406000">
            <a:off x="4950407" y="3598163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1" name="Intermediate RBC eat-me (inner)"/>
          <p:cNvSpPr/>
          <p:nvPr/>
        </p:nvSpPr>
        <p:spPr>
          <a:xfrm rot="7170000">
            <a:off x="4649794" y="3518738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2" name="Intermediate RBC eat-me (inner)"/>
          <p:cNvSpPr/>
          <p:nvPr/>
        </p:nvSpPr>
        <p:spPr>
          <a:xfrm rot="8934000">
            <a:off x="4426886" y="330196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3" name="Intermediate RBC eat-me (inner)"/>
          <p:cNvSpPr/>
          <p:nvPr/>
        </p:nvSpPr>
        <p:spPr>
          <a:xfrm rot="11898000">
            <a:off x="4369812" y="279314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4" name="Intermediate RBC eat-me (inner)"/>
          <p:cNvSpPr/>
          <p:nvPr/>
        </p:nvSpPr>
        <p:spPr>
          <a:xfrm rot="13662000">
            <a:off x="4539156" y="253238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5" name="Intermediate RBC eat-me (inner)"/>
          <p:cNvSpPr/>
          <p:nvPr/>
        </p:nvSpPr>
        <p:spPr>
          <a:xfrm rot="15426000">
            <a:off x="4814702" y="238833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6" name="Intermediate RBC eat-me (inner)"/>
          <p:cNvSpPr/>
          <p:nvPr/>
        </p:nvSpPr>
        <p:spPr>
          <a:xfrm rot="18630000">
            <a:off x="5349359" y="2519655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7" name="Intermediate RBC eat-me (inner)"/>
          <p:cNvSpPr/>
          <p:nvPr/>
        </p:nvSpPr>
        <p:spPr>
          <a:xfrm rot="20394000">
            <a:off x="5526810" y="2774974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8" name="Intermediate RBC eat-me (inner)"/>
          <p:cNvSpPr/>
          <p:nvPr/>
        </p:nvSpPr>
        <p:spPr>
          <a:xfrm rot="558000">
            <a:off x="5556071" y="308452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99" name="Intermediate RBC heading"/>
          <p:cNvSpPr txBox="1"/>
          <p:nvPr/>
        </p:nvSpPr>
        <p:spPr>
          <a:xfrm>
            <a:off x="3840480" y="1325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 RBC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Mid-circulation</a:t>
            </a:r>
            <a:endParaRPr lang="en-US" sz="1600" dirty="0"/>
          </a:p>
        </p:txBody>
      </p:sp>
      <p:sp>
        <p:nvSpPr>
          <p:cNvPr id="100" name="Intermediate RBC summary"/>
          <p:cNvSpPr txBox="1"/>
          <p:nvPr/>
        </p:nvSpPr>
        <p:spPr>
          <a:xfrm>
            <a:off x="406908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Membrane partially open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CD47 reduced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Eat-me mostly inside</a:t>
            </a:r>
            <a:endParaRPr lang="en-US" sz="1400" dirty="0"/>
          </a:p>
        </p:txBody>
      </p:sp>
      <p:sp>
        <p:nvSpPr>
          <p:cNvPr id="101" name="Senescent RBC cytoplasm"/>
          <p:cNvSpPr/>
          <p:nvPr/>
        </p:nvSpPr>
        <p:spPr>
          <a:xfrm>
            <a:off x="6583680" y="2377440"/>
            <a:ext cx="1371600" cy="1371600"/>
          </a:xfrm>
          <a:prstGeom prst="ellipse">
            <a:avLst/>
          </a:prstGeom>
          <a:solidFill>
            <a:srgbClr val="9A3B3B"/>
          </a:solidFill>
          <a:ln/>
        </p:spPr>
      </p:sp>
      <p:sp>
        <p:nvSpPr>
          <p:cNvPr id="102" name="Senescent RBC central pallor"/>
          <p:cNvSpPr/>
          <p:nvPr/>
        </p:nvSpPr>
        <p:spPr>
          <a:xfrm>
            <a:off x="6943039" y="2736799"/>
            <a:ext cx="652882" cy="652882"/>
          </a:xfrm>
          <a:prstGeom prst="ellipse">
            <a:avLst/>
          </a:prstGeom>
          <a:solidFill>
            <a:srgbClr val="C48A8A"/>
          </a:solidFill>
          <a:ln/>
        </p:spPr>
      </p:sp>
      <p:sp>
        <p:nvSpPr>
          <p:cNvPr id="103" name="Senescent RBC outer leaflet 1"/>
          <p:cNvSpPr/>
          <p:nvPr/>
        </p:nvSpPr>
        <p:spPr>
          <a:xfrm>
            <a:off x="6492240" y="2286000"/>
            <a:ext cx="1554480" cy="1554480"/>
          </a:xfrm>
          <a:prstGeom prst="blockArc">
            <a:avLst>
              <a:gd name="adj1" fmla="val 1680000"/>
              <a:gd name="adj2" fmla="val 5040000"/>
              <a:gd name="adj3" fmla="val 4412"/>
            </a:avLst>
          </a:prstGeom>
          <a:solidFill>
            <a:srgbClr val="3B3B3B"/>
          </a:solidFill>
          <a:ln/>
        </p:spPr>
      </p:sp>
      <p:sp>
        <p:nvSpPr>
          <p:cNvPr id="104" name="Senescent RBC inner leaflet 1"/>
          <p:cNvSpPr/>
          <p:nvPr/>
        </p:nvSpPr>
        <p:spPr>
          <a:xfrm>
            <a:off x="6560820" y="2354580"/>
            <a:ext cx="1417320" cy="1417320"/>
          </a:xfrm>
          <a:prstGeom prst="blockArc">
            <a:avLst>
              <a:gd name="adj1" fmla="val 1680000"/>
              <a:gd name="adj2" fmla="val 5040000"/>
              <a:gd name="adj3" fmla="val 4839"/>
            </a:avLst>
          </a:prstGeom>
          <a:solidFill>
            <a:srgbClr val="8FA7B0"/>
          </a:solidFill>
          <a:ln/>
        </p:spPr>
      </p:sp>
      <p:sp>
        <p:nvSpPr>
          <p:cNvPr id="105" name="Senescent RBC outer leaflet 2"/>
          <p:cNvSpPr/>
          <p:nvPr/>
        </p:nvSpPr>
        <p:spPr>
          <a:xfrm>
            <a:off x="6492240" y="2286000"/>
            <a:ext cx="1554480" cy="1554480"/>
          </a:xfrm>
          <a:prstGeom prst="blockArc">
            <a:avLst>
              <a:gd name="adj1" fmla="val 6360000"/>
              <a:gd name="adj2" fmla="val 9360000"/>
              <a:gd name="adj3" fmla="val 4412"/>
            </a:avLst>
          </a:prstGeom>
          <a:solidFill>
            <a:srgbClr val="3B3B3B"/>
          </a:solidFill>
          <a:ln/>
        </p:spPr>
      </p:sp>
      <p:sp>
        <p:nvSpPr>
          <p:cNvPr id="106" name="Senescent RBC inner leaflet 2"/>
          <p:cNvSpPr/>
          <p:nvPr/>
        </p:nvSpPr>
        <p:spPr>
          <a:xfrm>
            <a:off x="6560820" y="2354580"/>
            <a:ext cx="1417320" cy="1417320"/>
          </a:xfrm>
          <a:prstGeom prst="blockArc">
            <a:avLst>
              <a:gd name="adj1" fmla="val 6360000"/>
              <a:gd name="adj2" fmla="val 9360000"/>
              <a:gd name="adj3" fmla="val 4839"/>
            </a:avLst>
          </a:prstGeom>
          <a:solidFill>
            <a:srgbClr val="8FA7B0"/>
          </a:solidFill>
          <a:ln/>
        </p:spPr>
      </p:sp>
      <p:sp>
        <p:nvSpPr>
          <p:cNvPr id="107" name="Senescent RBC outer leaflet 3"/>
          <p:cNvSpPr/>
          <p:nvPr/>
        </p:nvSpPr>
        <p:spPr>
          <a:xfrm>
            <a:off x="6492240" y="2286000"/>
            <a:ext cx="1554480" cy="1554480"/>
          </a:xfrm>
          <a:prstGeom prst="blockArc">
            <a:avLst>
              <a:gd name="adj1" fmla="val 11040000"/>
              <a:gd name="adj2" fmla="val 13800000"/>
              <a:gd name="adj3" fmla="val 4412"/>
            </a:avLst>
          </a:prstGeom>
          <a:solidFill>
            <a:srgbClr val="3B3B3B"/>
          </a:solidFill>
          <a:ln/>
        </p:spPr>
      </p:sp>
      <p:sp>
        <p:nvSpPr>
          <p:cNvPr id="108" name="Senescent RBC inner leaflet 3"/>
          <p:cNvSpPr/>
          <p:nvPr/>
        </p:nvSpPr>
        <p:spPr>
          <a:xfrm>
            <a:off x="6560820" y="2354580"/>
            <a:ext cx="1417320" cy="1417320"/>
          </a:xfrm>
          <a:prstGeom prst="blockArc">
            <a:avLst>
              <a:gd name="adj1" fmla="val 11040000"/>
              <a:gd name="adj2" fmla="val 13800000"/>
              <a:gd name="adj3" fmla="val 4839"/>
            </a:avLst>
          </a:prstGeom>
          <a:solidFill>
            <a:srgbClr val="8FA7B0"/>
          </a:solidFill>
          <a:ln/>
        </p:spPr>
      </p:sp>
      <p:sp>
        <p:nvSpPr>
          <p:cNvPr id="109" name="Senescent RBC outer leaflet 4"/>
          <p:cNvSpPr/>
          <p:nvPr/>
        </p:nvSpPr>
        <p:spPr>
          <a:xfrm>
            <a:off x="6492240" y="2286000"/>
            <a:ext cx="1554480" cy="1554480"/>
          </a:xfrm>
          <a:prstGeom prst="blockArc">
            <a:avLst>
              <a:gd name="adj1" fmla="val 15000000"/>
              <a:gd name="adj2" fmla="val 17880000"/>
              <a:gd name="adj3" fmla="val 4412"/>
            </a:avLst>
          </a:prstGeom>
          <a:solidFill>
            <a:srgbClr val="3B3B3B"/>
          </a:solidFill>
          <a:ln/>
        </p:spPr>
      </p:sp>
      <p:sp>
        <p:nvSpPr>
          <p:cNvPr id="110" name="Senescent RBC inner leaflet 4"/>
          <p:cNvSpPr/>
          <p:nvPr/>
        </p:nvSpPr>
        <p:spPr>
          <a:xfrm>
            <a:off x="6560820" y="2354580"/>
            <a:ext cx="1417320" cy="1417320"/>
          </a:xfrm>
          <a:prstGeom prst="blockArc">
            <a:avLst>
              <a:gd name="adj1" fmla="val 15000000"/>
              <a:gd name="adj2" fmla="val 17880000"/>
              <a:gd name="adj3" fmla="val 4839"/>
            </a:avLst>
          </a:prstGeom>
          <a:solidFill>
            <a:srgbClr val="8FA7B0"/>
          </a:solidFill>
          <a:ln/>
        </p:spPr>
      </p:sp>
      <p:sp>
        <p:nvSpPr>
          <p:cNvPr id="111" name="Senescent RBC outer leaflet 5"/>
          <p:cNvSpPr/>
          <p:nvPr/>
        </p:nvSpPr>
        <p:spPr>
          <a:xfrm>
            <a:off x="6492240" y="2286000"/>
            <a:ext cx="1554480" cy="1554480"/>
          </a:xfrm>
          <a:prstGeom prst="blockArc">
            <a:avLst>
              <a:gd name="adj1" fmla="val 19320000"/>
              <a:gd name="adj2" fmla="val 120000"/>
              <a:gd name="adj3" fmla="val 4412"/>
            </a:avLst>
          </a:prstGeom>
          <a:solidFill>
            <a:srgbClr val="3B3B3B"/>
          </a:solidFill>
          <a:ln/>
        </p:spPr>
      </p:sp>
      <p:sp>
        <p:nvSpPr>
          <p:cNvPr id="112" name="Senescent RBC inner leaflet 5"/>
          <p:cNvSpPr/>
          <p:nvPr/>
        </p:nvSpPr>
        <p:spPr>
          <a:xfrm>
            <a:off x="6560820" y="2354580"/>
            <a:ext cx="1417320" cy="1417320"/>
          </a:xfrm>
          <a:prstGeom prst="blockArc">
            <a:avLst>
              <a:gd name="adj1" fmla="val 19320000"/>
              <a:gd name="adj2" fmla="val 120000"/>
              <a:gd name="adj3" fmla="val 4839"/>
            </a:avLst>
          </a:prstGeom>
          <a:solidFill>
            <a:srgbClr val="8FA7B0"/>
          </a:solidFill>
          <a:ln/>
        </p:spPr>
      </p:sp>
      <p:sp>
        <p:nvSpPr>
          <p:cNvPr id="113" name="Senescent RBC eat-me (outer)"/>
          <p:cNvSpPr/>
          <p:nvPr/>
        </p:nvSpPr>
        <p:spPr>
          <a:xfrm rot="2320000">
            <a:off x="7834318" y="349969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14" name="Senescent RBC eat-me (outer)"/>
          <p:cNvSpPr/>
          <p:nvPr/>
        </p:nvSpPr>
        <p:spPr>
          <a:xfrm rot="3120000">
            <a:off x="7698421" y="3634017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15" name="Senescent RBC eat-me (outer)"/>
          <p:cNvSpPr/>
          <p:nvPr/>
        </p:nvSpPr>
        <p:spPr>
          <a:xfrm rot="3920000">
            <a:off x="7535209" y="373338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16" name="Senescent RBC eat-me (outer)"/>
          <p:cNvSpPr/>
          <p:nvPr/>
        </p:nvSpPr>
        <p:spPr>
          <a:xfrm rot="4720000">
            <a:off x="7353481" y="379242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17" name="Senescent RBC eat-me (outer)"/>
          <p:cNvSpPr/>
          <p:nvPr/>
        </p:nvSpPr>
        <p:spPr>
          <a:xfrm rot="7320000">
            <a:off x="6755654" y="3683426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18" name="Senescent RBC eat-me (outer)"/>
          <p:cNvSpPr/>
          <p:nvPr/>
        </p:nvSpPr>
        <p:spPr>
          <a:xfrm rot="8120000">
            <a:off x="6606460" y="356404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19" name="Senescent RBC eat-me (outer)"/>
          <p:cNvSpPr/>
          <p:nvPr/>
        </p:nvSpPr>
        <p:spPr>
          <a:xfrm rot="8920000">
            <a:off x="6488819" y="3413468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0" name="Senescent RBC CD47 stalk"/>
          <p:cNvSpPr/>
          <p:nvPr/>
        </p:nvSpPr>
        <p:spPr>
          <a:xfrm rot="6480000">
            <a:off x="6442421" y="2718158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121" name="Senescent RBC CD47"/>
          <p:cNvSpPr/>
          <p:nvPr/>
        </p:nvSpPr>
        <p:spPr>
          <a:xfrm>
            <a:off x="6270379" y="2692315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122" name="Senescent RBC eat-me (outer)"/>
          <p:cNvSpPr/>
          <p:nvPr/>
        </p:nvSpPr>
        <p:spPr>
          <a:xfrm rot="12680000">
            <a:off x="6488819" y="2557564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3" name="Senescent RBC eat-me (outer)"/>
          <p:cNvSpPr/>
          <p:nvPr/>
        </p:nvSpPr>
        <p:spPr>
          <a:xfrm rot="13480000">
            <a:off x="6606460" y="240699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4" name="Senescent RBC eat-me (outer)"/>
          <p:cNvSpPr/>
          <p:nvPr/>
        </p:nvSpPr>
        <p:spPr>
          <a:xfrm rot="15960000">
            <a:off x="7134349" y="216456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5" name="Senescent RBC eat-me (outer)"/>
          <p:cNvSpPr/>
          <p:nvPr/>
        </p:nvSpPr>
        <p:spPr>
          <a:xfrm rot="16760000">
            <a:off x="7325222" y="217345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6" name="Senescent RBC eat-me (outer)"/>
          <p:cNvSpPr/>
          <p:nvPr/>
        </p:nvSpPr>
        <p:spPr>
          <a:xfrm rot="17560000">
            <a:off x="7508899" y="222611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7" name="Senescent RBC eat-me (outer)"/>
          <p:cNvSpPr/>
          <p:nvPr/>
        </p:nvSpPr>
        <p:spPr>
          <a:xfrm rot="20280000">
            <a:off x="7954791" y="2677230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28" name="Senescent RBC CD47 stalk"/>
          <p:cNvSpPr/>
          <p:nvPr/>
        </p:nvSpPr>
        <p:spPr>
          <a:xfrm rot="15680000">
            <a:off x="8091874" y="2852802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129" name="Senescent RBC CD47"/>
          <p:cNvSpPr/>
          <p:nvPr/>
        </p:nvSpPr>
        <p:spPr>
          <a:xfrm>
            <a:off x="8168136" y="2847228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130" name="Senescent RBC eat-me (inner)"/>
          <p:cNvSpPr/>
          <p:nvPr/>
        </p:nvSpPr>
        <p:spPr>
          <a:xfrm rot="3920000">
            <a:off x="7428357" y="350071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31" name="Senescent RBC eat-me (inner)"/>
          <p:cNvSpPr/>
          <p:nvPr/>
        </p:nvSpPr>
        <p:spPr>
          <a:xfrm rot="11880000">
            <a:off x="6652575" y="2810326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32" name="Senescent RBC eat-me (inner)"/>
          <p:cNvSpPr/>
          <p:nvPr/>
        </p:nvSpPr>
        <p:spPr>
          <a:xfrm rot="17560000">
            <a:off x="7410233" y="2462376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33" name="Senescent RBC heading"/>
          <p:cNvSpPr txBox="1"/>
          <p:nvPr/>
        </p:nvSpPr>
        <p:spPr>
          <a:xfrm>
            <a:off x="6080760" y="1325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Senescent RBC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~Day 120</a:t>
            </a:r>
            <a:endParaRPr lang="en-US" sz="1600" dirty="0"/>
          </a:p>
        </p:txBody>
      </p:sp>
      <p:sp>
        <p:nvSpPr>
          <p:cNvPr id="134" name="Senescent RBC summary"/>
          <p:cNvSpPr txBox="1"/>
          <p:nvPr/>
        </p:nvSpPr>
        <p:spPr>
          <a:xfrm>
            <a:off x="630936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Membrane degenerated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CD47 minimal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Eat-me mostly outside</a:t>
            </a:r>
            <a:endParaRPr lang="en-US" sz="1400" dirty="0"/>
          </a:p>
        </p:txBody>
      </p:sp>
      <p:sp>
        <p:nvSpPr>
          <p:cNvPr id="135" name="Spleen"/>
          <p:cNvSpPr/>
          <p:nvPr/>
        </p:nvSpPr>
        <p:spPr>
          <a:xfrm>
            <a:off x="8689674" y="1940357"/>
            <a:ext cx="3029616" cy="2432304"/>
          </a:xfrm>
          <a:custGeom>
            <a:avLst/>
            <a:gdLst/>
            <a:ahLst/>
            <a:cxnLst/>
            <a:rect l="l" t="t" r="r" b="b"/>
            <a:pathLst>
              <a:path w="3029616" h="2432304">
                <a:moveTo>
                  <a:pt x="3027447" y="1241755"/>
                </a:moveTo>
                <a:lnTo>
                  <a:pt x="3029616" y="1312295"/>
                </a:lnTo>
                <a:lnTo>
                  <a:pt x="3026384" y="1382940"/>
                </a:lnTo>
                <a:lnTo>
                  <a:pt x="3017652" y="1453358"/>
                </a:lnTo>
                <a:lnTo>
                  <a:pt x="3003368" y="1523202"/>
                </a:lnTo>
                <a:lnTo>
                  <a:pt x="2983530" y="1592118"/>
                </a:lnTo>
                <a:lnTo>
                  <a:pt x="2958189" y="1659749"/>
                </a:lnTo>
                <a:lnTo>
                  <a:pt x="2927451" y="1725745"/>
                </a:lnTo>
                <a:lnTo>
                  <a:pt x="2891473" y="1789768"/>
                </a:lnTo>
                <a:lnTo>
                  <a:pt x="2850468" y="1851497"/>
                </a:lnTo>
                <a:lnTo>
                  <a:pt x="2804694" y="1910639"/>
                </a:lnTo>
                <a:lnTo>
                  <a:pt x="2754456" y="1966932"/>
                </a:lnTo>
                <a:lnTo>
                  <a:pt x="2700093" y="2020153"/>
                </a:lnTo>
                <a:lnTo>
                  <a:pt x="2641976" y="2070117"/>
                </a:lnTo>
                <a:lnTo>
                  <a:pt x="2580497" y="2116686"/>
                </a:lnTo>
                <a:lnTo>
                  <a:pt x="2516059" y="2159767"/>
                </a:lnTo>
                <a:lnTo>
                  <a:pt x="2449070" y="2199311"/>
                </a:lnTo>
                <a:lnTo>
                  <a:pt x="2379930" y="2235317"/>
                </a:lnTo>
                <a:lnTo>
                  <a:pt x="2309026" y="2267825"/>
                </a:lnTo>
                <a:lnTo>
                  <a:pt x="2236718" y="2296912"/>
                </a:lnTo>
                <a:lnTo>
                  <a:pt x="2163339" y="2322690"/>
                </a:lnTo>
                <a:lnTo>
                  <a:pt x="2089184" y="2345295"/>
                </a:lnTo>
                <a:lnTo>
                  <a:pt x="2014505" y="2364885"/>
                </a:lnTo>
                <a:lnTo>
                  <a:pt x="1939513" y="2381628"/>
                </a:lnTo>
                <a:lnTo>
                  <a:pt x="1864372" y="2395698"/>
                </a:lnTo>
                <a:lnTo>
                  <a:pt x="1789202" y="2407264"/>
                </a:lnTo>
                <a:lnTo>
                  <a:pt x="1714081" y="2416483"/>
                </a:lnTo>
                <a:lnTo>
                  <a:pt x="1639049" y="2423497"/>
                </a:lnTo>
                <a:lnTo>
                  <a:pt x="1564114" y="2428419"/>
                </a:lnTo>
                <a:lnTo>
                  <a:pt x="1489258" y="2431337"/>
                </a:lnTo>
                <a:lnTo>
                  <a:pt x="1414446" y="2432304"/>
                </a:lnTo>
                <a:lnTo>
                  <a:pt x="1339634" y="2431337"/>
                </a:lnTo>
                <a:lnTo>
                  <a:pt x="1264778" y="2428419"/>
                </a:lnTo>
                <a:lnTo>
                  <a:pt x="1189842" y="2423495"/>
                </a:lnTo>
                <a:lnTo>
                  <a:pt x="1114811" y="2416480"/>
                </a:lnTo>
                <a:lnTo>
                  <a:pt x="1039691" y="2407257"/>
                </a:lnTo>
                <a:lnTo>
                  <a:pt x="964525" y="2395683"/>
                </a:lnTo>
                <a:lnTo>
                  <a:pt x="889393" y="2381596"/>
                </a:lnTo>
                <a:lnTo>
                  <a:pt x="814421" y="2364820"/>
                </a:lnTo>
                <a:lnTo>
                  <a:pt x="739786" y="2345166"/>
                </a:lnTo>
                <a:lnTo>
                  <a:pt x="665723" y="2322444"/>
                </a:lnTo>
                <a:lnTo>
                  <a:pt x="592526" y="2296459"/>
                </a:lnTo>
                <a:lnTo>
                  <a:pt x="520565" y="2267022"/>
                </a:lnTo>
                <a:lnTo>
                  <a:pt x="450294" y="2233945"/>
                </a:lnTo>
                <a:lnTo>
                  <a:pt x="382260" y="2197053"/>
                </a:lnTo>
                <a:lnTo>
                  <a:pt x="317124" y="2156190"/>
                </a:lnTo>
                <a:lnTo>
                  <a:pt x="255663" y="2111232"/>
                </a:lnTo>
                <a:lnTo>
                  <a:pt x="198766" y="2062120"/>
                </a:lnTo>
                <a:lnTo>
                  <a:pt x="147411" y="2008884"/>
                </a:lnTo>
                <a:lnTo>
                  <a:pt x="102603" y="1951689"/>
                </a:lnTo>
                <a:lnTo>
                  <a:pt x="65285" y="1890870"/>
                </a:lnTo>
                <a:lnTo>
                  <a:pt x="36206" y="1826962"/>
                </a:lnTo>
                <a:lnTo>
                  <a:pt x="15777" y="1760695"/>
                </a:lnTo>
                <a:lnTo>
                  <a:pt x="3927" y="1692961"/>
                </a:lnTo>
                <a:lnTo>
                  <a:pt x="0" y="1624739"/>
                </a:lnTo>
                <a:lnTo>
                  <a:pt x="2727" y="1556979"/>
                </a:lnTo>
                <a:lnTo>
                  <a:pt x="10309" y="1490471"/>
                </a:lnTo>
                <a:lnTo>
                  <a:pt x="20598" y="1425725"/>
                </a:lnTo>
                <a:lnTo>
                  <a:pt x="31385" y="1362893"/>
                </a:lnTo>
                <a:lnTo>
                  <a:pt x="40724" y="1301750"/>
                </a:lnTo>
                <a:lnTo>
                  <a:pt x="47235" y="1241755"/>
                </a:lnTo>
                <a:lnTo>
                  <a:pt x="50324" y="1182180"/>
                </a:lnTo>
                <a:lnTo>
                  <a:pt x="50270" y="1122271"/>
                </a:lnTo>
                <a:lnTo>
                  <a:pt x="48151" y="1061422"/>
                </a:lnTo>
                <a:lnTo>
                  <a:pt x="45637" y="999297"/>
                </a:lnTo>
                <a:lnTo>
                  <a:pt x="44697" y="935903"/>
                </a:lnTo>
                <a:lnTo>
                  <a:pt x="47279" y="871572"/>
                </a:lnTo>
                <a:lnTo>
                  <a:pt x="55041" y="806900"/>
                </a:lnTo>
                <a:lnTo>
                  <a:pt x="69165" y="742624"/>
                </a:lnTo>
                <a:lnTo>
                  <a:pt x="90282" y="679509"/>
                </a:lnTo>
                <a:lnTo>
                  <a:pt x="118500" y="618243"/>
                </a:lnTo>
                <a:lnTo>
                  <a:pt x="153503" y="559367"/>
                </a:lnTo>
                <a:lnTo>
                  <a:pt x="194690" y="503251"/>
                </a:lnTo>
                <a:lnTo>
                  <a:pt x="241315" y="450103"/>
                </a:lnTo>
                <a:lnTo>
                  <a:pt x="292606" y="399998"/>
                </a:lnTo>
                <a:lnTo>
                  <a:pt x="347848" y="352924"/>
                </a:lnTo>
                <a:lnTo>
                  <a:pt x="406428" y="308824"/>
                </a:lnTo>
                <a:lnTo>
                  <a:pt x="467850" y="267631"/>
                </a:lnTo>
                <a:lnTo>
                  <a:pt x="531727" y="229290"/>
                </a:lnTo>
                <a:lnTo>
                  <a:pt x="597761" y="193769"/>
                </a:lnTo>
                <a:lnTo>
                  <a:pt x="665723" y="161067"/>
                </a:lnTo>
                <a:lnTo>
                  <a:pt x="735422" y="131207"/>
                </a:lnTo>
                <a:lnTo>
                  <a:pt x="806698" y="104235"/>
                </a:lnTo>
                <a:lnTo>
                  <a:pt x="879395" y="80211"/>
                </a:lnTo>
                <a:lnTo>
                  <a:pt x="953364" y="59202"/>
                </a:lnTo>
                <a:lnTo>
                  <a:pt x="1028446" y="41279"/>
                </a:lnTo>
                <a:lnTo>
                  <a:pt x="1104475" y="26508"/>
                </a:lnTo>
                <a:lnTo>
                  <a:pt x="1181278" y="14951"/>
                </a:lnTo>
                <a:lnTo>
                  <a:pt x="1258669" y="6658"/>
                </a:lnTo>
                <a:lnTo>
                  <a:pt x="1336457" y="1667"/>
                </a:lnTo>
                <a:lnTo>
                  <a:pt x="1414446" y="0"/>
                </a:lnTo>
                <a:lnTo>
                  <a:pt x="1492434" y="1666"/>
                </a:lnTo>
                <a:lnTo>
                  <a:pt x="1570222" y="6658"/>
                </a:lnTo>
                <a:lnTo>
                  <a:pt x="1647614" y="14950"/>
                </a:lnTo>
                <a:lnTo>
                  <a:pt x="1724417" y="26505"/>
                </a:lnTo>
                <a:lnTo>
                  <a:pt x="1800448" y="41272"/>
                </a:lnTo>
                <a:lnTo>
                  <a:pt x="1875533" y="59187"/>
                </a:lnTo>
                <a:lnTo>
                  <a:pt x="1949510" y="80179"/>
                </a:lnTo>
                <a:lnTo>
                  <a:pt x="2022228" y="104170"/>
                </a:lnTo>
                <a:lnTo>
                  <a:pt x="2093548" y="131078"/>
                </a:lnTo>
                <a:lnTo>
                  <a:pt x="2163339" y="160820"/>
                </a:lnTo>
                <a:lnTo>
                  <a:pt x="2231483" y="193316"/>
                </a:lnTo>
                <a:lnTo>
                  <a:pt x="2297865" y="228487"/>
                </a:lnTo>
                <a:lnTo>
                  <a:pt x="2362375" y="266259"/>
                </a:lnTo>
                <a:lnTo>
                  <a:pt x="2424902" y="306567"/>
                </a:lnTo>
                <a:lnTo>
                  <a:pt x="2485335" y="349347"/>
                </a:lnTo>
                <a:lnTo>
                  <a:pt x="2543554" y="394544"/>
                </a:lnTo>
                <a:lnTo>
                  <a:pt x="2599427" y="442106"/>
                </a:lnTo>
                <a:lnTo>
                  <a:pt x="2652814" y="491982"/>
                </a:lnTo>
                <a:lnTo>
                  <a:pt x="2703556" y="544123"/>
                </a:lnTo>
                <a:lnTo>
                  <a:pt x="2751479" y="598475"/>
                </a:lnTo>
                <a:lnTo>
                  <a:pt x="2796391" y="654975"/>
                </a:lnTo>
                <a:lnTo>
                  <a:pt x="2838085" y="713551"/>
                </a:lnTo>
                <a:lnTo>
                  <a:pt x="2876337" y="774116"/>
                </a:lnTo>
                <a:lnTo>
                  <a:pt x="2910910" y="836563"/>
                </a:lnTo>
                <a:lnTo>
                  <a:pt x="2941561" y="900764"/>
                </a:lnTo>
                <a:lnTo>
                  <a:pt x="2968039" y="966566"/>
                </a:lnTo>
                <a:lnTo>
                  <a:pt x="2990099" y="1033789"/>
                </a:lnTo>
                <a:lnTo>
                  <a:pt x="3007500" y="1102225"/>
                </a:lnTo>
                <a:lnTo>
                  <a:pt x="3020017" y="1171635"/>
                </a:lnTo>
                <a:close/>
              </a:path>
            </a:pathLst>
          </a:custGeom>
          <a:solidFill>
            <a:srgbClr val="F4DADD"/>
          </a:solidFill>
          <a:ln w="19050">
            <a:solidFill>
              <a:srgbClr val="B5525E"/>
            </a:solidFill>
            <a:prstDash val="solid"/>
          </a:ln>
        </p:spPr>
      </p:sp>
      <p:sp>
        <p:nvSpPr>
          <p:cNvPr id="136" name="Engulfed RBC cytoplasm"/>
          <p:cNvSpPr/>
          <p:nvPr/>
        </p:nvSpPr>
        <p:spPr>
          <a:xfrm>
            <a:off x="9098280" y="2651760"/>
            <a:ext cx="822960" cy="822960"/>
          </a:xfrm>
          <a:prstGeom prst="ellipse">
            <a:avLst/>
          </a:prstGeom>
          <a:solidFill>
            <a:srgbClr val="9A3B3B"/>
          </a:solidFill>
          <a:ln/>
        </p:spPr>
      </p:sp>
      <p:sp>
        <p:nvSpPr>
          <p:cNvPr id="137" name="Engulfed RBC central pallor"/>
          <p:cNvSpPr/>
          <p:nvPr/>
        </p:nvSpPr>
        <p:spPr>
          <a:xfrm>
            <a:off x="9298534" y="2852014"/>
            <a:ext cx="422453" cy="422453"/>
          </a:xfrm>
          <a:prstGeom prst="ellipse">
            <a:avLst/>
          </a:prstGeom>
          <a:solidFill>
            <a:srgbClr val="C48A8A"/>
          </a:solidFill>
          <a:ln/>
        </p:spPr>
      </p:sp>
      <p:sp>
        <p:nvSpPr>
          <p:cNvPr id="138" name="Engulfed RBC outer leaflet 1"/>
          <p:cNvSpPr/>
          <p:nvPr/>
        </p:nvSpPr>
        <p:spPr>
          <a:xfrm>
            <a:off x="9006840" y="2560320"/>
            <a:ext cx="1005840" cy="1005840"/>
          </a:xfrm>
          <a:prstGeom prst="blockArc">
            <a:avLst>
              <a:gd name="adj1" fmla="val 1980000"/>
              <a:gd name="adj2" fmla="val 5880000"/>
              <a:gd name="adj3" fmla="val 6818"/>
            </a:avLst>
          </a:prstGeom>
          <a:solidFill>
            <a:srgbClr val="3B3B3B"/>
          </a:solidFill>
          <a:ln/>
        </p:spPr>
      </p:sp>
      <p:sp>
        <p:nvSpPr>
          <p:cNvPr id="139" name="Engulfed RBC inner leaflet 1"/>
          <p:cNvSpPr/>
          <p:nvPr/>
        </p:nvSpPr>
        <p:spPr>
          <a:xfrm>
            <a:off x="9075420" y="2628900"/>
            <a:ext cx="868680" cy="868680"/>
          </a:xfrm>
          <a:prstGeom prst="blockArc">
            <a:avLst>
              <a:gd name="adj1" fmla="val 1980000"/>
              <a:gd name="adj2" fmla="val 5880000"/>
              <a:gd name="adj3" fmla="val 7895"/>
            </a:avLst>
          </a:prstGeom>
          <a:solidFill>
            <a:srgbClr val="8FA7B0"/>
          </a:solidFill>
          <a:ln/>
        </p:spPr>
      </p:sp>
      <p:sp>
        <p:nvSpPr>
          <p:cNvPr id="140" name="Engulfed RBC outer leaflet 2"/>
          <p:cNvSpPr/>
          <p:nvPr/>
        </p:nvSpPr>
        <p:spPr>
          <a:xfrm>
            <a:off x="9006840" y="2560320"/>
            <a:ext cx="1005840" cy="1005840"/>
          </a:xfrm>
          <a:prstGeom prst="blockArc">
            <a:avLst>
              <a:gd name="adj1" fmla="val 7320000"/>
              <a:gd name="adj2" fmla="val 10260000"/>
              <a:gd name="adj3" fmla="val 6818"/>
            </a:avLst>
          </a:prstGeom>
          <a:solidFill>
            <a:srgbClr val="3B3B3B"/>
          </a:solidFill>
          <a:ln/>
        </p:spPr>
      </p:sp>
      <p:sp>
        <p:nvSpPr>
          <p:cNvPr id="141" name="Engulfed RBC inner leaflet 2"/>
          <p:cNvSpPr/>
          <p:nvPr/>
        </p:nvSpPr>
        <p:spPr>
          <a:xfrm>
            <a:off x="9075420" y="2628900"/>
            <a:ext cx="868680" cy="868680"/>
          </a:xfrm>
          <a:prstGeom prst="blockArc">
            <a:avLst>
              <a:gd name="adj1" fmla="val 7320000"/>
              <a:gd name="adj2" fmla="val 10260000"/>
              <a:gd name="adj3" fmla="val 7895"/>
            </a:avLst>
          </a:prstGeom>
          <a:solidFill>
            <a:srgbClr val="8FA7B0"/>
          </a:solidFill>
          <a:ln/>
        </p:spPr>
      </p:sp>
      <p:sp>
        <p:nvSpPr>
          <p:cNvPr id="142" name="Engulfed RBC outer leaflet 3"/>
          <p:cNvSpPr/>
          <p:nvPr/>
        </p:nvSpPr>
        <p:spPr>
          <a:xfrm>
            <a:off x="9006840" y="2560320"/>
            <a:ext cx="1005840" cy="1005840"/>
          </a:xfrm>
          <a:prstGeom prst="blockArc">
            <a:avLst>
              <a:gd name="adj1" fmla="val 11940000"/>
              <a:gd name="adj2" fmla="val 14340000"/>
              <a:gd name="adj3" fmla="val 6818"/>
            </a:avLst>
          </a:prstGeom>
          <a:solidFill>
            <a:srgbClr val="3B3B3B"/>
          </a:solidFill>
          <a:ln/>
        </p:spPr>
      </p:sp>
      <p:sp>
        <p:nvSpPr>
          <p:cNvPr id="143" name="Engulfed RBC inner leaflet 3"/>
          <p:cNvSpPr/>
          <p:nvPr/>
        </p:nvSpPr>
        <p:spPr>
          <a:xfrm>
            <a:off x="9075420" y="2628900"/>
            <a:ext cx="868680" cy="868680"/>
          </a:xfrm>
          <a:prstGeom prst="blockArc">
            <a:avLst>
              <a:gd name="adj1" fmla="val 11940000"/>
              <a:gd name="adj2" fmla="val 14340000"/>
              <a:gd name="adj3" fmla="val 7895"/>
            </a:avLst>
          </a:prstGeom>
          <a:solidFill>
            <a:srgbClr val="8FA7B0"/>
          </a:solidFill>
          <a:ln/>
        </p:spPr>
      </p:sp>
      <p:sp>
        <p:nvSpPr>
          <p:cNvPr id="144" name="Engulfed RBC outer leaflet 4"/>
          <p:cNvSpPr/>
          <p:nvPr/>
        </p:nvSpPr>
        <p:spPr>
          <a:xfrm>
            <a:off x="9006840" y="2560320"/>
            <a:ext cx="1005840" cy="1005840"/>
          </a:xfrm>
          <a:prstGeom prst="blockArc">
            <a:avLst>
              <a:gd name="adj1" fmla="val 15660000"/>
              <a:gd name="adj2" fmla="val 18480000"/>
              <a:gd name="adj3" fmla="val 6818"/>
            </a:avLst>
          </a:prstGeom>
          <a:solidFill>
            <a:srgbClr val="3B3B3B"/>
          </a:solidFill>
          <a:ln/>
        </p:spPr>
      </p:sp>
      <p:sp>
        <p:nvSpPr>
          <p:cNvPr id="145" name="Engulfed RBC inner leaflet 4"/>
          <p:cNvSpPr/>
          <p:nvPr/>
        </p:nvSpPr>
        <p:spPr>
          <a:xfrm>
            <a:off x="9075420" y="2628900"/>
            <a:ext cx="868680" cy="868680"/>
          </a:xfrm>
          <a:prstGeom prst="blockArc">
            <a:avLst>
              <a:gd name="adj1" fmla="val 15660000"/>
              <a:gd name="adj2" fmla="val 18480000"/>
              <a:gd name="adj3" fmla="val 7895"/>
            </a:avLst>
          </a:prstGeom>
          <a:solidFill>
            <a:srgbClr val="8FA7B0"/>
          </a:solidFill>
          <a:ln/>
        </p:spPr>
      </p:sp>
      <p:sp>
        <p:nvSpPr>
          <p:cNvPr id="146" name="Engulfed RBC outer leaflet 5"/>
          <p:cNvSpPr/>
          <p:nvPr/>
        </p:nvSpPr>
        <p:spPr>
          <a:xfrm>
            <a:off x="9006840" y="2560320"/>
            <a:ext cx="1005840" cy="1005840"/>
          </a:xfrm>
          <a:prstGeom prst="blockArc">
            <a:avLst>
              <a:gd name="adj1" fmla="val 19920000"/>
              <a:gd name="adj2" fmla="val 420000"/>
              <a:gd name="adj3" fmla="val 6818"/>
            </a:avLst>
          </a:prstGeom>
          <a:solidFill>
            <a:srgbClr val="3B3B3B"/>
          </a:solidFill>
          <a:ln/>
        </p:spPr>
      </p:sp>
      <p:sp>
        <p:nvSpPr>
          <p:cNvPr id="147" name="Engulfed RBC inner leaflet 5"/>
          <p:cNvSpPr/>
          <p:nvPr/>
        </p:nvSpPr>
        <p:spPr>
          <a:xfrm>
            <a:off x="9075420" y="2628900"/>
            <a:ext cx="868680" cy="868680"/>
          </a:xfrm>
          <a:prstGeom prst="blockArc">
            <a:avLst>
              <a:gd name="adj1" fmla="val 19920000"/>
              <a:gd name="adj2" fmla="val 420000"/>
              <a:gd name="adj3" fmla="val 7895"/>
            </a:avLst>
          </a:prstGeom>
          <a:solidFill>
            <a:srgbClr val="8FA7B0"/>
          </a:solidFill>
          <a:ln/>
        </p:spPr>
      </p:sp>
      <p:sp>
        <p:nvSpPr>
          <p:cNvPr id="148" name="Engulfed RBC eat-me (outer)"/>
          <p:cNvSpPr/>
          <p:nvPr/>
        </p:nvSpPr>
        <p:spPr>
          <a:xfrm rot="2955000">
            <a:off x="9790166" y="3401146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49" name="Engulfed RBC eat-me (outer)"/>
          <p:cNvSpPr/>
          <p:nvPr/>
        </p:nvSpPr>
        <p:spPr>
          <a:xfrm rot="4425000">
            <a:off x="9585561" y="3512238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0" name="Engulfed RBC eat-me (outer)"/>
          <p:cNvSpPr/>
          <p:nvPr/>
        </p:nvSpPr>
        <p:spPr>
          <a:xfrm rot="7815000">
            <a:off x="9077547" y="3404256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1" name="Engulfed RBC eat-me (outer)"/>
          <p:cNvSpPr/>
          <p:nvPr/>
        </p:nvSpPr>
        <p:spPr>
          <a:xfrm rot="9285000">
            <a:off x="8935816" y="3219549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2" name="Engulfed RBC eat-me (outer)"/>
          <p:cNvSpPr/>
          <p:nvPr/>
        </p:nvSpPr>
        <p:spPr>
          <a:xfrm rot="12915000">
            <a:off x="8983994" y="266887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3" name="Engulfed RBC eat-me (outer)"/>
          <p:cNvSpPr/>
          <p:nvPr/>
        </p:nvSpPr>
        <p:spPr>
          <a:xfrm rot="16185000">
            <a:off x="9429642" y="243688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4" name="Engulfed RBC eat-me (outer)"/>
          <p:cNvSpPr/>
          <p:nvPr/>
        </p:nvSpPr>
        <p:spPr>
          <a:xfrm rot="17655000">
            <a:off x="9657373" y="2485287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5" name="Engulfed RBC CD47 stalk"/>
          <p:cNvSpPr/>
          <p:nvPr/>
        </p:nvSpPr>
        <p:spPr>
          <a:xfrm rot="15645000">
            <a:off x="10060053" y="2888345"/>
            <a:ext cx="36576" cy="164592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156" name="Engulfed RBC CD47"/>
          <p:cNvSpPr/>
          <p:nvPr/>
        </p:nvSpPr>
        <p:spPr>
          <a:xfrm>
            <a:off x="10136112" y="2881483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157" name="Engulfed RBC eat-me (inner)"/>
          <p:cNvSpPr/>
          <p:nvPr/>
        </p:nvSpPr>
        <p:spPr>
          <a:xfrm rot="5160000">
            <a:off x="9452447" y="3277411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8" name="Engulfed RBC eat-me (inner)"/>
          <p:cNvSpPr/>
          <p:nvPr/>
        </p:nvSpPr>
        <p:spPr>
          <a:xfrm rot="16920000">
            <a:off x="9492873" y="2699302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59" name="Pseudopod (upper)"/>
          <p:cNvSpPr/>
          <p:nvPr/>
        </p:nvSpPr>
        <p:spPr>
          <a:xfrm>
            <a:off x="8776529" y="2222120"/>
            <a:ext cx="1377664" cy="595095"/>
          </a:xfrm>
          <a:custGeom>
            <a:avLst/>
            <a:gdLst/>
            <a:ahLst/>
            <a:cxnLst/>
            <a:rect l="l" t="t" r="r" b="b"/>
            <a:pathLst>
              <a:path w="1377664" h="595095">
                <a:moveTo>
                  <a:pt x="1377664" y="300376"/>
                </a:moveTo>
                <a:lnTo>
                  <a:pt x="1348481" y="267390"/>
                </a:lnTo>
                <a:lnTo>
                  <a:pt x="1317611" y="235977"/>
                </a:lnTo>
                <a:lnTo>
                  <a:pt x="1285139" y="206222"/>
                </a:lnTo>
                <a:lnTo>
                  <a:pt x="1251155" y="178207"/>
                </a:lnTo>
                <a:lnTo>
                  <a:pt x="1215751" y="152010"/>
                </a:lnTo>
                <a:lnTo>
                  <a:pt x="1179024" y="127701"/>
                </a:lnTo>
                <a:lnTo>
                  <a:pt x="1141076" y="105348"/>
                </a:lnTo>
                <a:lnTo>
                  <a:pt x="1102010" y="85011"/>
                </a:lnTo>
                <a:lnTo>
                  <a:pt x="1061933" y="66747"/>
                </a:lnTo>
                <a:lnTo>
                  <a:pt x="1020955" y="50605"/>
                </a:lnTo>
                <a:lnTo>
                  <a:pt x="979188" y="36630"/>
                </a:lnTo>
                <a:lnTo>
                  <a:pt x="936747" y="24861"/>
                </a:lnTo>
                <a:lnTo>
                  <a:pt x="893749" y="15328"/>
                </a:lnTo>
                <a:lnTo>
                  <a:pt x="850310" y="8059"/>
                </a:lnTo>
                <a:lnTo>
                  <a:pt x="806550" y="3073"/>
                </a:lnTo>
                <a:lnTo>
                  <a:pt x="762590" y="384"/>
                </a:lnTo>
                <a:lnTo>
                  <a:pt x="718549" y="0"/>
                </a:lnTo>
                <a:lnTo>
                  <a:pt x="674548" y="1921"/>
                </a:lnTo>
                <a:lnTo>
                  <a:pt x="630709" y="6142"/>
                </a:lnTo>
                <a:lnTo>
                  <a:pt x="587150" y="12652"/>
                </a:lnTo>
                <a:lnTo>
                  <a:pt x="543991" y="21433"/>
                </a:lnTo>
                <a:lnTo>
                  <a:pt x="501352" y="32460"/>
                </a:lnTo>
                <a:lnTo>
                  <a:pt x="459347" y="45704"/>
                </a:lnTo>
                <a:lnTo>
                  <a:pt x="418094" y="61128"/>
                </a:lnTo>
                <a:lnTo>
                  <a:pt x="377704" y="78690"/>
                </a:lnTo>
                <a:lnTo>
                  <a:pt x="338289" y="98342"/>
                </a:lnTo>
                <a:lnTo>
                  <a:pt x="299956" y="120030"/>
                </a:lnTo>
                <a:lnTo>
                  <a:pt x="262811" y="143694"/>
                </a:lnTo>
                <a:lnTo>
                  <a:pt x="226955" y="169269"/>
                </a:lnTo>
                <a:lnTo>
                  <a:pt x="192487" y="196687"/>
                </a:lnTo>
                <a:lnTo>
                  <a:pt x="159501" y="225870"/>
                </a:lnTo>
                <a:lnTo>
                  <a:pt x="128088" y="256740"/>
                </a:lnTo>
                <a:lnTo>
                  <a:pt x="98333" y="289212"/>
                </a:lnTo>
                <a:lnTo>
                  <a:pt x="70318" y="323196"/>
                </a:lnTo>
                <a:lnTo>
                  <a:pt x="52443" y="364427"/>
                </a:lnTo>
                <a:lnTo>
                  <a:pt x="37044" y="406094"/>
                </a:lnTo>
                <a:lnTo>
                  <a:pt x="24117" y="448052"/>
                </a:lnTo>
                <a:lnTo>
                  <a:pt x="13649" y="490156"/>
                </a:lnTo>
                <a:lnTo>
                  <a:pt x="5620" y="532267"/>
                </a:lnTo>
                <a:lnTo>
                  <a:pt x="0" y="574246"/>
                </a:lnTo>
                <a:lnTo>
                  <a:pt x="57284" y="595095"/>
                </a:lnTo>
                <a:lnTo>
                  <a:pt x="80438" y="564026"/>
                </a:lnTo>
                <a:lnTo>
                  <a:pt x="104967" y="534695"/>
                </a:lnTo>
                <a:lnTo>
                  <a:pt x="130751" y="507160"/>
                </a:lnTo>
                <a:lnTo>
                  <a:pt x="157671" y="481470"/>
                </a:lnTo>
                <a:lnTo>
                  <a:pt x="185605" y="457668"/>
                </a:lnTo>
                <a:lnTo>
                  <a:pt x="214430" y="435788"/>
                </a:lnTo>
                <a:lnTo>
                  <a:pt x="236354" y="409192"/>
                </a:lnTo>
                <a:lnTo>
                  <a:pt x="259641" y="383779"/>
                </a:lnTo>
                <a:lnTo>
                  <a:pt x="284225" y="359620"/>
                </a:lnTo>
                <a:lnTo>
                  <a:pt x="310040" y="336781"/>
                </a:lnTo>
                <a:lnTo>
                  <a:pt x="337015" y="315324"/>
                </a:lnTo>
                <a:lnTo>
                  <a:pt x="365076" y="295308"/>
                </a:lnTo>
                <a:lnTo>
                  <a:pt x="394146" y="276788"/>
                </a:lnTo>
                <a:lnTo>
                  <a:pt x="424146" y="259815"/>
                </a:lnTo>
                <a:lnTo>
                  <a:pt x="454993" y="244436"/>
                </a:lnTo>
                <a:lnTo>
                  <a:pt x="486602" y="230692"/>
                </a:lnTo>
                <a:lnTo>
                  <a:pt x="518887" y="218621"/>
                </a:lnTo>
                <a:lnTo>
                  <a:pt x="551760" y="208256"/>
                </a:lnTo>
                <a:lnTo>
                  <a:pt x="585130" y="199626"/>
                </a:lnTo>
                <a:lnTo>
                  <a:pt x="618906" y="192754"/>
                </a:lnTo>
                <a:lnTo>
                  <a:pt x="652996" y="187659"/>
                </a:lnTo>
                <a:lnTo>
                  <a:pt x="687305" y="184356"/>
                </a:lnTo>
                <a:lnTo>
                  <a:pt x="721741" y="182852"/>
                </a:lnTo>
                <a:lnTo>
                  <a:pt x="756208" y="183153"/>
                </a:lnTo>
                <a:lnTo>
                  <a:pt x="790611" y="185257"/>
                </a:lnTo>
                <a:lnTo>
                  <a:pt x="824858" y="189159"/>
                </a:lnTo>
                <a:lnTo>
                  <a:pt x="858853" y="194848"/>
                </a:lnTo>
                <a:lnTo>
                  <a:pt x="892505" y="202308"/>
                </a:lnTo>
                <a:lnTo>
                  <a:pt x="925719" y="211519"/>
                </a:lnTo>
                <a:lnTo>
                  <a:pt x="958406" y="222456"/>
                </a:lnTo>
                <a:lnTo>
                  <a:pt x="990476" y="235089"/>
                </a:lnTo>
                <a:lnTo>
                  <a:pt x="1021840" y="249383"/>
                </a:lnTo>
                <a:lnTo>
                  <a:pt x="1052414" y="265298"/>
                </a:lnTo>
                <a:lnTo>
                  <a:pt x="1082113" y="282792"/>
                </a:lnTo>
                <a:lnTo>
                  <a:pt x="1110855" y="301816"/>
                </a:lnTo>
                <a:lnTo>
                  <a:pt x="1138563" y="322319"/>
                </a:lnTo>
                <a:lnTo>
                  <a:pt x="1165159" y="344243"/>
                </a:lnTo>
                <a:lnTo>
                  <a:pt x="1190572" y="367530"/>
                </a:lnTo>
                <a:lnTo>
                  <a:pt x="1214731" y="392114"/>
                </a:lnTo>
                <a:lnTo>
                  <a:pt x="1237570" y="417929"/>
                </a:lnTo>
                <a:close/>
              </a:path>
            </a:pathLst>
          </a:custGeom>
          <a:solidFill>
            <a:srgbClr val="D7C7E3"/>
          </a:solidFill>
          <a:ln w="19050">
            <a:solidFill>
              <a:srgbClr val="7A5C8E"/>
            </a:solidFill>
            <a:prstDash val="solid"/>
          </a:ln>
        </p:spPr>
      </p:sp>
      <p:sp>
        <p:nvSpPr>
          <p:cNvPr id="160" name="Pseudopod (lower)"/>
          <p:cNvSpPr/>
          <p:nvPr/>
        </p:nvSpPr>
        <p:spPr>
          <a:xfrm>
            <a:off x="8776529" y="3309265"/>
            <a:ext cx="1377664" cy="595095"/>
          </a:xfrm>
          <a:custGeom>
            <a:avLst/>
            <a:gdLst/>
            <a:ahLst/>
            <a:cxnLst/>
            <a:rect l="l" t="t" r="r" b="b"/>
            <a:pathLst>
              <a:path w="1377664" h="595095">
                <a:moveTo>
                  <a:pt x="1377664" y="294719"/>
                </a:moveTo>
                <a:lnTo>
                  <a:pt x="1348481" y="327705"/>
                </a:lnTo>
                <a:lnTo>
                  <a:pt x="1317611" y="359119"/>
                </a:lnTo>
                <a:lnTo>
                  <a:pt x="1285139" y="388873"/>
                </a:lnTo>
                <a:lnTo>
                  <a:pt x="1251155" y="416888"/>
                </a:lnTo>
                <a:lnTo>
                  <a:pt x="1215751" y="443085"/>
                </a:lnTo>
                <a:lnTo>
                  <a:pt x="1179024" y="467394"/>
                </a:lnTo>
                <a:lnTo>
                  <a:pt x="1141076" y="489747"/>
                </a:lnTo>
                <a:lnTo>
                  <a:pt x="1102010" y="510084"/>
                </a:lnTo>
                <a:lnTo>
                  <a:pt x="1061933" y="528348"/>
                </a:lnTo>
                <a:lnTo>
                  <a:pt x="1020955" y="544490"/>
                </a:lnTo>
                <a:lnTo>
                  <a:pt x="979188" y="558465"/>
                </a:lnTo>
                <a:lnTo>
                  <a:pt x="936747" y="570235"/>
                </a:lnTo>
                <a:lnTo>
                  <a:pt x="893749" y="579767"/>
                </a:lnTo>
                <a:lnTo>
                  <a:pt x="850310" y="587036"/>
                </a:lnTo>
                <a:lnTo>
                  <a:pt x="806550" y="592022"/>
                </a:lnTo>
                <a:lnTo>
                  <a:pt x="762590" y="594711"/>
                </a:lnTo>
                <a:lnTo>
                  <a:pt x="718549" y="595095"/>
                </a:lnTo>
                <a:lnTo>
                  <a:pt x="674548" y="593174"/>
                </a:lnTo>
                <a:lnTo>
                  <a:pt x="630709" y="588953"/>
                </a:lnTo>
                <a:lnTo>
                  <a:pt x="587150" y="582443"/>
                </a:lnTo>
                <a:lnTo>
                  <a:pt x="543991" y="573662"/>
                </a:lnTo>
                <a:lnTo>
                  <a:pt x="501352" y="562635"/>
                </a:lnTo>
                <a:lnTo>
                  <a:pt x="459347" y="549391"/>
                </a:lnTo>
                <a:lnTo>
                  <a:pt x="418094" y="533967"/>
                </a:lnTo>
                <a:lnTo>
                  <a:pt x="377704" y="516405"/>
                </a:lnTo>
                <a:lnTo>
                  <a:pt x="338289" y="496753"/>
                </a:lnTo>
                <a:lnTo>
                  <a:pt x="299956" y="475066"/>
                </a:lnTo>
                <a:lnTo>
                  <a:pt x="262811" y="451402"/>
                </a:lnTo>
                <a:lnTo>
                  <a:pt x="226955" y="425826"/>
                </a:lnTo>
                <a:lnTo>
                  <a:pt x="192487" y="398409"/>
                </a:lnTo>
                <a:lnTo>
                  <a:pt x="159501" y="369225"/>
                </a:lnTo>
                <a:lnTo>
                  <a:pt x="128088" y="338355"/>
                </a:lnTo>
                <a:lnTo>
                  <a:pt x="98333" y="305884"/>
                </a:lnTo>
                <a:lnTo>
                  <a:pt x="70318" y="271899"/>
                </a:lnTo>
                <a:lnTo>
                  <a:pt x="52443" y="230668"/>
                </a:lnTo>
                <a:lnTo>
                  <a:pt x="37044" y="189001"/>
                </a:lnTo>
                <a:lnTo>
                  <a:pt x="24117" y="147043"/>
                </a:lnTo>
                <a:lnTo>
                  <a:pt x="13649" y="104939"/>
                </a:lnTo>
                <a:lnTo>
                  <a:pt x="5620" y="62828"/>
                </a:lnTo>
                <a:lnTo>
                  <a:pt x="0" y="20850"/>
                </a:lnTo>
                <a:lnTo>
                  <a:pt x="57284" y="0"/>
                </a:lnTo>
                <a:lnTo>
                  <a:pt x="80438" y="31069"/>
                </a:lnTo>
                <a:lnTo>
                  <a:pt x="104967" y="60400"/>
                </a:lnTo>
                <a:lnTo>
                  <a:pt x="130751" y="87935"/>
                </a:lnTo>
                <a:lnTo>
                  <a:pt x="157671" y="113625"/>
                </a:lnTo>
                <a:lnTo>
                  <a:pt x="185605" y="137427"/>
                </a:lnTo>
                <a:lnTo>
                  <a:pt x="214430" y="159307"/>
                </a:lnTo>
                <a:lnTo>
                  <a:pt x="236354" y="185904"/>
                </a:lnTo>
                <a:lnTo>
                  <a:pt x="259641" y="211316"/>
                </a:lnTo>
                <a:lnTo>
                  <a:pt x="284225" y="235475"/>
                </a:lnTo>
                <a:lnTo>
                  <a:pt x="310040" y="258314"/>
                </a:lnTo>
                <a:lnTo>
                  <a:pt x="337015" y="279771"/>
                </a:lnTo>
                <a:lnTo>
                  <a:pt x="365076" y="299787"/>
                </a:lnTo>
                <a:lnTo>
                  <a:pt x="394146" y="318307"/>
                </a:lnTo>
                <a:lnTo>
                  <a:pt x="424146" y="335280"/>
                </a:lnTo>
                <a:lnTo>
                  <a:pt x="454993" y="350659"/>
                </a:lnTo>
                <a:lnTo>
                  <a:pt x="486602" y="364404"/>
                </a:lnTo>
                <a:lnTo>
                  <a:pt x="518887" y="376475"/>
                </a:lnTo>
                <a:lnTo>
                  <a:pt x="551760" y="386839"/>
                </a:lnTo>
                <a:lnTo>
                  <a:pt x="585130" y="395469"/>
                </a:lnTo>
                <a:lnTo>
                  <a:pt x="618906" y="402341"/>
                </a:lnTo>
                <a:lnTo>
                  <a:pt x="652996" y="407436"/>
                </a:lnTo>
                <a:lnTo>
                  <a:pt x="687305" y="410740"/>
                </a:lnTo>
                <a:lnTo>
                  <a:pt x="721741" y="412243"/>
                </a:lnTo>
                <a:lnTo>
                  <a:pt x="756208" y="411942"/>
                </a:lnTo>
                <a:lnTo>
                  <a:pt x="790611" y="409838"/>
                </a:lnTo>
                <a:lnTo>
                  <a:pt x="824858" y="405936"/>
                </a:lnTo>
                <a:lnTo>
                  <a:pt x="858853" y="400247"/>
                </a:lnTo>
                <a:lnTo>
                  <a:pt x="892505" y="392787"/>
                </a:lnTo>
                <a:lnTo>
                  <a:pt x="925719" y="383576"/>
                </a:lnTo>
                <a:lnTo>
                  <a:pt x="958406" y="372639"/>
                </a:lnTo>
                <a:lnTo>
                  <a:pt x="990476" y="360006"/>
                </a:lnTo>
                <a:lnTo>
                  <a:pt x="1021840" y="345713"/>
                </a:lnTo>
                <a:lnTo>
                  <a:pt x="1052414" y="329797"/>
                </a:lnTo>
                <a:lnTo>
                  <a:pt x="1082113" y="312303"/>
                </a:lnTo>
                <a:lnTo>
                  <a:pt x="1110855" y="293279"/>
                </a:lnTo>
                <a:lnTo>
                  <a:pt x="1138563" y="272776"/>
                </a:lnTo>
                <a:lnTo>
                  <a:pt x="1165159" y="250852"/>
                </a:lnTo>
                <a:lnTo>
                  <a:pt x="1190572" y="227566"/>
                </a:lnTo>
                <a:lnTo>
                  <a:pt x="1214731" y="202981"/>
                </a:lnTo>
                <a:lnTo>
                  <a:pt x="1237570" y="177166"/>
                </a:lnTo>
                <a:close/>
              </a:path>
            </a:pathLst>
          </a:custGeom>
          <a:solidFill>
            <a:srgbClr val="D7C7E3"/>
          </a:solidFill>
          <a:ln w="19050">
            <a:solidFill>
              <a:srgbClr val="7A5C8E"/>
            </a:solidFill>
            <a:prstDash val="solid"/>
          </a:ln>
        </p:spPr>
      </p:sp>
      <p:sp>
        <p:nvSpPr>
          <p:cNvPr id="161" name="Macrophage body"/>
          <p:cNvSpPr/>
          <p:nvPr/>
        </p:nvSpPr>
        <p:spPr>
          <a:xfrm>
            <a:off x="9908726" y="2118391"/>
            <a:ext cx="1491028" cy="1769454"/>
          </a:xfrm>
          <a:custGeom>
            <a:avLst/>
            <a:gdLst/>
            <a:ahLst/>
            <a:cxnLst/>
            <a:rect l="l" t="t" r="r" b="b"/>
            <a:pathLst>
              <a:path w="1491028" h="1769454">
                <a:moveTo>
                  <a:pt x="1479875" y="944849"/>
                </a:moveTo>
                <a:lnTo>
                  <a:pt x="1488395" y="994019"/>
                </a:lnTo>
                <a:lnTo>
                  <a:pt x="1491028" y="1043788"/>
                </a:lnTo>
                <a:lnTo>
                  <a:pt x="1486819" y="1093152"/>
                </a:lnTo>
                <a:lnTo>
                  <a:pt x="1475475" y="1141013"/>
                </a:lnTo>
                <a:lnTo>
                  <a:pt x="1457467" y="1186403"/>
                </a:lnTo>
                <a:lnTo>
                  <a:pt x="1433976" y="1228698"/>
                </a:lnTo>
                <a:lnTo>
                  <a:pt x="1406719" y="1267767"/>
                </a:lnTo>
                <a:lnTo>
                  <a:pt x="1377668" y="1304029"/>
                </a:lnTo>
                <a:lnTo>
                  <a:pt x="1348723" y="1338386"/>
                </a:lnTo>
                <a:lnTo>
                  <a:pt x="1321401" y="1372039"/>
                </a:lnTo>
                <a:lnTo>
                  <a:pt x="1296601" y="1406231"/>
                </a:lnTo>
                <a:lnTo>
                  <a:pt x="1274483" y="1441949"/>
                </a:lnTo>
                <a:lnTo>
                  <a:pt x="1254488" y="1479676"/>
                </a:lnTo>
                <a:lnTo>
                  <a:pt x="1235493" y="1519216"/>
                </a:lnTo>
                <a:lnTo>
                  <a:pt x="1216055" y="1559666"/>
                </a:lnTo>
                <a:lnTo>
                  <a:pt x="1194710" y="1599522"/>
                </a:lnTo>
                <a:lnTo>
                  <a:pt x="1170257" y="1636924"/>
                </a:lnTo>
                <a:lnTo>
                  <a:pt x="1141967" y="1669979"/>
                </a:lnTo>
                <a:lnTo>
                  <a:pt x="1109702" y="1697108"/>
                </a:lnTo>
                <a:lnTo>
                  <a:pt x="1073896" y="1717350"/>
                </a:lnTo>
                <a:lnTo>
                  <a:pt x="1035438" y="1730551"/>
                </a:lnTo>
                <a:lnTo>
                  <a:pt x="995467" y="1737406"/>
                </a:lnTo>
                <a:lnTo>
                  <a:pt x="955139" y="1739347"/>
                </a:lnTo>
                <a:lnTo>
                  <a:pt x="915410" y="1738279"/>
                </a:lnTo>
                <a:lnTo>
                  <a:pt x="876886" y="1736246"/>
                </a:lnTo>
                <a:lnTo>
                  <a:pt x="839758" y="1735062"/>
                </a:lnTo>
                <a:lnTo>
                  <a:pt x="803835" y="1735997"/>
                </a:lnTo>
                <a:lnTo>
                  <a:pt x="768655" y="1739583"/>
                </a:lnTo>
                <a:lnTo>
                  <a:pt x="733652" y="1745557"/>
                </a:lnTo>
                <a:lnTo>
                  <a:pt x="698314" y="1752969"/>
                </a:lnTo>
                <a:lnTo>
                  <a:pt x="662321" y="1760418"/>
                </a:lnTo>
                <a:lnTo>
                  <a:pt x="625603" y="1766364"/>
                </a:lnTo>
                <a:lnTo>
                  <a:pt x="588331" y="1769454"/>
                </a:lnTo>
                <a:lnTo>
                  <a:pt x="550833" y="1768789"/>
                </a:lnTo>
                <a:lnTo>
                  <a:pt x="513462" y="1764078"/>
                </a:lnTo>
                <a:lnTo>
                  <a:pt x="476465" y="1755651"/>
                </a:lnTo>
                <a:lnTo>
                  <a:pt x="439879" y="1744328"/>
                </a:lnTo>
                <a:lnTo>
                  <a:pt x="403493" y="1731186"/>
                </a:lnTo>
                <a:lnTo>
                  <a:pt x="366893" y="1717258"/>
                </a:lnTo>
                <a:lnTo>
                  <a:pt x="329583" y="1703258"/>
                </a:lnTo>
                <a:lnTo>
                  <a:pt x="291158" y="1689370"/>
                </a:lnTo>
                <a:lnTo>
                  <a:pt x="251489" y="1675164"/>
                </a:lnTo>
                <a:lnTo>
                  <a:pt x="210877" y="1659646"/>
                </a:lnTo>
                <a:lnTo>
                  <a:pt x="170130" y="1641445"/>
                </a:lnTo>
                <a:lnTo>
                  <a:pt x="130532" y="1619089"/>
                </a:lnTo>
                <a:lnTo>
                  <a:pt x="93706" y="1591313"/>
                </a:lnTo>
                <a:lnTo>
                  <a:pt x="61383" y="1557333"/>
                </a:lnTo>
                <a:lnTo>
                  <a:pt x="35114" y="1517037"/>
                </a:lnTo>
                <a:lnTo>
                  <a:pt x="15992" y="1471036"/>
                </a:lnTo>
                <a:lnTo>
                  <a:pt x="4421" y="1420584"/>
                </a:lnTo>
                <a:lnTo>
                  <a:pt x="0" y="1367371"/>
                </a:lnTo>
                <a:lnTo>
                  <a:pt x="1542" y="1313238"/>
                </a:lnTo>
                <a:lnTo>
                  <a:pt x="7230" y="1259871"/>
                </a:lnTo>
                <a:lnTo>
                  <a:pt x="14896" y="1208540"/>
                </a:lnTo>
                <a:lnTo>
                  <a:pt x="22360" y="1159930"/>
                </a:lnTo>
                <a:lnTo>
                  <a:pt x="27779" y="1114099"/>
                </a:lnTo>
                <a:lnTo>
                  <a:pt x="29939" y="1070558"/>
                </a:lnTo>
                <a:lnTo>
                  <a:pt x="28429" y="1028458"/>
                </a:lnTo>
                <a:lnTo>
                  <a:pt x="23678" y="986834"/>
                </a:lnTo>
                <a:lnTo>
                  <a:pt x="16835" y="944849"/>
                </a:lnTo>
                <a:lnTo>
                  <a:pt x="9532" y="901983"/>
                </a:lnTo>
                <a:lnTo>
                  <a:pt x="3564" y="858136"/>
                </a:lnTo>
                <a:lnTo>
                  <a:pt x="562" y="813614"/>
                </a:lnTo>
                <a:lnTo>
                  <a:pt x="1709" y="769018"/>
                </a:lnTo>
                <a:lnTo>
                  <a:pt x="7563" y="725059"/>
                </a:lnTo>
                <a:lnTo>
                  <a:pt x="18006" y="682357"/>
                </a:lnTo>
                <a:lnTo>
                  <a:pt x="32334" y="641269"/>
                </a:lnTo>
                <a:lnTo>
                  <a:pt x="49451" y="601789"/>
                </a:lnTo>
                <a:lnTo>
                  <a:pt x="68131" y="563549"/>
                </a:lnTo>
                <a:lnTo>
                  <a:pt x="87290" y="525928"/>
                </a:lnTo>
                <a:lnTo>
                  <a:pt x="106201" y="488228"/>
                </a:lnTo>
                <a:lnTo>
                  <a:pt x="124630" y="449891"/>
                </a:lnTo>
                <a:lnTo>
                  <a:pt x="142841" y="410696"/>
                </a:lnTo>
                <a:lnTo>
                  <a:pt x="161509" y="370881"/>
                </a:lnTo>
                <a:lnTo>
                  <a:pt x="181529" y="331167"/>
                </a:lnTo>
                <a:lnTo>
                  <a:pt x="203800" y="292658"/>
                </a:lnTo>
                <a:lnTo>
                  <a:pt x="229009" y="256641"/>
                </a:lnTo>
                <a:lnTo>
                  <a:pt x="257478" y="224323"/>
                </a:lnTo>
                <a:lnTo>
                  <a:pt x="289099" y="196563"/>
                </a:lnTo>
                <a:lnTo>
                  <a:pt x="323371" y="173662"/>
                </a:lnTo>
                <a:lnTo>
                  <a:pt x="359520" y="155255"/>
                </a:lnTo>
                <a:lnTo>
                  <a:pt x="396684" y="140349"/>
                </a:lnTo>
                <a:lnTo>
                  <a:pt x="434102" y="127498"/>
                </a:lnTo>
                <a:lnTo>
                  <a:pt x="471278" y="115088"/>
                </a:lnTo>
                <a:lnTo>
                  <a:pt x="508061" y="101685"/>
                </a:lnTo>
                <a:lnTo>
                  <a:pt x="544651" y="86370"/>
                </a:lnTo>
                <a:lnTo>
                  <a:pt x="581495" y="68987"/>
                </a:lnTo>
                <a:lnTo>
                  <a:pt x="619135" y="50262"/>
                </a:lnTo>
                <a:lnTo>
                  <a:pt x="658016" y="31749"/>
                </a:lnTo>
                <a:lnTo>
                  <a:pt x="698314" y="15609"/>
                </a:lnTo>
                <a:lnTo>
                  <a:pt x="739824" y="4269"/>
                </a:lnTo>
                <a:lnTo>
                  <a:pt x="781941" y="0"/>
                </a:lnTo>
                <a:lnTo>
                  <a:pt x="823731" y="4524"/>
                </a:lnTo>
                <a:lnTo>
                  <a:pt x="864091" y="18692"/>
                </a:lnTo>
                <a:lnTo>
                  <a:pt x="901962" y="42317"/>
                </a:lnTo>
                <a:lnTo>
                  <a:pt x="936541" y="74187"/>
                </a:lnTo>
                <a:lnTo>
                  <a:pt x="967456" y="112246"/>
                </a:lnTo>
                <a:lnTo>
                  <a:pt x="994853" y="153928"/>
                </a:lnTo>
                <a:lnTo>
                  <a:pt x="1019387" y="196555"/>
                </a:lnTo>
                <a:lnTo>
                  <a:pt x="1042098" y="237750"/>
                </a:lnTo>
                <a:lnTo>
                  <a:pt x="1064213" y="275770"/>
                </a:lnTo>
                <a:lnTo>
                  <a:pt x="1086906" y="309713"/>
                </a:lnTo>
                <a:lnTo>
                  <a:pt x="1111071" y="339565"/>
                </a:lnTo>
                <a:lnTo>
                  <a:pt x="1137150" y="366089"/>
                </a:lnTo>
                <a:lnTo>
                  <a:pt x="1165058" y="390590"/>
                </a:lnTo>
                <a:lnTo>
                  <a:pt x="1194224" y="414607"/>
                </a:lnTo>
                <a:lnTo>
                  <a:pt x="1223727" y="439602"/>
                </a:lnTo>
                <a:lnTo>
                  <a:pt x="1252509" y="466706"/>
                </a:lnTo>
                <a:lnTo>
                  <a:pt x="1279609" y="496570"/>
                </a:lnTo>
                <a:lnTo>
                  <a:pt x="1304369" y="529335"/>
                </a:lnTo>
                <a:lnTo>
                  <a:pt x="1326565" y="564718"/>
                </a:lnTo>
                <a:lnTo>
                  <a:pt x="1346432" y="602183"/>
                </a:lnTo>
                <a:lnTo>
                  <a:pt x="1364576" y="641141"/>
                </a:lnTo>
                <a:lnTo>
                  <a:pt x="1381794" y="681133"/>
                </a:lnTo>
                <a:lnTo>
                  <a:pt x="1398832" y="721951"/>
                </a:lnTo>
                <a:lnTo>
                  <a:pt x="1416151" y="763659"/>
                </a:lnTo>
                <a:lnTo>
                  <a:pt x="1433737" y="806529"/>
                </a:lnTo>
                <a:lnTo>
                  <a:pt x="1451015" y="850903"/>
                </a:lnTo>
                <a:lnTo>
                  <a:pt x="1466885" y="897017"/>
                </a:lnTo>
                <a:close/>
              </a:path>
            </a:pathLst>
          </a:custGeom>
          <a:solidFill>
            <a:srgbClr val="D7C7E3"/>
          </a:solidFill>
          <a:ln w="19050">
            <a:solidFill>
              <a:srgbClr val="7A5C8E"/>
            </a:solidFill>
            <a:prstDash val="solid"/>
          </a:ln>
        </p:spPr>
      </p:sp>
      <p:sp>
        <p:nvSpPr>
          <p:cNvPr id="162" name="Macrophage nucleus"/>
          <p:cNvSpPr/>
          <p:nvPr/>
        </p:nvSpPr>
        <p:spPr>
          <a:xfrm rot="-720000">
            <a:off x="10440275" y="2430965"/>
            <a:ext cx="662603" cy="364625"/>
          </a:xfrm>
          <a:custGeom>
            <a:avLst/>
            <a:gdLst/>
            <a:ahLst/>
            <a:cxnLst/>
            <a:rect l="l" t="t" r="r" b="b"/>
            <a:pathLst>
              <a:path w="662603" h="364625">
                <a:moveTo>
                  <a:pt x="660491" y="202507"/>
                </a:moveTo>
                <a:lnTo>
                  <a:pt x="662059" y="213099"/>
                </a:lnTo>
                <a:lnTo>
                  <a:pt x="662603" y="223783"/>
                </a:lnTo>
                <a:lnTo>
                  <a:pt x="662020" y="234512"/>
                </a:lnTo>
                <a:lnTo>
                  <a:pt x="660217" y="245225"/>
                </a:lnTo>
                <a:lnTo>
                  <a:pt x="657120" y="255850"/>
                </a:lnTo>
                <a:lnTo>
                  <a:pt x="652677" y="266309"/>
                </a:lnTo>
                <a:lnTo>
                  <a:pt x="646855" y="276518"/>
                </a:lnTo>
                <a:lnTo>
                  <a:pt x="639651" y="286389"/>
                </a:lnTo>
                <a:lnTo>
                  <a:pt x="631081" y="295834"/>
                </a:lnTo>
                <a:lnTo>
                  <a:pt x="621190" y="304768"/>
                </a:lnTo>
                <a:lnTo>
                  <a:pt x="610045" y="313107"/>
                </a:lnTo>
                <a:lnTo>
                  <a:pt x="597734" y="320778"/>
                </a:lnTo>
                <a:lnTo>
                  <a:pt x="584366" y="327713"/>
                </a:lnTo>
                <a:lnTo>
                  <a:pt x="570067" y="333856"/>
                </a:lnTo>
                <a:lnTo>
                  <a:pt x="554981" y="339166"/>
                </a:lnTo>
                <a:lnTo>
                  <a:pt x="539266" y="343616"/>
                </a:lnTo>
                <a:lnTo>
                  <a:pt x="523092" y="347201"/>
                </a:lnTo>
                <a:lnTo>
                  <a:pt x="506636" y="349938"/>
                </a:lnTo>
                <a:lnTo>
                  <a:pt x="490078" y="351868"/>
                </a:lnTo>
                <a:lnTo>
                  <a:pt x="473595" y="353062"/>
                </a:lnTo>
                <a:lnTo>
                  <a:pt x="457349" y="353618"/>
                </a:lnTo>
                <a:lnTo>
                  <a:pt x="441480" y="353659"/>
                </a:lnTo>
                <a:lnTo>
                  <a:pt x="426097" y="353332"/>
                </a:lnTo>
                <a:lnTo>
                  <a:pt x="411265" y="352798"/>
                </a:lnTo>
                <a:lnTo>
                  <a:pt x="397002" y="352222"/>
                </a:lnTo>
                <a:lnTo>
                  <a:pt x="383272" y="351765"/>
                </a:lnTo>
                <a:lnTo>
                  <a:pt x="369990" y="351566"/>
                </a:lnTo>
                <a:lnTo>
                  <a:pt x="357023" y="351734"/>
                </a:lnTo>
                <a:lnTo>
                  <a:pt x="344206" y="352335"/>
                </a:lnTo>
                <a:lnTo>
                  <a:pt x="331357" y="353383"/>
                </a:lnTo>
                <a:lnTo>
                  <a:pt x="318294" y="354841"/>
                </a:lnTo>
                <a:lnTo>
                  <a:pt x="304852" y="356617"/>
                </a:lnTo>
                <a:lnTo>
                  <a:pt x="290909" y="358573"/>
                </a:lnTo>
                <a:lnTo>
                  <a:pt x="276391" y="360539"/>
                </a:lnTo>
                <a:lnTo>
                  <a:pt x="261286" y="362319"/>
                </a:lnTo>
                <a:lnTo>
                  <a:pt x="245645" y="363715"/>
                </a:lnTo>
                <a:lnTo>
                  <a:pt x="229579" y="364539"/>
                </a:lnTo>
                <a:lnTo>
                  <a:pt x="213245" y="364625"/>
                </a:lnTo>
                <a:lnTo>
                  <a:pt x="196838" y="363846"/>
                </a:lnTo>
                <a:lnTo>
                  <a:pt x="180567" y="362115"/>
                </a:lnTo>
                <a:lnTo>
                  <a:pt x="164642" y="359391"/>
                </a:lnTo>
                <a:lnTo>
                  <a:pt x="149255" y="355677"/>
                </a:lnTo>
                <a:lnTo>
                  <a:pt x="134568" y="351017"/>
                </a:lnTo>
                <a:lnTo>
                  <a:pt x="120701" y="345481"/>
                </a:lnTo>
                <a:lnTo>
                  <a:pt x="107734" y="339166"/>
                </a:lnTo>
                <a:lnTo>
                  <a:pt x="95700" y="332177"/>
                </a:lnTo>
                <a:lnTo>
                  <a:pt x="84592" y="324623"/>
                </a:lnTo>
                <a:lnTo>
                  <a:pt x="74373" y="316608"/>
                </a:lnTo>
                <a:lnTo>
                  <a:pt x="64980" y="308222"/>
                </a:lnTo>
                <a:lnTo>
                  <a:pt x="56338" y="299541"/>
                </a:lnTo>
                <a:lnTo>
                  <a:pt x="48371" y="290623"/>
                </a:lnTo>
                <a:lnTo>
                  <a:pt x="41009" y="281506"/>
                </a:lnTo>
                <a:lnTo>
                  <a:pt x="34198" y="272216"/>
                </a:lnTo>
                <a:lnTo>
                  <a:pt x="27903" y="262762"/>
                </a:lnTo>
                <a:lnTo>
                  <a:pt x="22117" y="253144"/>
                </a:lnTo>
                <a:lnTo>
                  <a:pt x="16855" y="243360"/>
                </a:lnTo>
                <a:lnTo>
                  <a:pt x="12162" y="233402"/>
                </a:lnTo>
                <a:lnTo>
                  <a:pt x="8101" y="223270"/>
                </a:lnTo>
                <a:lnTo>
                  <a:pt x="4756" y="212967"/>
                </a:lnTo>
                <a:lnTo>
                  <a:pt x="2224" y="202507"/>
                </a:lnTo>
                <a:lnTo>
                  <a:pt x="604" y="191914"/>
                </a:lnTo>
                <a:lnTo>
                  <a:pt x="0" y="181224"/>
                </a:lnTo>
                <a:lnTo>
                  <a:pt x="503" y="170484"/>
                </a:lnTo>
                <a:lnTo>
                  <a:pt x="2194" y="159750"/>
                </a:lnTo>
                <a:lnTo>
                  <a:pt x="5132" y="149089"/>
                </a:lnTo>
                <a:lnTo>
                  <a:pt x="9354" y="138570"/>
                </a:lnTo>
                <a:lnTo>
                  <a:pt x="14870" y="128264"/>
                </a:lnTo>
                <a:lnTo>
                  <a:pt x="21661" y="118244"/>
                </a:lnTo>
                <a:lnTo>
                  <a:pt x="29684" y="108573"/>
                </a:lnTo>
                <a:lnTo>
                  <a:pt x="38869" y="99310"/>
                </a:lnTo>
                <a:lnTo>
                  <a:pt x="49126" y="90501"/>
                </a:lnTo>
                <a:lnTo>
                  <a:pt x="60346" y="82179"/>
                </a:lnTo>
                <a:lnTo>
                  <a:pt x="72412" y="74363"/>
                </a:lnTo>
                <a:lnTo>
                  <a:pt x="85200" y="67060"/>
                </a:lnTo>
                <a:lnTo>
                  <a:pt x="98589" y="60260"/>
                </a:lnTo>
                <a:lnTo>
                  <a:pt x="112464" y="53943"/>
                </a:lnTo>
                <a:lnTo>
                  <a:pt x="126723" y="48078"/>
                </a:lnTo>
                <a:lnTo>
                  <a:pt x="141280" y="42629"/>
                </a:lnTo>
                <a:lnTo>
                  <a:pt x="156068" y="37555"/>
                </a:lnTo>
                <a:lnTo>
                  <a:pt x="171042" y="32817"/>
                </a:lnTo>
                <a:lnTo>
                  <a:pt x="186175" y="28379"/>
                </a:lnTo>
                <a:lnTo>
                  <a:pt x="201461" y="24214"/>
                </a:lnTo>
                <a:lnTo>
                  <a:pt x="216908" y="20304"/>
                </a:lnTo>
                <a:lnTo>
                  <a:pt x="232536" y="16644"/>
                </a:lnTo>
                <a:lnTo>
                  <a:pt x="248372" y="13242"/>
                </a:lnTo>
                <a:lnTo>
                  <a:pt x="264442" y="10122"/>
                </a:lnTo>
                <a:lnTo>
                  <a:pt x="280770" y="7320"/>
                </a:lnTo>
                <a:lnTo>
                  <a:pt x="297368" y="4882"/>
                </a:lnTo>
                <a:lnTo>
                  <a:pt x="314237" y="2868"/>
                </a:lnTo>
                <a:lnTo>
                  <a:pt x="331357" y="1339"/>
                </a:lnTo>
                <a:lnTo>
                  <a:pt x="348693" y="362"/>
                </a:lnTo>
                <a:lnTo>
                  <a:pt x="366186" y="0"/>
                </a:lnTo>
                <a:lnTo>
                  <a:pt x="383761" y="312"/>
                </a:lnTo>
                <a:lnTo>
                  <a:pt x="401324" y="1348"/>
                </a:lnTo>
                <a:lnTo>
                  <a:pt x="418770" y="3145"/>
                </a:lnTo>
                <a:lnTo>
                  <a:pt x="435983" y="5726"/>
                </a:lnTo>
                <a:lnTo>
                  <a:pt x="452846" y="9097"/>
                </a:lnTo>
                <a:lnTo>
                  <a:pt x="469243" y="13248"/>
                </a:lnTo>
                <a:lnTo>
                  <a:pt x="485068" y="18151"/>
                </a:lnTo>
                <a:lnTo>
                  <a:pt x="500226" y="23764"/>
                </a:lnTo>
                <a:lnTo>
                  <a:pt x="514641" y="30032"/>
                </a:lnTo>
                <a:lnTo>
                  <a:pt x="528259" y="36889"/>
                </a:lnTo>
                <a:lnTo>
                  <a:pt x="541047" y="44263"/>
                </a:lnTo>
                <a:lnTo>
                  <a:pt x="552998" y="52078"/>
                </a:lnTo>
                <a:lnTo>
                  <a:pt x="564126" y="60260"/>
                </a:lnTo>
                <a:lnTo>
                  <a:pt x="574463" y="68739"/>
                </a:lnTo>
                <a:lnTo>
                  <a:pt x="584060" y="77453"/>
                </a:lnTo>
                <a:lnTo>
                  <a:pt x="592977" y="86349"/>
                </a:lnTo>
                <a:lnTo>
                  <a:pt x="601279" y="95386"/>
                </a:lnTo>
                <a:lnTo>
                  <a:pt x="609032" y="104536"/>
                </a:lnTo>
                <a:lnTo>
                  <a:pt x="616294" y="113785"/>
                </a:lnTo>
                <a:lnTo>
                  <a:pt x="623110" y="123126"/>
                </a:lnTo>
                <a:lnTo>
                  <a:pt x="629508" y="132566"/>
                </a:lnTo>
                <a:lnTo>
                  <a:pt x="635498" y="142117"/>
                </a:lnTo>
                <a:lnTo>
                  <a:pt x="641064" y="151794"/>
                </a:lnTo>
                <a:lnTo>
                  <a:pt x="646169" y="161614"/>
                </a:lnTo>
                <a:lnTo>
                  <a:pt x="650755" y="171593"/>
                </a:lnTo>
                <a:lnTo>
                  <a:pt x="654743" y="181736"/>
                </a:lnTo>
                <a:lnTo>
                  <a:pt x="658040" y="192045"/>
                </a:lnTo>
                <a:close/>
              </a:path>
            </a:pathLst>
          </a:custGeom>
          <a:solidFill>
            <a:srgbClr val="6E4A85"/>
          </a:solidFill>
          <a:ln/>
        </p:spPr>
      </p:sp>
      <p:sp>
        <p:nvSpPr>
          <p:cNvPr id="163" name="Phagosome"/>
          <p:cNvSpPr/>
          <p:nvPr/>
        </p:nvSpPr>
        <p:spPr>
          <a:xfrm>
            <a:off x="10469880" y="3154680"/>
            <a:ext cx="621792" cy="548640"/>
          </a:xfrm>
          <a:prstGeom prst="ellipse">
            <a:avLst/>
          </a:prstGeom>
          <a:solidFill>
            <a:srgbClr val="F3EDF7"/>
          </a:solidFill>
          <a:ln w="12700">
            <a:solidFill>
              <a:srgbClr val="7A5C8E"/>
            </a:solidFill>
            <a:prstDash val="dash"/>
          </a:ln>
        </p:spPr>
      </p:sp>
      <p:sp>
        <p:nvSpPr>
          <p:cNvPr id="164" name="Digested RBC"/>
          <p:cNvSpPr/>
          <p:nvPr/>
        </p:nvSpPr>
        <p:spPr>
          <a:xfrm>
            <a:off x="10589491" y="3256178"/>
            <a:ext cx="397549" cy="329930"/>
          </a:xfrm>
          <a:custGeom>
            <a:avLst/>
            <a:gdLst/>
            <a:ahLst/>
            <a:cxnLst/>
            <a:rect l="l" t="t" r="r" b="b"/>
            <a:pathLst>
              <a:path w="397549" h="329930">
                <a:moveTo>
                  <a:pt x="380807" y="172822"/>
                </a:moveTo>
                <a:lnTo>
                  <a:pt x="389217" y="181466"/>
                </a:lnTo>
                <a:lnTo>
                  <a:pt x="395053" y="190670"/>
                </a:lnTo>
                <a:lnTo>
                  <a:pt x="397549" y="200046"/>
                </a:lnTo>
                <a:lnTo>
                  <a:pt x="396244" y="209127"/>
                </a:lnTo>
                <a:lnTo>
                  <a:pt x="391056" y="217429"/>
                </a:lnTo>
                <a:lnTo>
                  <a:pt x="382291" y="224540"/>
                </a:lnTo>
                <a:lnTo>
                  <a:pt x="370609" y="230185"/>
                </a:lnTo>
                <a:lnTo>
                  <a:pt x="356936" y="234283"/>
                </a:lnTo>
                <a:lnTo>
                  <a:pt x="342344" y="236962"/>
                </a:lnTo>
                <a:lnTo>
                  <a:pt x="327909" y="238556"/>
                </a:lnTo>
                <a:lnTo>
                  <a:pt x="314582" y="239547"/>
                </a:lnTo>
                <a:lnTo>
                  <a:pt x="303074" y="240505"/>
                </a:lnTo>
                <a:lnTo>
                  <a:pt x="293784" y="241991"/>
                </a:lnTo>
                <a:lnTo>
                  <a:pt x="286778" y="244474"/>
                </a:lnTo>
                <a:lnTo>
                  <a:pt x="281811" y="248261"/>
                </a:lnTo>
                <a:lnTo>
                  <a:pt x="278395" y="253444"/>
                </a:lnTo>
                <a:lnTo>
                  <a:pt x="275894" y="259892"/>
                </a:lnTo>
                <a:lnTo>
                  <a:pt x="273634" y="267275"/>
                </a:lnTo>
                <a:lnTo>
                  <a:pt x="271005" y="275121"/>
                </a:lnTo>
                <a:lnTo>
                  <a:pt x="267544" y="282893"/>
                </a:lnTo>
                <a:lnTo>
                  <a:pt x="262980" y="290079"/>
                </a:lnTo>
                <a:lnTo>
                  <a:pt x="257244" y="296277"/>
                </a:lnTo>
                <a:lnTo>
                  <a:pt x="250445" y="301253"/>
                </a:lnTo>
                <a:lnTo>
                  <a:pt x="242812" y="304977"/>
                </a:lnTo>
                <a:lnTo>
                  <a:pt x="234625" y="307612"/>
                </a:lnTo>
                <a:lnTo>
                  <a:pt x="226143" y="309483"/>
                </a:lnTo>
                <a:lnTo>
                  <a:pt x="217547" y="310999"/>
                </a:lnTo>
                <a:lnTo>
                  <a:pt x="208911" y="312573"/>
                </a:lnTo>
                <a:lnTo>
                  <a:pt x="200197" y="314530"/>
                </a:lnTo>
                <a:lnTo>
                  <a:pt x="191285" y="317041"/>
                </a:lnTo>
                <a:lnTo>
                  <a:pt x="182025" y="320069"/>
                </a:lnTo>
                <a:lnTo>
                  <a:pt x="172298" y="323364"/>
                </a:lnTo>
                <a:lnTo>
                  <a:pt x="162079" y="326488"/>
                </a:lnTo>
                <a:lnTo>
                  <a:pt x="151481" y="328876"/>
                </a:lnTo>
                <a:lnTo>
                  <a:pt x="140769" y="329930"/>
                </a:lnTo>
                <a:lnTo>
                  <a:pt x="130349" y="329108"/>
                </a:lnTo>
                <a:lnTo>
                  <a:pt x="120715" y="326024"/>
                </a:lnTo>
                <a:lnTo>
                  <a:pt x="112376" y="320516"/>
                </a:lnTo>
                <a:lnTo>
                  <a:pt x="105767" y="312687"/>
                </a:lnTo>
                <a:lnTo>
                  <a:pt x="101163" y="302902"/>
                </a:lnTo>
                <a:lnTo>
                  <a:pt x="98607" y="291749"/>
                </a:lnTo>
                <a:lnTo>
                  <a:pt x="97875" y="279962"/>
                </a:lnTo>
                <a:lnTo>
                  <a:pt x="98481" y="268325"/>
                </a:lnTo>
                <a:lnTo>
                  <a:pt x="99721" y="257566"/>
                </a:lnTo>
                <a:lnTo>
                  <a:pt x="100759" y="248261"/>
                </a:lnTo>
                <a:lnTo>
                  <a:pt x="100738" y="240763"/>
                </a:lnTo>
                <a:lnTo>
                  <a:pt x="98906" y="235162"/>
                </a:lnTo>
                <a:lnTo>
                  <a:pt x="94720" y="231288"/>
                </a:lnTo>
                <a:lnTo>
                  <a:pt x="87941" y="228749"/>
                </a:lnTo>
                <a:lnTo>
                  <a:pt x="78672" y="227003"/>
                </a:lnTo>
                <a:lnTo>
                  <a:pt x="67355" y="225443"/>
                </a:lnTo>
                <a:lnTo>
                  <a:pt x="54720" y="223491"/>
                </a:lnTo>
                <a:lnTo>
                  <a:pt x="41686" y="220677"/>
                </a:lnTo>
                <a:lnTo>
                  <a:pt x="29237" y="216699"/>
                </a:lnTo>
                <a:lnTo>
                  <a:pt x="18295" y="211449"/>
                </a:lnTo>
                <a:lnTo>
                  <a:pt x="9597" y="205005"/>
                </a:lnTo>
                <a:lnTo>
                  <a:pt x="3607" y="197593"/>
                </a:lnTo>
                <a:lnTo>
                  <a:pt x="467" y="189535"/>
                </a:lnTo>
                <a:lnTo>
                  <a:pt x="0" y="181176"/>
                </a:lnTo>
                <a:lnTo>
                  <a:pt x="1763" y="172822"/>
                </a:lnTo>
                <a:lnTo>
                  <a:pt x="5134" y="164692"/>
                </a:lnTo>
                <a:lnTo>
                  <a:pt x="9423" y="156893"/>
                </a:lnTo>
                <a:lnTo>
                  <a:pt x="13991" y="149422"/>
                </a:lnTo>
                <a:lnTo>
                  <a:pt x="18348" y="142190"/>
                </a:lnTo>
                <a:lnTo>
                  <a:pt x="22227" y="135073"/>
                </a:lnTo>
                <a:lnTo>
                  <a:pt x="25607" y="127962"/>
                </a:lnTo>
                <a:lnTo>
                  <a:pt x="28699" y="120813"/>
                </a:lnTo>
                <a:lnTo>
                  <a:pt x="31886" y="113681"/>
                </a:lnTo>
                <a:lnTo>
                  <a:pt x="35638" y="106734"/>
                </a:lnTo>
                <a:lnTo>
                  <a:pt x="40407" y="100231"/>
                </a:lnTo>
                <a:lnTo>
                  <a:pt x="46532" y="94486"/>
                </a:lnTo>
                <a:lnTo>
                  <a:pt x="54168" y="89804"/>
                </a:lnTo>
                <a:lnTo>
                  <a:pt x="63239" y="86414"/>
                </a:lnTo>
                <a:lnTo>
                  <a:pt x="73444" y="84401"/>
                </a:lnTo>
                <a:lnTo>
                  <a:pt x="84299" y="83667"/>
                </a:lnTo>
                <a:lnTo>
                  <a:pt x="95216" y="83909"/>
                </a:lnTo>
                <a:lnTo>
                  <a:pt x="105592" y="84637"/>
                </a:lnTo>
                <a:lnTo>
                  <a:pt x="114915" y="85227"/>
                </a:lnTo>
                <a:lnTo>
                  <a:pt x="122847" y="85002"/>
                </a:lnTo>
                <a:lnTo>
                  <a:pt x="129280" y="83325"/>
                </a:lnTo>
                <a:lnTo>
                  <a:pt x="134351" y="79706"/>
                </a:lnTo>
                <a:lnTo>
                  <a:pt x="138423" y="73880"/>
                </a:lnTo>
                <a:lnTo>
                  <a:pt x="142019" y="65869"/>
                </a:lnTo>
                <a:lnTo>
                  <a:pt x="145737" y="56003"/>
                </a:lnTo>
                <a:lnTo>
                  <a:pt x="150150" y="44890"/>
                </a:lnTo>
                <a:lnTo>
                  <a:pt x="155712" y="33356"/>
                </a:lnTo>
                <a:lnTo>
                  <a:pt x="162685" y="22344"/>
                </a:lnTo>
                <a:lnTo>
                  <a:pt x="171102" y="12797"/>
                </a:lnTo>
                <a:lnTo>
                  <a:pt x="180765" y="5539"/>
                </a:lnTo>
                <a:lnTo>
                  <a:pt x="191285" y="1171"/>
                </a:lnTo>
                <a:lnTo>
                  <a:pt x="202154" y="0"/>
                </a:lnTo>
                <a:lnTo>
                  <a:pt x="212829" y="2006"/>
                </a:lnTo>
                <a:lnTo>
                  <a:pt x="222829" y="6856"/>
                </a:lnTo>
                <a:lnTo>
                  <a:pt x="231805" y="13963"/>
                </a:lnTo>
                <a:lnTo>
                  <a:pt x="239596" y="22573"/>
                </a:lnTo>
                <a:lnTo>
                  <a:pt x="246242" y="31872"/>
                </a:lnTo>
                <a:lnTo>
                  <a:pt x="251962" y="41099"/>
                </a:lnTo>
                <a:lnTo>
                  <a:pt x="257097" y="49641"/>
                </a:lnTo>
                <a:lnTo>
                  <a:pt x="262042" y="57099"/>
                </a:lnTo>
                <a:lnTo>
                  <a:pt x="267153" y="63316"/>
                </a:lnTo>
                <a:lnTo>
                  <a:pt x="272680" y="68374"/>
                </a:lnTo>
                <a:lnTo>
                  <a:pt x="278716" y="72540"/>
                </a:lnTo>
                <a:lnTo>
                  <a:pt x="285173" y="76204"/>
                </a:lnTo>
                <a:lnTo>
                  <a:pt x="291808" y="79787"/>
                </a:lnTo>
                <a:lnTo>
                  <a:pt x="298271" y="83667"/>
                </a:lnTo>
                <a:lnTo>
                  <a:pt x="304180" y="88113"/>
                </a:lnTo>
                <a:lnTo>
                  <a:pt x="309212" y="93243"/>
                </a:lnTo>
                <a:lnTo>
                  <a:pt x="313178" y="99022"/>
                </a:lnTo>
                <a:lnTo>
                  <a:pt x="316084" y="105284"/>
                </a:lnTo>
                <a:lnTo>
                  <a:pt x="318152" y="111783"/>
                </a:lnTo>
                <a:lnTo>
                  <a:pt x="319803" y="118253"/>
                </a:lnTo>
                <a:lnTo>
                  <a:pt x="321597" y="124473"/>
                </a:lnTo>
                <a:lnTo>
                  <a:pt x="324146" y="130322"/>
                </a:lnTo>
                <a:lnTo>
                  <a:pt x="328005" y="135803"/>
                </a:lnTo>
                <a:lnTo>
                  <a:pt x="333562" y="141053"/>
                </a:lnTo>
                <a:lnTo>
                  <a:pt x="340950" y="146312"/>
                </a:lnTo>
                <a:lnTo>
                  <a:pt x="349993" y="151875"/>
                </a:lnTo>
                <a:lnTo>
                  <a:pt x="360197" y="158028"/>
                </a:lnTo>
                <a:lnTo>
                  <a:pt x="370789" y="164983"/>
                </a:lnTo>
                <a:close/>
              </a:path>
            </a:pathLst>
          </a:custGeom>
          <a:solidFill>
            <a:srgbClr val="A86A6A"/>
          </a:solidFill>
          <a:ln w="9525">
            <a:solidFill>
              <a:srgbClr val="7A3B3B"/>
            </a:solidFill>
            <a:prstDash val="solid"/>
          </a:ln>
        </p:spPr>
      </p:sp>
      <p:sp>
        <p:nvSpPr>
          <p:cNvPr id="165" name="RBC fragment 1"/>
          <p:cNvSpPr/>
          <p:nvPr/>
        </p:nvSpPr>
        <p:spPr>
          <a:xfrm>
            <a:off x="10561320" y="3291840"/>
            <a:ext cx="64008" cy="64008"/>
          </a:xfrm>
          <a:prstGeom prst="ellipse">
            <a:avLst/>
          </a:prstGeom>
          <a:solidFill>
            <a:srgbClr val="A86A6A"/>
          </a:solidFill>
          <a:ln/>
        </p:spPr>
      </p:sp>
      <p:sp>
        <p:nvSpPr>
          <p:cNvPr id="166" name="RBC fragment 2"/>
          <p:cNvSpPr/>
          <p:nvPr/>
        </p:nvSpPr>
        <p:spPr>
          <a:xfrm>
            <a:off x="10954512" y="3273552"/>
            <a:ext cx="54864" cy="54864"/>
          </a:xfrm>
          <a:prstGeom prst="ellipse">
            <a:avLst/>
          </a:prstGeom>
          <a:solidFill>
            <a:srgbClr val="A86A6A"/>
          </a:solidFill>
          <a:ln/>
        </p:spPr>
      </p:sp>
      <p:sp>
        <p:nvSpPr>
          <p:cNvPr id="167" name="RBC fragment 3"/>
          <p:cNvSpPr/>
          <p:nvPr/>
        </p:nvSpPr>
        <p:spPr>
          <a:xfrm>
            <a:off x="10607040" y="3547872"/>
            <a:ext cx="54864" cy="54864"/>
          </a:xfrm>
          <a:prstGeom prst="ellipse">
            <a:avLst/>
          </a:prstGeom>
          <a:solidFill>
            <a:srgbClr val="A86A6A"/>
          </a:solidFill>
          <a:ln/>
        </p:spPr>
      </p:sp>
      <p:sp>
        <p:nvSpPr>
          <p:cNvPr id="168" name="RBC fragment 4"/>
          <p:cNvSpPr/>
          <p:nvPr/>
        </p:nvSpPr>
        <p:spPr>
          <a:xfrm>
            <a:off x="10972800" y="3529584"/>
            <a:ext cx="45720" cy="45720"/>
          </a:xfrm>
          <a:prstGeom prst="ellipse">
            <a:avLst/>
          </a:prstGeom>
          <a:solidFill>
            <a:srgbClr val="A86A6A"/>
          </a:solidFill>
          <a:ln/>
        </p:spPr>
      </p:sp>
      <p:sp>
        <p:nvSpPr>
          <p:cNvPr id="169" name="Macrophage heading"/>
          <p:cNvSpPr txBox="1"/>
          <p:nvPr/>
        </p:nvSpPr>
        <p:spPr>
          <a:xfrm>
            <a:off x="8869680" y="13258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Splenic Macrophage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Red pulp of the spleen</a:t>
            </a:r>
            <a:endParaRPr lang="en-US" sz="1600" dirty="0"/>
          </a:p>
        </p:txBody>
      </p:sp>
      <p:sp>
        <p:nvSpPr>
          <p:cNvPr id="170" name="Macrophage summary"/>
          <p:cNvSpPr txBox="1"/>
          <p:nvPr/>
        </p:nvSpPr>
        <p:spPr>
          <a:xfrm>
            <a:off x="8869680" y="45720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Eat-me signals recognized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Senescent RBC engulfed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Digested in phagosome</a:t>
            </a:r>
            <a:endParaRPr lang="en-US" sz="1400" dirty="0"/>
          </a:p>
        </p:txBody>
      </p:sp>
      <p:sp>
        <p:nvSpPr>
          <p:cNvPr id="171" name="Shape 169"/>
          <p:cNvSpPr/>
          <p:nvPr/>
        </p:nvSpPr>
        <p:spPr>
          <a:xfrm>
            <a:off x="621792" y="5824728"/>
            <a:ext cx="36576" cy="146304"/>
          </a:xfrm>
          <a:prstGeom prst="rect">
            <a:avLst/>
          </a:prstGeom>
          <a:solidFill>
            <a:srgbClr val="1E5E3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71500" y="5705856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1E5E3A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68680" y="57058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CD47 (“don’t eat me”)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3337560" y="5774436"/>
            <a:ext cx="155448" cy="15544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3611880" y="5705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“Eat me” protein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5532120" y="5779008"/>
            <a:ext cx="274320" cy="73152"/>
          </a:xfrm>
          <a:prstGeom prst="rect">
            <a:avLst/>
          </a:prstGeom>
          <a:solidFill>
            <a:srgbClr val="3B3B3B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532120" y="5852160"/>
            <a:ext cx="274320" cy="73152"/>
          </a:xfrm>
          <a:prstGeom prst="rect">
            <a:avLst/>
          </a:prstGeom>
          <a:solidFill>
            <a:srgbClr val="8FA7B0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5897880" y="57058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Outer / inner membrane leaflet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8869680" y="5733288"/>
            <a:ext cx="237744" cy="219456"/>
          </a:xfrm>
          <a:prstGeom prst="ellipse">
            <a:avLst/>
          </a:prstGeom>
          <a:solidFill>
            <a:srgbClr val="D7C7E3"/>
          </a:solidFill>
          <a:ln w="12700">
            <a:solidFill>
              <a:srgbClr val="7A5C8E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9198864" y="5705856"/>
            <a:ext cx="2441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Macrophage (phagocytosis)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ersity of Utah Neurosurgery">
  <a:themeElements>
    <a:clrScheme name="University of Utah Neurosurgery">
      <a:dk1>
        <a:srgbClr val="1A1A1A"/>
      </a:dk1>
      <a:lt1>
        <a:srgbClr val="FFFFFF"/>
      </a:lt1>
      <a:dk2>
        <a:srgbClr val="3B3B3B"/>
      </a:dk2>
      <a:lt2>
        <a:srgbClr val="EEF0F0"/>
      </a:lt2>
      <a:accent1>
        <a:srgbClr val="BE0000"/>
      </a:accent1>
      <a:accent2>
        <a:srgbClr val="890000"/>
      </a:accent2>
      <a:accent3>
        <a:srgbClr val="708E99"/>
      </a:accent3>
      <a:accent4>
        <a:srgbClr val="5B6770"/>
      </a:accent4>
      <a:accent5>
        <a:srgbClr val="FFB81D"/>
      </a:accent5>
      <a:accent6>
        <a:srgbClr val="A7A8AA"/>
      </a:accent6>
      <a:hlink>
        <a:srgbClr val="BE0000"/>
      </a:hlink>
      <a:folHlink>
        <a:srgbClr val="890000"/>
      </a:folHlink>
    </a:clrScheme>
    <a:fontScheme name="University of Utah Neurosurge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University of Utah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Neurosurgery Grand Rounds</dc:title>
  <dc:subject>PptxGenJS Presentation</dc:subject>
  <dc:creator>Department of Neurosurgery, University of Utah Health</dc:creator>
  <cp:lastModifiedBy>Department of Neurosurgery, University of Utah Health</cp:lastModifiedBy>
  <cp:revision>1</cp:revision>
  <dcterms:created xsi:type="dcterms:W3CDTF">2026-10-26T19:45:11Z</dcterms:created>
  <dcterms:modified xsi:type="dcterms:W3CDTF">2026-10-26T19:45:11Z</dcterms:modified>
</cp:coreProperties>
</file>