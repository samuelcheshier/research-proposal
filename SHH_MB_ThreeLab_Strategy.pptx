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llaboration" id="{78bd3a6f-cf92-4e7b-f9f0-8ef0ef0f07a3}">
          <p14:sldIdLst>
            <p14:sldId id="25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collaboration pairs structure-guided drug design with escalating in vivo validation. The Meyers lab uses deep mutational scanning to generate every possible mutation in SMO and GRK, measures how each one changes treatment efficacy in high-throughput biochemical assays, and designs compounds to overcome resistance, producing hundreds of candidate mutations. The Stewart lab narrows these to dozens, testing candidate treatments and Meyers-lab mutants in zebrafish models of SHH-driven medulloblastoma, with RNA-seq and phosphoprotein analysis to understand pathway effects and in vivo resistance. The Cheshier lab takes the most promising (up to 5) into patient-derived and mouse models, including ex vivo patient cells, PDX, orthotopic cell-line and genetically engineered mouse models, again with RNA-seq and phosphoprotein analysis. Together the mutation count funnels from hundreds to dozens to a handful as the models become more physiologic.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UU_TITLE">
    <p:bg>
      <p:bgPr>
        <a:solidFill>
          <a:schemeClr val="accent1"/>
        </a:solidFill>
      </p:bgPr>
    </p:bg>
    <p:spTree>
      <p:nvGrpSpPr>
        <p:cNvPr id="1" name=""/>
        <p:cNvGrpSpPr/>
        <p:nvPr/>
      </p:nvGrpSpPr>
      <p:grpSpPr>
        <a:xfrm>
          <a:off x="0" y="0"/>
          <a:ext cx="0" cy="0"/>
          <a:chOff x="0" y="0"/>
          <a:chExt cx="0" cy="0"/>
        </a:xfrm>
      </p:grpSpPr>
      <p:sp>
        <p:nvSpPr>
          <p:cNvPr id="2" name="Shape 0"/>
          <p:cNvSpPr/>
          <p:nvPr/>
        </p:nvSpPr>
        <p:spPr>
          <a:xfrm>
            <a:off x="7616952" y="0"/>
            <a:ext cx="4572000" cy="6858000"/>
          </a:xfrm>
          <a:prstGeom prst="rect">
            <a:avLst/>
          </a:prstGeom>
          <a:solidFill>
            <a:schemeClr val="tx1"/>
          </a:solidFill>
          <a:ln/>
        </p:spPr>
      </p:sp>
      <p:pic>
        <p:nvPicPr>
          <p:cNvPr id="3" name="Image 0" descr="preencoded.png">    </p:cNvPr>
          <p:cNvPicPr>
            <a:picLocks noChangeAspect="1"/>
          </p:cNvPicPr>
          <p:nvPr/>
        </p:nvPicPr>
        <p:blipFill>
          <a:blip r:embed="rId1"/>
          <a:stretch>
            <a:fillRect/>
          </a:stretch>
        </p:blipFill>
        <p:spPr>
          <a:xfrm>
            <a:off x="8394192" y="1920240"/>
            <a:ext cx="3017520" cy="3017520"/>
          </a:xfrm>
          <a:prstGeom prst="rect">
            <a:avLst/>
          </a:prstGeom>
        </p:spPr>
      </p:pic>
      <p:sp>
        <p:nvSpPr>
          <p:cNvPr id="4" name="Text 1"/>
          <p:cNvSpPr/>
          <p:nvPr/>
        </p:nvSpPr>
        <p:spPr>
          <a:xfrm>
            <a:off x="640080" y="548640"/>
            <a:ext cx="6400800" cy="320040"/>
          </a:xfrm>
          <a:prstGeom prst="rect">
            <a:avLst/>
          </a:prstGeom>
          <a:noFill/>
          <a:ln/>
        </p:spPr>
        <p:txBody>
          <a:bodyPr wrap="square" lIns="0" tIns="0" rIns="0" bIns="0" rtlCol="0" anchor="ctr"/>
          <a:lstStyle/>
          <a:p>
            <a:pPr indent="0" marL="0">
              <a:buNone/>
            </a:pPr>
            <a:r>
              <a:rPr lang="en-US" sz="1200" b="1" spc="400" kern="0" dirty="0">
                <a:solidFill>
                  <a:schemeClr val="bg1"/>
                </a:solidFill>
              </a:rPr>
              <a:t>UNIVERSITY OF UTAH HEALTH</a:t>
            </a:r>
            <a:endParaRPr lang="en-US" sz="1200" dirty="0"/>
          </a:p>
        </p:txBody>
      </p:sp>
      <p:sp>
        <p:nvSpPr>
          <p:cNvPr id="5" name="Text 2"/>
          <p:cNvSpPr/>
          <p:nvPr/>
        </p:nvSpPr>
        <p:spPr>
          <a:xfrm>
            <a:off x="640080" y="868680"/>
            <a:ext cx="6400800" cy="274320"/>
          </a:xfrm>
          <a:prstGeom prst="rect">
            <a:avLst/>
          </a:prstGeom>
          <a:noFill/>
          <a:ln/>
        </p:spPr>
        <p:txBody>
          <a:bodyPr wrap="square" lIns="0" tIns="0" rIns="0" bIns="0" rtlCol="0" anchor="ctr"/>
          <a:lstStyle/>
          <a:p>
            <a:pPr indent="0" marL="0">
              <a:buNone/>
            </a:pPr>
            <a:r>
              <a:rPr lang="en-US" sz="1200" dirty="0">
                <a:solidFill>
                  <a:srgbClr val="F2C4C4"/>
                </a:solidFill>
              </a:rPr>
              <a:t>Department of Neurosurgery</a:t>
            </a:r>
            <a:endParaRPr lang="en-US" sz="1200" dirty="0"/>
          </a:p>
        </p:txBody>
      </p:sp>
      <p:sp>
        <p:nvSpPr>
          <p:cNvPr id="6" name="Text 3"/>
          <p:cNvSpPr/>
          <p:nvPr>
            <p:ph idx="104" type="title" hasCustomPrompt="1"/>
          </p:nvPr>
        </p:nvSpPr>
        <p:spPr>
          <a:xfrm>
            <a:off x="640080" y="1828800"/>
            <a:ext cx="6583680" cy="18288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r>
              <a:rPr lang="en-US" sz="4400" b="1" dirty="0">
                <a:solidFill>
                  <a:schemeClr val="bg1"/>
                </a:solidFill>
              </a:rPr>
              <a:t>Presentation Title</a:t>
            </a:r>
            <a:endParaRPr lang="en-US" sz="4400" dirty="0"/>
          </a:p>
        </p:txBody>
      </p:sp>
      <p:sp>
        <p:nvSpPr>
          <p:cNvPr id="7" name="Text 3"/>
          <p:cNvSpPr/>
          <p:nvPr>
            <p:ph idx="105" type="body" hasCustomPrompt="1"/>
          </p:nvPr>
        </p:nvSpPr>
        <p:spPr>
          <a:xfrm>
            <a:off x="640080" y="3794760"/>
            <a:ext cx="6583680" cy="731520"/>
          </a:xfrm>
          <a:prstGeom prst="rect">
            <a:avLst/>
          </a:prstGeom>
          <a:noFill/>
          <a:ln/>
        </p:spPr>
        <p:txBody>
          <a:bodyPr wrap="square" rtlCol="0"/>
          <a:lstStyle>
            <a:lvl1pPr indent="0" marL="0">
              <a:buNone/>
              <a:defRPr lang="en-US" sz="2000" dirty="0">
                <a:solidFill>
                  <a:srgbClr val="F2C4C4"/>
                </a:solidFill>
              </a:defRPr>
            </a:lvl1pPr>
          </a:lstStyle>
          <a:p>
            <a:pPr indent="0" marL="0">
              <a:buNone/>
            </a:pPr>
            <a:r>
              <a:rPr lang="en-US" sz="2000" dirty="0">
                <a:solidFill>
                  <a:srgbClr val="F2C4C4"/>
                </a:solidFill>
              </a:rPr>
              <a:t>Subtitle</a:t>
            </a:r>
            <a:endParaRPr lang="en-US" sz="2000" dirty="0"/>
          </a:p>
        </p:txBody>
      </p:sp>
      <p:sp>
        <p:nvSpPr>
          <p:cNvPr id="8" name="Text 3"/>
          <p:cNvSpPr/>
          <p:nvPr>
            <p:ph idx="106" type="body" hasCustomPrompt="1"/>
          </p:nvPr>
        </p:nvSpPr>
        <p:spPr>
          <a:xfrm>
            <a:off x="640080" y="4983480"/>
            <a:ext cx="6583680" cy="1188720"/>
          </a:xfrm>
          <a:prstGeom prst="rect">
            <a:avLst/>
          </a:prstGeom>
          <a:noFill/>
          <a:ln/>
        </p:spPr>
        <p:txBody>
          <a:bodyPr wrap="square" rtlCol="0"/>
          <a:lstStyle>
            <a:lvl1pPr indent="0" marL="0">
              <a:buNone/>
              <a:defRPr lang="en-US" sz="1400" dirty="0">
                <a:solidFill>
                  <a:schemeClr val="bg1"/>
                </a:solidFill>
              </a:defRPr>
            </a:lvl1pPr>
          </a:lstStyle>
          <a:p>
            <a:pPr indent="0" marL="0">
              <a:buNone/>
            </a:pPr>
            <a:r>
              <a:rPr lang="en-US" sz="1400" dirty="0">
                <a:solidFill>
                  <a:schemeClr val="bg1"/>
                </a:solidFill>
              </a:rPr>
              <a:t>Presenter</a:t>
            </a: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UU_SECTION">
    <p:bg>
      <p:bgPr>
        <a:solidFill>
          <a:schemeClr val="tx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80960" y="914400"/>
            <a:ext cx="5029200" cy="5029200"/>
          </a:xfrm>
          <a:prstGeom prst="rect">
            <a:avLst/>
          </a:prstGeom>
        </p:spPr>
      </p:pic>
      <p:sp>
        <p:nvSpPr>
          <p:cNvPr id="3" name="Text 0"/>
          <p:cNvSpPr/>
          <p:nvPr>
            <p:ph idx="101" type="body" hasCustomPrompt="1"/>
          </p:nvPr>
        </p:nvSpPr>
        <p:spPr>
          <a:xfrm>
            <a:off x="731520" y="1280160"/>
            <a:ext cx="3657600" cy="1371600"/>
          </a:xfrm>
          <a:prstGeom prst="rect">
            <a:avLst/>
          </a:prstGeom>
          <a:noFill/>
          <a:ln/>
        </p:spPr>
        <p:txBody>
          <a:bodyPr wrap="square" rtlCol="0"/>
          <a:lstStyle>
            <a:lvl1pPr indent="0" marL="0">
              <a:buNone/>
              <a:defRPr lang="en-US" sz="8800" b="1" dirty="0">
                <a:solidFill>
                  <a:schemeClr val="accent1"/>
                </a:solidFill>
                <a:latin typeface="Cambria" pitchFamily="34" charset="0"/>
                <a:ea typeface="Cambria" pitchFamily="34" charset="-122"/>
                <a:cs typeface="Cambria" pitchFamily="34" charset="-120"/>
              </a:defRPr>
            </a:lvl1pPr>
          </a:lstStyle>
          <a:p>
            <a:pPr indent="0" marL="0">
              <a:buNone/>
            </a:pPr>
            <a:r>
              <a:rPr lang="en-US" sz="8800" b="1" dirty="0">
                <a:solidFill>
                  <a:schemeClr val="accent1"/>
                </a:solidFill>
                <a:latin typeface="Cambria" pitchFamily="34" charset="0"/>
                <a:ea typeface="Cambria" pitchFamily="34" charset="-122"/>
                <a:cs typeface="Cambria" pitchFamily="34" charset="-120"/>
              </a:rPr>
              <a:t>01</a:t>
            </a:r>
            <a:endParaRPr lang="en-US" sz="8800" dirty="0"/>
          </a:p>
        </p:txBody>
      </p:sp>
      <p:sp>
        <p:nvSpPr>
          <p:cNvPr id="4" name="Text 0"/>
          <p:cNvSpPr/>
          <p:nvPr>
            <p:ph idx="102" type="title" hasCustomPrompt="1"/>
          </p:nvPr>
        </p:nvSpPr>
        <p:spPr>
          <a:xfrm>
            <a:off x="731520" y="2834640"/>
            <a:ext cx="7772400" cy="118872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r>
              <a:rPr lang="en-US" sz="4400" b="1" dirty="0">
                <a:solidFill>
                  <a:schemeClr val="bg1"/>
                </a:solidFill>
              </a:rPr>
              <a:t>Section Title</a:t>
            </a:r>
            <a:endParaRPr lang="en-US" sz="4400" dirty="0"/>
          </a:p>
        </p:txBody>
      </p:sp>
      <p:sp>
        <p:nvSpPr>
          <p:cNvPr id="5" name="Text 0"/>
          <p:cNvSpPr/>
          <p:nvPr>
            <p:ph idx="103" type="body" hasCustomPrompt="1"/>
          </p:nvPr>
        </p:nvSpPr>
        <p:spPr>
          <a:xfrm>
            <a:off x="731520" y="4114800"/>
            <a:ext cx="6858000" cy="914400"/>
          </a:xfrm>
          <a:prstGeom prst="rect">
            <a:avLst/>
          </a:prstGeom>
          <a:noFill/>
          <a:ln/>
        </p:spPr>
        <p:txBody>
          <a:bodyPr wrap="square" rtlCol="0"/>
          <a:lstStyle>
            <a:lvl1pPr indent="0" marL="0">
              <a:buNone/>
              <a:defRPr lang="en-US" sz="1800" dirty="0">
                <a:solidFill>
                  <a:srgbClr val="A7A8AA"/>
                </a:solidFill>
              </a:defRPr>
            </a:lvl1pPr>
          </a:lstStyle>
          <a:p>
            <a:pPr indent="0" marL="0">
              <a:buNone/>
            </a:pPr>
            <a:r>
              <a:rPr lang="en-US" sz="1800" dirty="0">
                <a:solidFill>
                  <a:srgbClr val="A7A8AA"/>
                </a:solidFill>
              </a:rPr>
              <a:t>Section description</a:t>
            </a:r>
            <a:endParaRPr lang="en-US" sz="1800" dirty="0"/>
          </a:p>
        </p:txBody>
      </p:sp>
      <p:pic>
        <p:nvPicPr>
          <p:cNvPr id="6" name="Image 1" descr="University of Utah Health logo">    </p:cNvPr>
          <p:cNvPicPr>
            <a:picLocks noChangeAspect="1"/>
          </p:cNvPicPr>
          <p:nvPr/>
        </p:nvPicPr>
        <p:blipFill>
          <a:blip r:embed="rId2"/>
          <a:stretch>
            <a:fillRect/>
          </a:stretch>
        </p:blipFill>
        <p:spPr>
          <a:xfrm>
            <a:off x="548640" y="6336792"/>
            <a:ext cx="329184" cy="329184"/>
          </a:xfrm>
          <a:prstGeom prst="rect">
            <a:avLst/>
          </a:prstGeom>
        </p:spPr>
      </p:pic>
      <p:sp>
        <p:nvSpPr>
          <p:cNvPr id="7" name="Text 0"/>
          <p:cNvSpPr/>
          <p:nvPr/>
        </p:nvSpPr>
        <p:spPr>
          <a:xfrm>
            <a:off x="987552" y="6355080"/>
            <a:ext cx="6400800" cy="292608"/>
          </a:xfrm>
          <a:prstGeom prst="rect">
            <a:avLst/>
          </a:prstGeom>
          <a:noFill/>
          <a:ln/>
        </p:spPr>
        <p:txBody>
          <a:bodyPr wrap="square" lIns="0" tIns="0" rIns="0" bIns="0" rtlCol="0" anchor="ctr"/>
          <a:lstStyle/>
          <a:p>
            <a:pPr indent="0" marL="0">
              <a:buNone/>
            </a:pPr>
            <a:r>
              <a:rPr lang="en-US" sz="1000" dirty="0">
                <a:solidFill>
                  <a:srgbClr val="A7A8AA"/>
                </a:solidFill>
              </a:rPr>
              <a:t>Neurosurgery Grand Rounds  |  University of Utah Health</a:t>
            </a:r>
            <a:endParaRPr lang="en-US" sz="1000" dirty="0"/>
          </a:p>
        </p:txBody>
      </p:sp>
      <p:sp>
        <p:nvSpPr>
          <p:cNvPr id="25" name="Slide Number Placeholder 0"/>
          <p:cNvSpPr>
            <a:spLocks noGrp="1"/>
          </p:cNvSpPr>
          <p:nvPr>
            <p:ph type="sldNum" sz="quarter" idx="4294967295"/>
          </p:nvPr>
        </p:nvSpPr>
        <p:spPr>
          <a:xfrm>
            <a:off x="10881360" y="6355080"/>
            <a:ext cx="758952" cy="292608"/>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A7A8AA"/>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UU_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r>
              <a:rPr lang="en-US" sz="3400" b="1" dirty="0">
                <a:solidFill>
                  <a:schemeClr val="tx1"/>
                </a:solidFill>
              </a:rPr>
              <a:t>Slide Title</a:t>
            </a:r>
            <a:endParaRPr lang="en-US" sz="3400" dirty="0"/>
          </a:p>
        </p:txBody>
      </p:sp>
      <p:pic>
        <p:nvPicPr>
          <p:cNvPr id="3" name="Image 0" descr="University of Utah Health logo">    </p:cNvPr>
          <p:cNvPicPr>
            <a:picLocks noChangeAspect="1"/>
          </p:cNvPicPr>
          <p:nvPr/>
        </p:nvPicPr>
        <p:blipFill>
          <a:blip r:embed="rId1"/>
          <a:stretch>
            <a:fillRect/>
          </a:stretch>
        </p:blipFill>
        <p:spPr>
          <a:xfrm>
            <a:off x="548640" y="6336792"/>
            <a:ext cx="329184" cy="329184"/>
          </a:xfrm>
          <a:prstGeom prst="rect">
            <a:avLst/>
          </a:prstGeom>
        </p:spPr>
      </p:pic>
      <p:sp>
        <p:nvSpPr>
          <p:cNvPr id="4" name="Text 0"/>
          <p:cNvSpPr/>
          <p:nvPr/>
        </p:nvSpPr>
        <p:spPr>
          <a:xfrm>
            <a:off x="987552" y="6355080"/>
            <a:ext cx="6400800" cy="292608"/>
          </a:xfrm>
          <a:prstGeom prst="rect">
            <a:avLst/>
          </a:prstGeom>
          <a:noFill/>
          <a:ln/>
        </p:spPr>
        <p:txBody>
          <a:bodyPr wrap="square" lIns="0" tIns="0" rIns="0" bIns="0" rtlCol="0" anchor="ctr"/>
          <a:lstStyle/>
          <a:p>
            <a:pPr indent="0" marL="0">
              <a:buNone/>
            </a:pPr>
            <a:r>
              <a:rPr lang="en-US" sz="1000" dirty="0">
                <a:solidFill>
                  <a:srgbClr val="6B6B6B"/>
                </a:solidFill>
              </a:rPr>
              <a:t>Neurosurgery Grand Rounds  |  University of Utah Health</a:t>
            </a:r>
            <a:endParaRPr lang="en-US" sz="1000" dirty="0"/>
          </a:p>
        </p:txBody>
      </p:sp>
      <p:sp>
        <p:nvSpPr>
          <p:cNvPr id="25" name="Slide Number Placeholder 0"/>
          <p:cNvSpPr>
            <a:spLocks noGrp="1"/>
          </p:cNvSpPr>
          <p:nvPr>
            <p:ph type="sldNum" sz="quarter" idx="4294967295"/>
          </p:nvPr>
        </p:nvSpPr>
        <p:spPr>
          <a:xfrm>
            <a:off x="10881360" y="6355080"/>
            <a:ext cx="758952" cy="292608"/>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B6B6B"/>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UU_CONTENT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r>
              <a:rPr lang="en-US" sz="3400" b="1" dirty="0">
                <a:solidFill>
                  <a:schemeClr val="bg1"/>
                </a:solidFill>
              </a:rPr>
              <a:t>Slide Title</a:t>
            </a:r>
            <a:endParaRPr lang="en-US" sz="3400" dirty="0"/>
          </a:p>
        </p:txBody>
      </p:sp>
      <p:pic>
        <p:nvPicPr>
          <p:cNvPr id="3" name="Image 0" descr="University of Utah Health logo">    </p:cNvPr>
          <p:cNvPicPr>
            <a:picLocks noChangeAspect="1"/>
          </p:cNvPicPr>
          <p:nvPr/>
        </p:nvPicPr>
        <p:blipFill>
          <a:blip r:embed="rId1"/>
          <a:stretch>
            <a:fillRect/>
          </a:stretch>
        </p:blipFill>
        <p:spPr>
          <a:xfrm>
            <a:off x="548640" y="6336792"/>
            <a:ext cx="329184" cy="329184"/>
          </a:xfrm>
          <a:prstGeom prst="rect">
            <a:avLst/>
          </a:prstGeom>
        </p:spPr>
      </p:pic>
      <p:sp>
        <p:nvSpPr>
          <p:cNvPr id="4" name="Text 0"/>
          <p:cNvSpPr/>
          <p:nvPr/>
        </p:nvSpPr>
        <p:spPr>
          <a:xfrm>
            <a:off x="987552" y="6355080"/>
            <a:ext cx="6400800" cy="292608"/>
          </a:xfrm>
          <a:prstGeom prst="rect">
            <a:avLst/>
          </a:prstGeom>
          <a:noFill/>
          <a:ln/>
        </p:spPr>
        <p:txBody>
          <a:bodyPr wrap="square" lIns="0" tIns="0" rIns="0" bIns="0" rtlCol="0" anchor="ctr"/>
          <a:lstStyle/>
          <a:p>
            <a:pPr indent="0" marL="0">
              <a:buNone/>
            </a:pPr>
            <a:r>
              <a:rPr lang="en-US" sz="1000" dirty="0">
                <a:solidFill>
                  <a:srgbClr val="A7A8AA"/>
                </a:solidFill>
              </a:rPr>
              <a:t>Neurosurgery Grand Rounds  |  University of Utah Health</a:t>
            </a:r>
            <a:endParaRPr lang="en-US" sz="1000" dirty="0"/>
          </a:p>
        </p:txBody>
      </p:sp>
      <p:sp>
        <p:nvSpPr>
          <p:cNvPr id="25" name="Slide Number Placeholder 0"/>
          <p:cNvSpPr>
            <a:spLocks noGrp="1"/>
          </p:cNvSpPr>
          <p:nvPr>
            <p:ph type="sldNum" sz="quarter" idx="4294967295"/>
          </p:nvPr>
        </p:nvSpPr>
        <p:spPr>
          <a:xfrm>
            <a:off x="10881360" y="6355080"/>
            <a:ext cx="758952" cy="292608"/>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A7A8AA"/>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UU_CLOSING">
    <p:bg>
      <p:bgPr>
        <a:solidFill>
          <a:schemeClr val="accent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184648" y="822960"/>
            <a:ext cx="1828800" cy="1828800"/>
          </a:xfrm>
          <a:prstGeom prst="rect">
            <a:avLst/>
          </a:prstGeom>
        </p:spPr>
      </p:pic>
      <p:sp>
        <p:nvSpPr>
          <p:cNvPr id="3" name="Text 0"/>
          <p:cNvSpPr/>
          <p:nvPr>
            <p:ph idx="101" type="title" hasCustomPrompt="1"/>
          </p:nvPr>
        </p:nvSpPr>
        <p:spPr>
          <a:xfrm>
            <a:off x="914400" y="2834640"/>
            <a:ext cx="10360152" cy="1097280"/>
          </a:xfrm>
          <a:prstGeom prst="rect">
            <a:avLst/>
          </a:prstGeom>
          <a:noFill/>
          <a:ln/>
        </p:spPr>
        <p:txBody>
          <a:bodyPr wrap="square" rtlCol="0"/>
          <a:lstStyle>
            <a:lvl1pPr algn="ctr" indent="0" marL="0">
              <a:buNone/>
              <a:defRPr lang="en-US" sz="5400" b="1" dirty="0">
                <a:solidFill>
                  <a:schemeClr val="bg1"/>
                </a:solidFill>
              </a:defRPr>
            </a:lvl1pPr>
          </a:lstStyle>
          <a:p>
            <a:pPr algn="ctr" indent="0" marL="0">
              <a:buNone/>
            </a:pPr>
            <a:r>
              <a:rPr lang="en-US" sz="5400" b="1" dirty="0">
                <a:solidFill>
                  <a:schemeClr val="bg1"/>
                </a:solidFill>
              </a:rPr>
              <a:t>Questions</a:t>
            </a:r>
            <a:endParaRPr lang="en-US" sz="5400" dirty="0"/>
          </a:p>
        </p:txBody>
      </p:sp>
      <p:sp>
        <p:nvSpPr>
          <p:cNvPr id="4" name="Text 0"/>
          <p:cNvSpPr/>
          <p:nvPr>
            <p:ph idx="102" type="body" hasCustomPrompt="1"/>
          </p:nvPr>
        </p:nvSpPr>
        <p:spPr>
          <a:xfrm>
            <a:off x="1371600" y="4023360"/>
            <a:ext cx="9445752" cy="1371600"/>
          </a:xfrm>
          <a:prstGeom prst="rect">
            <a:avLst/>
          </a:prstGeom>
          <a:noFill/>
          <a:ln/>
        </p:spPr>
        <p:txBody>
          <a:bodyPr wrap="square" rtlCol="0"/>
          <a:lstStyle>
            <a:lvl1pPr algn="ctr" indent="0" marL="0">
              <a:buNone/>
              <a:defRPr lang="en-US" sz="1800" dirty="0">
                <a:solidFill>
                  <a:srgbClr val="F2C4C4"/>
                </a:solidFill>
              </a:defRPr>
            </a:lvl1pPr>
          </a:lstStyle>
          <a:p>
            <a:pPr algn="ctr" indent="0" marL="0">
              <a:buNone/>
            </a:pPr>
            <a:r>
              <a:rPr lang="en-US" sz="1800" dirty="0">
                <a:solidFill>
                  <a:srgbClr val="F2C4C4"/>
                </a:solidFill>
              </a:rPr>
              <a:t>Contact</a:t>
            </a:r>
            <a:endParaRPr lang="en-US" sz="1800" dirty="0"/>
          </a:p>
        </p:txBody>
      </p:sp>
      <p:sp>
        <p:nvSpPr>
          <p:cNvPr id="5" name="Text 0"/>
          <p:cNvSpPr/>
          <p:nvPr/>
        </p:nvSpPr>
        <p:spPr>
          <a:xfrm>
            <a:off x="914400" y="6126480"/>
            <a:ext cx="10360152" cy="320040"/>
          </a:xfrm>
          <a:prstGeom prst="rect">
            <a:avLst/>
          </a:prstGeom>
          <a:noFill/>
          <a:ln/>
        </p:spPr>
        <p:txBody>
          <a:bodyPr wrap="square" lIns="0" tIns="0" rIns="0" bIns="0" rtlCol="0" anchor="ctr"/>
          <a:lstStyle/>
          <a:p>
            <a:pPr algn="ctr" indent="0" marL="0">
              <a:buNone/>
            </a:pPr>
            <a:r>
              <a:rPr lang="en-US" sz="1100" b="1" spc="300" kern="0" dirty="0">
                <a:solidFill>
                  <a:schemeClr val="bg1"/>
                </a:solidFill>
              </a:rPr>
              <a:t>UNIVERSITY OF UTAH HEALTH  |  DEPARTMENT OF NEUROSURGERY</a:t>
            </a:r>
            <a:endParaRPr lang="en-US" sz="11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355080"/>
            <a:ext cx="758952" cy="292608"/>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A7A8AA"/>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400" b="1" dirty="0">
                <a:solidFill>
                  <a:schemeClr val="tx1"/>
                </a:solidFill>
              </a:rPr>
              <a:t>A Three-Lab Strategy Against SHH-Driven MB</a:t>
            </a:r>
            <a:endParaRPr lang="en-US" sz="3400" dirty="0"/>
          </a:p>
        </p:txBody>
      </p:sp>
      <p:sp>
        <p:nvSpPr>
          <p:cNvPr id="3" name="Text 1"/>
          <p:cNvSpPr txBox="1"/>
          <p:nvPr/>
        </p:nvSpPr>
        <p:spPr>
          <a:xfrm>
            <a:off x="548640" y="1216152"/>
            <a:ext cx="11091672" cy="320040"/>
          </a:xfrm>
          <a:prstGeom prst="rect">
            <a:avLst/>
          </a:prstGeom>
          <a:noFill/>
          <a:ln/>
        </p:spPr>
        <p:txBody>
          <a:bodyPr wrap="square" lIns="0" tIns="0" rIns="0" bIns="0" rtlCol="0" anchor="ctr"/>
          <a:lstStyle/>
          <a:p>
            <a:pPr indent="0" marL="0">
              <a:buNone/>
            </a:pPr>
            <a:r>
              <a:rPr lang="en-US" sz="1400" i="1" dirty="0">
                <a:solidFill>
                  <a:schemeClr val="accent3"/>
                </a:solidFill>
              </a:rPr>
              <a:t>Mapping resistance mutations, then testing candidate treatments across escalating model systems</a:t>
            </a:r>
            <a:endParaRPr lang="en-US" sz="1400" dirty="0"/>
          </a:p>
        </p:txBody>
      </p:sp>
      <p:sp>
        <p:nvSpPr>
          <p:cNvPr id="4" name="Meyers Lab header"/>
          <p:cNvSpPr/>
          <p:nvPr/>
        </p:nvSpPr>
        <p:spPr>
          <a:xfrm>
            <a:off x="548640" y="1645920"/>
            <a:ext cx="3593592" cy="713232"/>
          </a:xfrm>
          <a:prstGeom prst="rect">
            <a:avLst/>
          </a:prstGeom>
          <a:solidFill>
            <a:schemeClr val="accent1"/>
          </a:solidFill>
          <a:ln/>
        </p:spPr>
      </p:sp>
      <p:sp>
        <p:nvSpPr>
          <p:cNvPr id="5" name="Text 3"/>
          <p:cNvSpPr txBox="1"/>
          <p:nvPr/>
        </p:nvSpPr>
        <p:spPr>
          <a:xfrm>
            <a:off x="749808" y="1719072"/>
            <a:ext cx="3191256" cy="347472"/>
          </a:xfrm>
          <a:prstGeom prst="rect">
            <a:avLst/>
          </a:prstGeom>
          <a:noFill/>
          <a:ln/>
        </p:spPr>
        <p:txBody>
          <a:bodyPr wrap="square" lIns="0" tIns="0" rIns="0" bIns="0" rtlCol="0" anchor="ctr"/>
          <a:lstStyle/>
          <a:p>
            <a:pPr indent="0" marL="0">
              <a:buNone/>
            </a:pPr>
            <a:r>
              <a:rPr lang="en-US" sz="1900" b="1" dirty="0">
                <a:solidFill>
                  <a:schemeClr val="bg1"/>
                </a:solidFill>
                <a:latin typeface="Cambria" pitchFamily="34" charset="0"/>
                <a:ea typeface="Cambria" pitchFamily="34" charset="-122"/>
                <a:cs typeface="Cambria" pitchFamily="34" charset="-120"/>
              </a:rPr>
              <a:t>Meyers Lab</a:t>
            </a:r>
            <a:endParaRPr lang="en-US" sz="1900" dirty="0"/>
          </a:p>
        </p:txBody>
      </p:sp>
      <p:sp>
        <p:nvSpPr>
          <p:cNvPr id="6" name="Text 4"/>
          <p:cNvSpPr txBox="1"/>
          <p:nvPr/>
        </p:nvSpPr>
        <p:spPr>
          <a:xfrm>
            <a:off x="749808" y="2057400"/>
            <a:ext cx="3191256" cy="256032"/>
          </a:xfrm>
          <a:prstGeom prst="rect">
            <a:avLst/>
          </a:prstGeom>
          <a:noFill/>
          <a:ln/>
        </p:spPr>
        <p:txBody>
          <a:bodyPr wrap="square" lIns="0" tIns="0" rIns="0" bIns="0" rtlCol="0" anchor="ctr"/>
          <a:lstStyle/>
          <a:p>
            <a:pPr indent="0" marL="0">
              <a:buNone/>
            </a:pPr>
            <a:r>
              <a:rPr lang="en-US" sz="1200" dirty="0">
                <a:solidFill>
                  <a:srgbClr val="F2C4C4"/>
                </a:solidFill>
              </a:rPr>
              <a:t>Mutation mapping &amp; drug design</a:t>
            </a:r>
            <a:endParaRPr lang="en-US" sz="1200" dirty="0"/>
          </a:p>
        </p:txBody>
      </p:sp>
      <p:sp>
        <p:nvSpPr>
          <p:cNvPr id="7" name="Shape 5"/>
          <p:cNvSpPr/>
          <p:nvPr/>
        </p:nvSpPr>
        <p:spPr>
          <a:xfrm>
            <a:off x="548640" y="2359152"/>
            <a:ext cx="3593592" cy="2788920"/>
          </a:xfrm>
          <a:prstGeom prst="rect">
            <a:avLst/>
          </a:prstGeom>
          <a:solidFill>
            <a:schemeClr val="bg2"/>
          </a:solidFill>
          <a:ln/>
        </p:spPr>
      </p:sp>
      <p:sp>
        <p:nvSpPr>
          <p:cNvPr id="8" name="Meyers Lab tasks"/>
          <p:cNvSpPr txBox="1"/>
          <p:nvPr/>
        </p:nvSpPr>
        <p:spPr>
          <a:xfrm>
            <a:off x="768096" y="2542032"/>
            <a:ext cx="3172968" cy="2496312"/>
          </a:xfrm>
          <a:prstGeom prst="rect">
            <a:avLst/>
          </a:prstGeom>
          <a:noFill/>
          <a:ln/>
        </p:spPr>
        <p:txBody>
          <a:bodyPr wrap="square" lIns="0" tIns="0" rIns="0" bIns="0" rtlCol="0" anchor="t"/>
          <a:lstStyle/>
          <a:p>
            <a:pPr marL="177800" indent="-177800">
              <a:spcAft>
                <a:spcPts val="900"/>
              </a:spcAft>
              <a:buSzPct val="100000"/>
              <a:buChar char="•"/>
            </a:pPr>
            <a:r>
              <a:rPr lang="en-US" sz="1300" dirty="0">
                <a:solidFill>
                  <a:schemeClr val="tx1"/>
                </a:solidFill>
              </a:rPr>
              <a:t>Use deep mutational scanning (DMS) to generate all possible mutations in SMO and GRK</a:t>
            </a:r>
            <a:endParaRPr lang="en-US" sz="1300" dirty="0"/>
          </a:p>
          <a:p>
            <a:pPr marL="177800" indent="-177800">
              <a:spcAft>
                <a:spcPts val="900"/>
              </a:spcAft>
              <a:buSzPct val="100000"/>
              <a:buChar char="•"/>
            </a:pPr>
            <a:r>
              <a:rPr lang="en-US" sz="1300" dirty="0">
                <a:solidFill>
                  <a:schemeClr val="tx1"/>
                </a:solidFill>
              </a:rPr>
              <a:t>High-throughput biochemical assays to measure how each mutation affects treatment efficacy</a:t>
            </a:r>
            <a:endParaRPr lang="en-US" sz="1300" dirty="0"/>
          </a:p>
          <a:p>
            <a:pPr marL="177800" indent="-177800">
              <a:spcAft>
                <a:spcPts val="900"/>
              </a:spcAft>
              <a:buSzPct val="100000"/>
              <a:buChar char="•"/>
            </a:pPr>
            <a:r>
              <a:rPr lang="en-US" sz="1300" dirty="0">
                <a:solidFill>
                  <a:schemeClr val="tx1"/>
                </a:solidFill>
              </a:rPr>
              <a:t>Design and screen new candidate compounds that overcome these resistances</a:t>
            </a:r>
            <a:endParaRPr lang="en-US" sz="1300" dirty="0"/>
          </a:p>
        </p:txBody>
      </p:sp>
      <p:sp>
        <p:nvSpPr>
          <p:cNvPr id="9" name="Meyers Lab throughput band"/>
          <p:cNvSpPr/>
          <p:nvPr/>
        </p:nvSpPr>
        <p:spPr>
          <a:xfrm>
            <a:off x="548640" y="5349240"/>
            <a:ext cx="3593592" cy="566928"/>
          </a:xfrm>
          <a:prstGeom prst="roundRect">
            <a:avLst>
              <a:gd name="adj" fmla="val 9677"/>
            </a:avLst>
          </a:prstGeom>
          <a:solidFill>
            <a:srgbClr val="F6EAEA"/>
          </a:solidFill>
          <a:ln/>
        </p:spPr>
      </p:sp>
      <p:sp>
        <p:nvSpPr>
          <p:cNvPr id="10" name="Meyers Lab throughput"/>
          <p:cNvSpPr txBox="1"/>
          <p:nvPr/>
        </p:nvSpPr>
        <p:spPr>
          <a:xfrm>
            <a:off x="640080" y="5349240"/>
            <a:ext cx="3410712" cy="566928"/>
          </a:xfrm>
          <a:prstGeom prst="rect">
            <a:avLst/>
          </a:prstGeom>
          <a:noFill/>
          <a:ln/>
        </p:spPr>
        <p:txBody>
          <a:bodyPr wrap="square" lIns="0" tIns="0" rIns="0" bIns="0" rtlCol="0" anchor="ctr"/>
          <a:lstStyle/>
          <a:p>
            <a:pPr algn="ctr" indent="0" marL="0">
              <a:buNone/>
            </a:pPr>
            <a:r>
              <a:rPr lang="en-US" sz="1300" dirty="0">
                <a:solidFill>
                  <a:schemeClr val="tx2"/>
                </a:solidFill>
              </a:rPr>
              <a:t>Generates  </a:t>
            </a:r>
            <a:pPr algn="ctr" indent="0" marL="0">
              <a:buNone/>
            </a:pPr>
            <a:r>
              <a:rPr lang="en-US" sz="2200" b="1" dirty="0">
                <a:solidFill>
                  <a:schemeClr val="accent1"/>
                </a:solidFill>
                <a:latin typeface="Cambria" pitchFamily="34" charset="0"/>
                <a:ea typeface="Cambria" pitchFamily="34" charset="-122"/>
                <a:cs typeface="Cambria" pitchFamily="34" charset="-120"/>
              </a:rPr>
              <a:t>hundreds</a:t>
            </a:r>
            <a:pPr algn="ctr" indent="0" marL="0">
              <a:buNone/>
            </a:pPr>
            <a:r>
              <a:rPr lang="en-US" sz="1300" dirty="0">
                <a:solidFill>
                  <a:schemeClr val="tx2"/>
                </a:solidFill>
              </a:rPr>
              <a:t>  mutations</a:t>
            </a:r>
            <a:endParaRPr lang="en-US" sz="1300" dirty="0"/>
          </a:p>
        </p:txBody>
      </p:sp>
      <p:pic>
        <p:nvPicPr>
          <p:cNvPr id="11" name="Funnel arrow 1" descr="preencoded.png">    </p:cNvPr>
          <p:cNvPicPr>
            <a:picLocks noChangeAspect="1"/>
          </p:cNvPicPr>
          <p:nvPr/>
        </p:nvPicPr>
        <p:blipFill>
          <a:blip r:embed="rId1"/>
          <a:stretch>
            <a:fillRect/>
          </a:stretch>
        </p:blipFill>
        <p:spPr>
          <a:xfrm>
            <a:off x="4078224" y="5513832"/>
            <a:ext cx="237744" cy="237744"/>
          </a:xfrm>
          <a:prstGeom prst="rect">
            <a:avLst/>
          </a:prstGeom>
        </p:spPr>
      </p:pic>
      <p:sp>
        <p:nvSpPr>
          <p:cNvPr id="12" name="Stewart Lab header"/>
          <p:cNvSpPr/>
          <p:nvPr/>
        </p:nvSpPr>
        <p:spPr>
          <a:xfrm>
            <a:off x="4297680" y="1645920"/>
            <a:ext cx="3593592" cy="713232"/>
          </a:xfrm>
          <a:prstGeom prst="rect">
            <a:avLst/>
          </a:prstGeom>
          <a:solidFill>
            <a:schemeClr val="accent1"/>
          </a:solidFill>
          <a:ln/>
        </p:spPr>
      </p:sp>
      <p:sp>
        <p:nvSpPr>
          <p:cNvPr id="13" name="Text 10"/>
          <p:cNvSpPr txBox="1"/>
          <p:nvPr/>
        </p:nvSpPr>
        <p:spPr>
          <a:xfrm>
            <a:off x="4498848" y="1719072"/>
            <a:ext cx="3191256" cy="347472"/>
          </a:xfrm>
          <a:prstGeom prst="rect">
            <a:avLst/>
          </a:prstGeom>
          <a:noFill/>
          <a:ln/>
        </p:spPr>
        <p:txBody>
          <a:bodyPr wrap="square" lIns="0" tIns="0" rIns="0" bIns="0" rtlCol="0" anchor="ctr"/>
          <a:lstStyle/>
          <a:p>
            <a:pPr indent="0" marL="0">
              <a:buNone/>
            </a:pPr>
            <a:r>
              <a:rPr lang="en-US" sz="1900" b="1" dirty="0">
                <a:solidFill>
                  <a:schemeClr val="bg1"/>
                </a:solidFill>
                <a:latin typeface="Cambria" pitchFamily="34" charset="0"/>
                <a:ea typeface="Cambria" pitchFamily="34" charset="-122"/>
                <a:cs typeface="Cambria" pitchFamily="34" charset="-120"/>
              </a:rPr>
              <a:t>Stewart Lab</a:t>
            </a:r>
            <a:endParaRPr lang="en-US" sz="1900" dirty="0"/>
          </a:p>
        </p:txBody>
      </p:sp>
      <p:sp>
        <p:nvSpPr>
          <p:cNvPr id="14" name="Text 11"/>
          <p:cNvSpPr txBox="1"/>
          <p:nvPr/>
        </p:nvSpPr>
        <p:spPr>
          <a:xfrm>
            <a:off x="4498848" y="2057400"/>
            <a:ext cx="3191256" cy="256032"/>
          </a:xfrm>
          <a:prstGeom prst="rect">
            <a:avLst/>
          </a:prstGeom>
          <a:noFill/>
          <a:ln/>
        </p:spPr>
        <p:txBody>
          <a:bodyPr wrap="square" lIns="0" tIns="0" rIns="0" bIns="0" rtlCol="0" anchor="ctr"/>
          <a:lstStyle/>
          <a:p>
            <a:pPr indent="0" marL="0">
              <a:buNone/>
            </a:pPr>
            <a:r>
              <a:rPr lang="en-US" sz="1200" dirty="0">
                <a:solidFill>
                  <a:srgbClr val="F2C4C4"/>
                </a:solidFill>
              </a:rPr>
              <a:t>In vivo validation in zebrafish</a:t>
            </a:r>
            <a:endParaRPr lang="en-US" sz="1200" dirty="0"/>
          </a:p>
        </p:txBody>
      </p:sp>
      <p:sp>
        <p:nvSpPr>
          <p:cNvPr id="15" name="Shape 12"/>
          <p:cNvSpPr/>
          <p:nvPr/>
        </p:nvSpPr>
        <p:spPr>
          <a:xfrm>
            <a:off x="4297680" y="2359152"/>
            <a:ext cx="3593592" cy="2788920"/>
          </a:xfrm>
          <a:prstGeom prst="rect">
            <a:avLst/>
          </a:prstGeom>
          <a:solidFill>
            <a:schemeClr val="bg2"/>
          </a:solidFill>
          <a:ln/>
        </p:spPr>
      </p:sp>
      <p:sp>
        <p:nvSpPr>
          <p:cNvPr id="16" name="Stewart Lab tasks"/>
          <p:cNvSpPr txBox="1"/>
          <p:nvPr/>
        </p:nvSpPr>
        <p:spPr>
          <a:xfrm>
            <a:off x="4517136" y="2542032"/>
            <a:ext cx="3172968" cy="2496312"/>
          </a:xfrm>
          <a:prstGeom prst="rect">
            <a:avLst/>
          </a:prstGeom>
          <a:noFill/>
          <a:ln/>
        </p:spPr>
        <p:txBody>
          <a:bodyPr wrap="square" lIns="0" tIns="0" rIns="0" bIns="0" rtlCol="0" anchor="t"/>
          <a:lstStyle/>
          <a:p>
            <a:pPr marL="177800" indent="-177800">
              <a:spcAft>
                <a:spcPts val="900"/>
              </a:spcAft>
              <a:buSzPct val="100000"/>
              <a:buChar char="•"/>
            </a:pPr>
            <a:r>
              <a:rPr lang="en-US" sz="1300" dirty="0">
                <a:solidFill>
                  <a:schemeClr val="tx1"/>
                </a:solidFill>
              </a:rPr>
              <a:t>Test candidate treatments in zebrafish models of SHH-driven MB (human tumor xenografts and genetically engineered models)</a:t>
            </a:r>
            <a:endParaRPr lang="en-US" sz="1300" dirty="0"/>
          </a:p>
          <a:p>
            <a:pPr marL="177800" indent="-177800">
              <a:spcAft>
                <a:spcPts val="900"/>
              </a:spcAft>
              <a:buSzPct val="100000"/>
              <a:buChar char="•"/>
            </a:pPr>
            <a:r>
              <a:rPr lang="en-US" sz="1300" dirty="0">
                <a:solidFill>
                  <a:schemeClr val="tx1"/>
                </a:solidFill>
              </a:rPr>
              <a:t>Screen Meyers-lab mutants in vivo in the zebrafish systems</a:t>
            </a:r>
            <a:endParaRPr lang="en-US" sz="1300" dirty="0"/>
          </a:p>
          <a:p>
            <a:pPr marL="177800" indent="-177800">
              <a:spcAft>
                <a:spcPts val="900"/>
              </a:spcAft>
              <a:buSzPct val="100000"/>
              <a:buChar char="•"/>
            </a:pPr>
            <a:r>
              <a:rPr lang="en-US" sz="1300" dirty="0">
                <a:solidFill>
                  <a:schemeClr val="tx1"/>
                </a:solidFill>
              </a:rPr>
              <a:t>RNA-seq and phosphoprotein analysis of treated tumors to map SHH-pathway effects and emerging resistance</a:t>
            </a:r>
            <a:endParaRPr lang="en-US" sz="1300" dirty="0"/>
          </a:p>
        </p:txBody>
      </p:sp>
      <p:sp>
        <p:nvSpPr>
          <p:cNvPr id="17" name="Stewart Lab throughput band"/>
          <p:cNvSpPr/>
          <p:nvPr/>
        </p:nvSpPr>
        <p:spPr>
          <a:xfrm>
            <a:off x="4297680" y="5349240"/>
            <a:ext cx="3593592" cy="566928"/>
          </a:xfrm>
          <a:prstGeom prst="roundRect">
            <a:avLst>
              <a:gd name="adj" fmla="val 9677"/>
            </a:avLst>
          </a:prstGeom>
          <a:solidFill>
            <a:srgbClr val="F6EAEA"/>
          </a:solidFill>
          <a:ln/>
        </p:spPr>
      </p:sp>
      <p:sp>
        <p:nvSpPr>
          <p:cNvPr id="18" name="Stewart Lab throughput"/>
          <p:cNvSpPr txBox="1"/>
          <p:nvPr/>
        </p:nvSpPr>
        <p:spPr>
          <a:xfrm>
            <a:off x="4389120" y="5349240"/>
            <a:ext cx="3410712" cy="566928"/>
          </a:xfrm>
          <a:prstGeom prst="rect">
            <a:avLst/>
          </a:prstGeom>
          <a:noFill/>
          <a:ln/>
        </p:spPr>
        <p:txBody>
          <a:bodyPr wrap="square" lIns="0" tIns="0" rIns="0" bIns="0" rtlCol="0" anchor="ctr"/>
          <a:lstStyle/>
          <a:p>
            <a:pPr algn="ctr" indent="0" marL="0">
              <a:buNone/>
            </a:pPr>
            <a:r>
              <a:rPr lang="en-US" sz="1300" dirty="0">
                <a:solidFill>
                  <a:schemeClr val="tx2"/>
                </a:solidFill>
              </a:rPr>
              <a:t>Assays  </a:t>
            </a:r>
            <a:pPr algn="ctr" indent="0" marL="0">
              <a:buNone/>
            </a:pPr>
            <a:r>
              <a:rPr lang="en-US" sz="2200" b="1" dirty="0">
                <a:solidFill>
                  <a:schemeClr val="accent1"/>
                </a:solidFill>
                <a:latin typeface="Cambria" pitchFamily="34" charset="0"/>
                <a:ea typeface="Cambria" pitchFamily="34" charset="-122"/>
                <a:cs typeface="Cambria" pitchFamily="34" charset="-120"/>
              </a:rPr>
              <a:t>dozens</a:t>
            </a:r>
            <a:pPr algn="ctr" indent="0" marL="0">
              <a:buNone/>
            </a:pPr>
            <a:r>
              <a:rPr lang="en-US" sz="1300" dirty="0">
                <a:solidFill>
                  <a:schemeClr val="tx2"/>
                </a:solidFill>
              </a:rPr>
              <a:t>  mutations</a:t>
            </a:r>
            <a:endParaRPr lang="en-US" sz="1300" dirty="0"/>
          </a:p>
        </p:txBody>
      </p:sp>
      <p:pic>
        <p:nvPicPr>
          <p:cNvPr id="19" name="Funnel arrow 2" descr="preencoded.png">    </p:cNvPr>
          <p:cNvPicPr>
            <a:picLocks noChangeAspect="1"/>
          </p:cNvPicPr>
          <p:nvPr/>
        </p:nvPicPr>
        <p:blipFill>
          <a:blip r:embed="rId2"/>
          <a:stretch>
            <a:fillRect/>
          </a:stretch>
        </p:blipFill>
        <p:spPr>
          <a:xfrm>
            <a:off x="7827264" y="5513832"/>
            <a:ext cx="237744" cy="237744"/>
          </a:xfrm>
          <a:prstGeom prst="rect">
            <a:avLst/>
          </a:prstGeom>
        </p:spPr>
      </p:pic>
      <p:sp>
        <p:nvSpPr>
          <p:cNvPr id="20" name="Cheshier Lab header"/>
          <p:cNvSpPr/>
          <p:nvPr/>
        </p:nvSpPr>
        <p:spPr>
          <a:xfrm>
            <a:off x="8046720" y="1645920"/>
            <a:ext cx="3593592" cy="713232"/>
          </a:xfrm>
          <a:prstGeom prst="rect">
            <a:avLst/>
          </a:prstGeom>
          <a:solidFill>
            <a:schemeClr val="accent1"/>
          </a:solidFill>
          <a:ln/>
        </p:spPr>
      </p:sp>
      <p:sp>
        <p:nvSpPr>
          <p:cNvPr id="21" name="Text 17"/>
          <p:cNvSpPr txBox="1"/>
          <p:nvPr/>
        </p:nvSpPr>
        <p:spPr>
          <a:xfrm>
            <a:off x="8247888" y="1719072"/>
            <a:ext cx="3191256" cy="347472"/>
          </a:xfrm>
          <a:prstGeom prst="rect">
            <a:avLst/>
          </a:prstGeom>
          <a:noFill/>
          <a:ln/>
        </p:spPr>
        <p:txBody>
          <a:bodyPr wrap="square" lIns="0" tIns="0" rIns="0" bIns="0" rtlCol="0" anchor="ctr"/>
          <a:lstStyle/>
          <a:p>
            <a:pPr indent="0" marL="0">
              <a:buNone/>
            </a:pPr>
            <a:r>
              <a:rPr lang="en-US" sz="1900" b="1" dirty="0">
                <a:solidFill>
                  <a:schemeClr val="bg1"/>
                </a:solidFill>
                <a:latin typeface="Cambria" pitchFamily="34" charset="0"/>
                <a:ea typeface="Cambria" pitchFamily="34" charset="-122"/>
                <a:cs typeface="Cambria" pitchFamily="34" charset="-120"/>
              </a:rPr>
              <a:t>Cheshier Lab</a:t>
            </a:r>
            <a:endParaRPr lang="en-US" sz="1900" dirty="0"/>
          </a:p>
        </p:txBody>
      </p:sp>
      <p:sp>
        <p:nvSpPr>
          <p:cNvPr id="22" name="Text 18"/>
          <p:cNvSpPr txBox="1"/>
          <p:nvPr/>
        </p:nvSpPr>
        <p:spPr>
          <a:xfrm>
            <a:off x="8247888" y="2057400"/>
            <a:ext cx="3191256" cy="256032"/>
          </a:xfrm>
          <a:prstGeom prst="rect">
            <a:avLst/>
          </a:prstGeom>
          <a:noFill/>
          <a:ln/>
        </p:spPr>
        <p:txBody>
          <a:bodyPr wrap="square" lIns="0" tIns="0" rIns="0" bIns="0" rtlCol="0" anchor="ctr"/>
          <a:lstStyle/>
          <a:p>
            <a:pPr indent="0" marL="0">
              <a:buNone/>
            </a:pPr>
            <a:r>
              <a:rPr lang="en-US" sz="1200" dirty="0">
                <a:solidFill>
                  <a:srgbClr val="F2C4C4"/>
                </a:solidFill>
              </a:rPr>
              <a:t>Patient-derived &amp; mouse models</a:t>
            </a:r>
            <a:endParaRPr lang="en-US" sz="1200" dirty="0"/>
          </a:p>
        </p:txBody>
      </p:sp>
      <p:sp>
        <p:nvSpPr>
          <p:cNvPr id="23" name="Shape 19"/>
          <p:cNvSpPr/>
          <p:nvPr/>
        </p:nvSpPr>
        <p:spPr>
          <a:xfrm>
            <a:off x="8046720" y="2359152"/>
            <a:ext cx="3593592" cy="2788920"/>
          </a:xfrm>
          <a:prstGeom prst="rect">
            <a:avLst/>
          </a:prstGeom>
          <a:solidFill>
            <a:schemeClr val="bg2"/>
          </a:solidFill>
          <a:ln/>
        </p:spPr>
      </p:sp>
      <p:sp>
        <p:nvSpPr>
          <p:cNvPr id="24" name="Cheshier Lab tasks"/>
          <p:cNvSpPr txBox="1"/>
          <p:nvPr/>
        </p:nvSpPr>
        <p:spPr>
          <a:xfrm>
            <a:off x="8266176" y="2542032"/>
            <a:ext cx="3172968" cy="2496312"/>
          </a:xfrm>
          <a:prstGeom prst="rect">
            <a:avLst/>
          </a:prstGeom>
          <a:noFill/>
          <a:ln/>
        </p:spPr>
        <p:txBody>
          <a:bodyPr wrap="square" lIns="0" tIns="0" rIns="0" bIns="0" rtlCol="0" anchor="t"/>
          <a:lstStyle/>
          <a:p>
            <a:pPr marL="177800" indent="-177800">
              <a:spcAft>
                <a:spcPts val="900"/>
              </a:spcAft>
              <a:buSzPct val="100000"/>
              <a:buChar char="•"/>
            </a:pPr>
            <a:r>
              <a:rPr lang="en-US" sz="1300" dirty="0">
                <a:solidFill>
                  <a:schemeClr val="tx1"/>
                </a:solidFill>
              </a:rPr>
              <a:t>Obtain patient-derived SHH-driven MB cells; test candidate treatments ex vivo and build PDX models</a:t>
            </a:r>
            <a:endParaRPr lang="en-US" sz="1300" dirty="0"/>
          </a:p>
          <a:p>
            <a:pPr marL="177800" indent="-177800">
              <a:spcAft>
                <a:spcPts val="900"/>
              </a:spcAft>
              <a:buSzPct val="100000"/>
              <a:buChar char="•"/>
            </a:pPr>
            <a:r>
              <a:rPr lang="en-US" sz="1300" dirty="0">
                <a:solidFill>
                  <a:schemeClr val="tx1"/>
                </a:solidFill>
              </a:rPr>
              <a:t>Test candidate treatments in mouse models (orthotopic human and mouse cell lines, engineered strains, patient-derived tumor cells)</a:t>
            </a:r>
            <a:endParaRPr lang="en-US" sz="1300" dirty="0"/>
          </a:p>
          <a:p>
            <a:pPr marL="177800" indent="-177800">
              <a:spcAft>
                <a:spcPts val="900"/>
              </a:spcAft>
              <a:buSzPct val="100000"/>
              <a:buChar char="•"/>
            </a:pPr>
            <a:r>
              <a:rPr lang="en-US" sz="1300" dirty="0">
                <a:solidFill>
                  <a:schemeClr val="tx1"/>
                </a:solidFill>
              </a:rPr>
              <a:t>RNA-seq and phosphoprotein analysis of treated tumors to map SHH-pathway effects and emerging resistance</a:t>
            </a:r>
            <a:endParaRPr lang="en-US" sz="1300" dirty="0"/>
          </a:p>
        </p:txBody>
      </p:sp>
      <p:sp>
        <p:nvSpPr>
          <p:cNvPr id="25" name="Cheshier Lab throughput band"/>
          <p:cNvSpPr/>
          <p:nvPr/>
        </p:nvSpPr>
        <p:spPr>
          <a:xfrm>
            <a:off x="8046720" y="5349240"/>
            <a:ext cx="3593592" cy="566928"/>
          </a:xfrm>
          <a:prstGeom prst="roundRect">
            <a:avLst>
              <a:gd name="adj" fmla="val 9677"/>
            </a:avLst>
          </a:prstGeom>
          <a:solidFill>
            <a:srgbClr val="F6EAEA"/>
          </a:solidFill>
          <a:ln/>
        </p:spPr>
      </p:sp>
      <p:sp>
        <p:nvSpPr>
          <p:cNvPr id="26" name="Cheshier Lab throughput"/>
          <p:cNvSpPr txBox="1"/>
          <p:nvPr/>
        </p:nvSpPr>
        <p:spPr>
          <a:xfrm>
            <a:off x="8138160" y="5349240"/>
            <a:ext cx="3410712" cy="566928"/>
          </a:xfrm>
          <a:prstGeom prst="rect">
            <a:avLst/>
          </a:prstGeom>
          <a:noFill/>
          <a:ln/>
        </p:spPr>
        <p:txBody>
          <a:bodyPr wrap="square" lIns="0" tIns="0" rIns="0" bIns="0" rtlCol="0" anchor="ctr"/>
          <a:lstStyle/>
          <a:p>
            <a:pPr algn="ctr" indent="0" marL="0">
              <a:buNone/>
            </a:pPr>
            <a:r>
              <a:rPr lang="en-US" sz="1300" dirty="0">
                <a:solidFill>
                  <a:schemeClr val="tx2"/>
                </a:solidFill>
              </a:rPr>
              <a:t>Assays  </a:t>
            </a:r>
            <a:pPr algn="ctr" indent="0" marL="0">
              <a:buNone/>
            </a:pPr>
            <a:r>
              <a:rPr lang="en-US" sz="2200" b="1" dirty="0">
                <a:solidFill>
                  <a:schemeClr val="accent1"/>
                </a:solidFill>
                <a:latin typeface="Cambria" pitchFamily="34" charset="0"/>
                <a:ea typeface="Cambria" pitchFamily="34" charset="-122"/>
                <a:cs typeface="Cambria" pitchFamily="34" charset="-120"/>
              </a:rPr>
              <a:t>up to 5</a:t>
            </a:r>
            <a:pPr algn="ctr" indent="0" marL="0">
              <a:buNone/>
            </a:pPr>
            <a:r>
              <a:rPr lang="en-US" sz="1300" dirty="0">
                <a:solidFill>
                  <a:schemeClr val="tx2"/>
                </a:solidFill>
              </a:rPr>
              <a:t>  mutations</a:t>
            </a:r>
            <a:endParaRPr lang="en-US" sz="1300" dirty="0"/>
          </a:p>
        </p:txBody>
      </p:sp>
      <p:sp>
        <p:nvSpPr>
          <p:cNvPr id="27" name="Text 23"/>
          <p:cNvSpPr txBox="1"/>
          <p:nvPr/>
        </p:nvSpPr>
        <p:spPr>
          <a:xfrm>
            <a:off x="548640" y="5989320"/>
            <a:ext cx="11091672" cy="274320"/>
          </a:xfrm>
          <a:prstGeom prst="rect">
            <a:avLst/>
          </a:prstGeom>
          <a:noFill/>
          <a:ln/>
        </p:spPr>
        <p:txBody>
          <a:bodyPr wrap="square" lIns="0" tIns="0" rIns="0" bIns="0" rtlCol="0" anchor="ctr"/>
          <a:lstStyle/>
          <a:p>
            <a:pPr indent="0" marL="0">
              <a:buNone/>
            </a:pPr>
            <a:r>
              <a:rPr lang="en-US" sz="1000" i="1" dirty="0">
                <a:solidFill>
                  <a:schemeClr val="accent3"/>
                </a:solidFill>
              </a:rPr>
              <a:t>DMS, deep mutational scanning; MB, medulloblastoma; PDX, patient-derived xenograft; SMO, smoothened; GRK, G protein-coupled receptor kinase.</a:t>
            </a:r>
            <a:endParaRPr lang="en-US" sz="1000" dirty="0"/>
          </a:p>
        </p:txBody>
      </p:sp>
      <p:sp>
        <p:nvSpPr>
          <p:cNvPr id="25" name="Slide Number Placeholder 0"/>
          <p:cNvSpPr>
            <a:spLocks noGrp="1"/>
          </p:cNvSpPr>
          <p:nvPr>
            <p:ph type="sldNum" sz="quarter" idx="4294967295"/>
          </p:nvPr>
        </p:nvSpPr>
        <p:spPr>
          <a:xfrm>
            <a:off x="10881360" y="6355080"/>
            <a:ext cx="758952" cy="292608"/>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B6B6B"/>
                </a:solidFill>
              </a:defRPr>
            </a:lvl1pPr>
          </a:lstStyle>
          <a:p>
            <a:pPr algn="r"/>
            <a:fld id="{F7021451-1387-4CA6-816F-3879F97B5CBC}" type="slidenum">
              <a:rPr b="0" lang="en-US"/>
              <a:t>1</a:t>
            </a:fld>
            <a:endParaRPr lang="en-US"/>
          </a:p>
        </p:txBody>
      </p:sp>
    </p:spTree>
  </p:cSld>
  <p:clrMapOvr>
    <a:masterClrMapping/>
  </p:clrMapOvr>
</p:sld>
</file>

<file path=ppt/theme/theme1.xml><?xml version="1.0" encoding="utf-8"?>
<a:theme xmlns:a="http://schemas.openxmlformats.org/drawingml/2006/main" name="University of Utah Neurosurgery">
  <a:themeElements>
    <a:clrScheme name="University of Utah Neurosurgery">
      <a:dk1>
        <a:srgbClr val="1A1A1A"/>
      </a:dk1>
      <a:lt1>
        <a:srgbClr val="FFFFFF"/>
      </a:lt1>
      <a:dk2>
        <a:srgbClr val="3B3B3B"/>
      </a:dk2>
      <a:lt2>
        <a:srgbClr val="EEF0F0"/>
      </a:lt2>
      <a:accent1>
        <a:srgbClr val="BE0000"/>
      </a:accent1>
      <a:accent2>
        <a:srgbClr val="890000"/>
      </a:accent2>
      <a:accent3>
        <a:srgbClr val="708E99"/>
      </a:accent3>
      <a:accent4>
        <a:srgbClr val="5B6770"/>
      </a:accent4>
      <a:accent5>
        <a:srgbClr val="FFB81D"/>
      </a:accent5>
      <a:accent6>
        <a:srgbClr val="A7A8AA"/>
      </a:accent6>
      <a:hlink>
        <a:srgbClr val="BE0000"/>
      </a:hlink>
      <a:folHlink>
        <a:srgbClr val="890000"/>
      </a:folHlink>
    </a:clrScheme>
    <a:fontScheme name="University of Utah Neurosurge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University of Utah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Neurosurgery Grand Rounds</dc:title>
  <dc:subject>PptxGenJS Presentation</dc:subject>
  <dc:creator>Department of Neurosurgery, University of Utah Health</dc:creator>
  <cp:lastModifiedBy>Department of Neurosurgery, University of Utah Health</cp:lastModifiedBy>
  <cp:revision>1</cp:revision>
  <dcterms:created xsi:type="dcterms:W3CDTF">2026-10-28T05:39:21Z</dcterms:created>
  <dcterms:modified xsi:type="dcterms:W3CDTF">2026-10-28T05:39:21Z</dcterms:modified>
</cp:coreProperties>
</file>