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agocytic Balance" id="{0216495f-c885-5a34-88d3-380134b597a2}">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Macrophage phagocytosis of a tumor cell is decided by the balance of pro-phagocytic ('eat me') and anti-phagocytic ('don't eat me') signals on the target cell. Normal cells display little calreticulin and are protected by CD47. Many cancers display high surface calreticulin but up-regulate CD47 to counterbalance it (Chao et al., Sci Transl Med 2010, PMID 21178137). Blocking CD47 with an antibody removes the brake, the calreticulin 'eat me' signal dominates, and macrophages engulf the cancer cell. Other checkpoints include CD24-Siglec-10, MHC-I-LILRB1 and PD-L1-PD-1 (Feng et al., Nat Rev Cancer 2019, PMID 31462760). Concept of programmed cell removal: Chao, Majeti &amp; Weissman, Nat Rev Cancer 2011, PMID 22158022.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U_TITLE">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616952" y="0"/>
            <a:ext cx="4572000" cy="6858000"/>
          </a:xfrm>
          <a:prstGeom prst="rect">
            <a:avLst/>
          </a:prstGeom>
          <a:solidFill>
            <a:schemeClr val="tx1"/>
          </a:solidFill>
          <a:ln/>
        </p:spPr>
      </p:sp>
      <p:pic>
        <p:nvPicPr>
          <p:cNvPr id="3" name="Image 0" descr="preencoded.png">    </p:cNvPr>
          <p:cNvPicPr>
            <a:picLocks noChangeAspect="1"/>
          </p:cNvPicPr>
          <p:nvPr/>
        </p:nvPicPr>
        <p:blipFill>
          <a:blip r:embed="rId1"/>
          <a:stretch>
            <a:fillRect/>
          </a:stretch>
        </p:blipFill>
        <p:spPr>
          <a:xfrm>
            <a:off x="8394192" y="1920240"/>
            <a:ext cx="3017520" cy="3017520"/>
          </a:xfrm>
          <a:prstGeom prst="rect">
            <a:avLst/>
          </a:prstGeom>
        </p:spPr>
      </p:pic>
      <p:sp>
        <p:nvSpPr>
          <p:cNvPr id="4" name="Text 1"/>
          <p:cNvSpPr/>
          <p:nvPr/>
        </p:nvSpPr>
        <p:spPr>
          <a:xfrm>
            <a:off x="640080" y="548640"/>
            <a:ext cx="6400800" cy="320040"/>
          </a:xfrm>
          <a:prstGeom prst="rect">
            <a:avLst/>
          </a:prstGeom>
          <a:noFill/>
          <a:ln/>
        </p:spPr>
        <p:txBody>
          <a:bodyPr wrap="square" lIns="0" tIns="0" rIns="0" bIns="0" rtlCol="0" anchor="ctr"/>
          <a:lstStyle/>
          <a:p>
            <a:pPr indent="0" marL="0">
              <a:buNone/>
            </a:pPr>
            <a:r>
              <a:rPr lang="en-US" sz="1200" b="1" spc="400" kern="0" dirty="0">
                <a:solidFill>
                  <a:schemeClr val="bg1"/>
                </a:solidFill>
              </a:rPr>
              <a:t>UNIVERSITY OF UTAH HEALTH</a:t>
            </a:r>
            <a:endParaRPr lang="en-US" sz="1200" dirty="0"/>
          </a:p>
        </p:txBody>
      </p:sp>
      <p:sp>
        <p:nvSpPr>
          <p:cNvPr id="5" name="Text 2"/>
          <p:cNvSpPr/>
          <p:nvPr/>
        </p:nvSpPr>
        <p:spPr>
          <a:xfrm>
            <a:off x="640080" y="868680"/>
            <a:ext cx="6400800" cy="274320"/>
          </a:xfrm>
          <a:prstGeom prst="rect">
            <a:avLst/>
          </a:prstGeom>
          <a:noFill/>
          <a:ln/>
        </p:spPr>
        <p:txBody>
          <a:bodyPr wrap="square" lIns="0" tIns="0" rIns="0" bIns="0" rtlCol="0" anchor="ctr"/>
          <a:lstStyle/>
          <a:p>
            <a:pPr indent="0" marL="0">
              <a:buNone/>
            </a:pPr>
            <a:r>
              <a:rPr lang="en-US" sz="1200" dirty="0">
                <a:solidFill>
                  <a:srgbClr val="F2C4C4"/>
                </a:solidFill>
              </a:rPr>
              <a:t>Department of Neurosurgery</a:t>
            </a:r>
            <a:endParaRPr lang="en-US" sz="1200" dirty="0"/>
          </a:p>
        </p:txBody>
      </p:sp>
      <p:sp>
        <p:nvSpPr>
          <p:cNvPr id="6" name="Text 3"/>
          <p:cNvSpPr/>
          <p:nvPr>
            <p:ph idx="104" type="title" hasCustomPrompt="1"/>
          </p:nvPr>
        </p:nvSpPr>
        <p:spPr>
          <a:xfrm>
            <a:off x="640080" y="1828800"/>
            <a:ext cx="65836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Presentation Title</a:t>
            </a:r>
            <a:endParaRPr lang="en-US" sz="4400" dirty="0"/>
          </a:p>
        </p:txBody>
      </p:sp>
      <p:sp>
        <p:nvSpPr>
          <p:cNvPr id="7" name="Text 3"/>
          <p:cNvSpPr/>
          <p:nvPr>
            <p:ph idx="105" type="body" hasCustomPrompt="1"/>
          </p:nvPr>
        </p:nvSpPr>
        <p:spPr>
          <a:xfrm>
            <a:off x="640080" y="3794760"/>
            <a:ext cx="6583680" cy="731520"/>
          </a:xfrm>
          <a:prstGeom prst="rect">
            <a:avLst/>
          </a:prstGeom>
          <a:noFill/>
          <a:ln/>
        </p:spPr>
        <p:txBody>
          <a:bodyPr wrap="square" rtlCol="0"/>
          <a:lstStyle>
            <a:lvl1pPr indent="0" marL="0">
              <a:buNone/>
              <a:defRPr lang="en-US" sz="2000" dirty="0">
                <a:solidFill>
                  <a:srgbClr val="F2C4C4"/>
                </a:solidFill>
              </a:defRPr>
            </a:lvl1pPr>
          </a:lstStyle>
          <a:p>
            <a:pPr indent="0" marL="0">
              <a:buNone/>
            </a:pPr>
            <a:r>
              <a:rPr lang="en-US" sz="2000" dirty="0">
                <a:solidFill>
                  <a:srgbClr val="F2C4C4"/>
                </a:solidFill>
              </a:rPr>
              <a:t>Subtitle</a:t>
            </a:r>
            <a:endParaRPr lang="en-US" sz="2000" dirty="0"/>
          </a:p>
        </p:txBody>
      </p:sp>
      <p:sp>
        <p:nvSpPr>
          <p:cNvPr id="8" name="Text 3"/>
          <p:cNvSpPr/>
          <p:nvPr>
            <p:ph idx="106" type="body" hasCustomPrompt="1"/>
          </p:nvPr>
        </p:nvSpPr>
        <p:spPr>
          <a:xfrm>
            <a:off x="640080" y="4983480"/>
            <a:ext cx="6583680" cy="1188720"/>
          </a:xfrm>
          <a:prstGeom prst="rect">
            <a:avLst/>
          </a:prstGeom>
          <a:noFill/>
          <a:ln/>
        </p:spPr>
        <p:txBody>
          <a:bodyPr wrap="square" rtlCol="0"/>
          <a:lstStyle>
            <a:lvl1pPr indent="0" marL="0">
              <a:buNone/>
              <a:defRPr lang="en-US" sz="1400" dirty="0">
                <a:solidFill>
                  <a:schemeClr val="bg1"/>
                </a:solidFill>
              </a:defRPr>
            </a:lvl1pPr>
          </a:lstStyle>
          <a:p>
            <a:pPr indent="0" marL="0">
              <a:buNone/>
            </a:pPr>
            <a:r>
              <a:rPr lang="en-US" sz="1400" dirty="0">
                <a:solidFill>
                  <a:schemeClr val="bg1"/>
                </a:solidFill>
              </a:rPr>
              <a:t>Presenter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U_SECTION">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80960" y="914400"/>
            <a:ext cx="5029200" cy="5029200"/>
          </a:xfrm>
          <a:prstGeom prst="rect">
            <a:avLst/>
          </a:prstGeom>
        </p:spPr>
      </p:pic>
      <p:sp>
        <p:nvSpPr>
          <p:cNvPr id="3" name="Text 0"/>
          <p:cNvSpPr/>
          <p:nvPr>
            <p:ph idx="101" type="body" hasCustomPrompt="1"/>
          </p:nvPr>
        </p:nvSpPr>
        <p:spPr>
          <a:xfrm>
            <a:off x="731520" y="1280160"/>
            <a:ext cx="3657600" cy="1371600"/>
          </a:xfrm>
          <a:prstGeom prst="rect">
            <a:avLst/>
          </a:prstGeom>
          <a:noFill/>
          <a:ln/>
        </p:spPr>
        <p:txBody>
          <a:bodyPr wrap="square" rtlCol="0"/>
          <a:lstStyle>
            <a:lvl1pPr indent="0" marL="0">
              <a:buNone/>
              <a:defRPr lang="en-US" sz="8800" b="1" dirty="0">
                <a:solidFill>
                  <a:schemeClr val="accent1"/>
                </a:solidFill>
                <a:latin typeface="Cambria" pitchFamily="34" charset="0"/>
                <a:ea typeface="Cambria" pitchFamily="34" charset="-122"/>
                <a:cs typeface="Cambria" pitchFamily="34" charset="-120"/>
              </a:defRPr>
            </a:lvl1pPr>
          </a:lstStyle>
          <a:p>
            <a:pPr indent="0" marL="0">
              <a:buNone/>
            </a:pPr>
            <a:r>
              <a:rPr lang="en-US" sz="8800" b="1" dirty="0">
                <a:solidFill>
                  <a:schemeClr val="accent1"/>
                </a:solidFill>
                <a:latin typeface="Cambria" pitchFamily="34" charset="0"/>
                <a:ea typeface="Cambria" pitchFamily="34" charset="-122"/>
                <a:cs typeface="Cambria" pitchFamily="34" charset="-120"/>
              </a:rPr>
              <a:t>01</a:t>
            </a:r>
            <a:endParaRPr lang="en-US" sz="8800" dirty="0"/>
          </a:p>
        </p:txBody>
      </p:sp>
      <p:sp>
        <p:nvSpPr>
          <p:cNvPr id="4" name="Text 0"/>
          <p:cNvSpPr/>
          <p:nvPr>
            <p:ph idx="102" type="title" hasCustomPrompt="1"/>
          </p:nvPr>
        </p:nvSpPr>
        <p:spPr>
          <a:xfrm>
            <a:off x="731520" y="2834640"/>
            <a:ext cx="777240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Section Title</a:t>
            </a:r>
            <a:endParaRPr lang="en-US" sz="4400" dirty="0"/>
          </a:p>
        </p:txBody>
      </p:sp>
      <p:sp>
        <p:nvSpPr>
          <p:cNvPr id="5" name="Text 0"/>
          <p:cNvSpPr/>
          <p:nvPr>
            <p:ph idx="103" type="body" hasCustomPrompt="1"/>
          </p:nvPr>
        </p:nvSpPr>
        <p:spPr>
          <a:xfrm>
            <a:off x="731520" y="4114800"/>
            <a:ext cx="6858000" cy="914400"/>
          </a:xfrm>
          <a:prstGeom prst="rect">
            <a:avLst/>
          </a:prstGeom>
          <a:noFill/>
          <a:ln/>
        </p:spPr>
        <p:txBody>
          <a:bodyPr wrap="square" rtlCol="0"/>
          <a:lstStyle>
            <a:lvl1pPr indent="0" marL="0">
              <a:buNone/>
              <a:defRPr lang="en-US" sz="1800" dirty="0">
                <a:solidFill>
                  <a:srgbClr val="A7A8AA"/>
                </a:solidFill>
              </a:defRPr>
            </a:lvl1pPr>
          </a:lstStyle>
          <a:p>
            <a:pPr indent="0" marL="0">
              <a:buNone/>
            </a:pPr>
            <a:r>
              <a:rPr lang="en-US" sz="1800" dirty="0">
                <a:solidFill>
                  <a:srgbClr val="A7A8AA"/>
                </a:solidFill>
              </a:rPr>
              <a:t>Section description</a:t>
            </a:r>
            <a:endParaRPr lang="en-US" sz="1800" dirty="0"/>
          </a:p>
        </p:txBody>
      </p:sp>
      <p:pic>
        <p:nvPicPr>
          <p:cNvPr id="6" name="Image 1" descr="University of Utah Health logo">    </p:cNvPr>
          <p:cNvPicPr>
            <a:picLocks noChangeAspect="1"/>
          </p:cNvPicPr>
          <p:nvPr/>
        </p:nvPicPr>
        <p:blipFill>
          <a:blip r:embed="rId2"/>
          <a:stretch>
            <a:fillRect/>
          </a:stretch>
        </p:blipFill>
        <p:spPr>
          <a:xfrm>
            <a:off x="548640" y="6336792"/>
            <a:ext cx="329184" cy="329184"/>
          </a:xfrm>
          <a:prstGeom prst="rect">
            <a:avLst/>
          </a:prstGeom>
        </p:spPr>
      </p:pic>
      <p:sp>
        <p:nvSpPr>
          <p:cNvPr id="7"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A7A8AA"/>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UU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Slide Title</a:t>
            </a:r>
            <a:endParaRPr lang="en-US" sz="3400" dirty="0"/>
          </a:p>
        </p:txBody>
      </p:sp>
      <p:pic>
        <p:nvPicPr>
          <p:cNvPr id="3" name="Image 0" descr="University of Utah Health logo">    </p:cNvPr>
          <p:cNvPicPr>
            <a:picLocks noChangeAspect="1"/>
          </p:cNvPicPr>
          <p:nvPr/>
        </p:nvPicPr>
        <p:blipFill>
          <a:blip r:embed="rId1"/>
          <a:stretch>
            <a:fillRect/>
          </a:stretch>
        </p:blipFill>
        <p:spPr>
          <a:xfrm>
            <a:off x="548640" y="6336792"/>
            <a:ext cx="329184" cy="329184"/>
          </a:xfrm>
          <a:prstGeom prst="rect">
            <a:avLst/>
          </a:prstGeom>
        </p:spPr>
      </p:pic>
      <p:sp>
        <p:nvSpPr>
          <p:cNvPr id="4"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6B6B6B"/>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B6B6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UU_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Slide Title</a:t>
            </a:r>
            <a:endParaRPr lang="en-US" sz="3400" dirty="0"/>
          </a:p>
        </p:txBody>
      </p:sp>
      <p:pic>
        <p:nvPicPr>
          <p:cNvPr id="3" name="Image 0" descr="University of Utah Health logo">    </p:cNvPr>
          <p:cNvPicPr>
            <a:picLocks noChangeAspect="1"/>
          </p:cNvPicPr>
          <p:nvPr/>
        </p:nvPicPr>
        <p:blipFill>
          <a:blip r:embed="rId1"/>
          <a:stretch>
            <a:fillRect/>
          </a:stretch>
        </p:blipFill>
        <p:spPr>
          <a:xfrm>
            <a:off x="548640" y="6336792"/>
            <a:ext cx="329184" cy="329184"/>
          </a:xfrm>
          <a:prstGeom prst="rect">
            <a:avLst/>
          </a:prstGeom>
        </p:spPr>
      </p:pic>
      <p:sp>
        <p:nvSpPr>
          <p:cNvPr id="4"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A7A8AA"/>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UU_CLOSING">
    <p:bg>
      <p:bgPr>
        <a:solidFill>
          <a:schemeClr val="accent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184648" y="822960"/>
            <a:ext cx="1828800" cy="1828800"/>
          </a:xfrm>
          <a:prstGeom prst="rect">
            <a:avLst/>
          </a:prstGeom>
        </p:spPr>
      </p:pic>
      <p:sp>
        <p:nvSpPr>
          <p:cNvPr id="3" name="Text 0"/>
          <p:cNvSpPr/>
          <p:nvPr>
            <p:ph idx="101" type="title" hasCustomPrompt="1"/>
          </p:nvPr>
        </p:nvSpPr>
        <p:spPr>
          <a:xfrm>
            <a:off x="914400" y="2834640"/>
            <a:ext cx="10360152" cy="109728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r>
              <a:rPr lang="en-US" sz="5400" b="1" dirty="0">
                <a:solidFill>
                  <a:schemeClr val="bg1"/>
                </a:solidFill>
              </a:rPr>
              <a:t>Questions</a:t>
            </a:r>
            <a:endParaRPr lang="en-US" sz="5400" dirty="0"/>
          </a:p>
        </p:txBody>
      </p:sp>
      <p:sp>
        <p:nvSpPr>
          <p:cNvPr id="4" name="Text 0"/>
          <p:cNvSpPr/>
          <p:nvPr>
            <p:ph idx="102" type="body" hasCustomPrompt="1"/>
          </p:nvPr>
        </p:nvSpPr>
        <p:spPr>
          <a:xfrm>
            <a:off x="1371600" y="4023360"/>
            <a:ext cx="9445752" cy="1371600"/>
          </a:xfrm>
          <a:prstGeom prst="rect">
            <a:avLst/>
          </a:prstGeom>
          <a:noFill/>
          <a:ln/>
        </p:spPr>
        <p:txBody>
          <a:bodyPr wrap="square" rtlCol="0"/>
          <a:lstStyle>
            <a:lvl1pPr algn="ctr" indent="0" marL="0">
              <a:buNone/>
              <a:defRPr lang="en-US" sz="1800" dirty="0">
                <a:solidFill>
                  <a:srgbClr val="F2C4C4"/>
                </a:solidFill>
              </a:defRPr>
            </a:lvl1pPr>
          </a:lstStyle>
          <a:p>
            <a:pPr algn="ctr" indent="0" marL="0">
              <a:buNone/>
            </a:pPr>
            <a:r>
              <a:rPr lang="en-US" sz="1800" dirty="0">
                <a:solidFill>
                  <a:srgbClr val="F2C4C4"/>
                </a:solidFill>
              </a:rPr>
              <a:t>Contact</a:t>
            </a:r>
            <a:endParaRPr lang="en-US" sz="1800" dirty="0"/>
          </a:p>
        </p:txBody>
      </p:sp>
      <p:sp>
        <p:nvSpPr>
          <p:cNvPr id="5" name="Text 0"/>
          <p:cNvSpPr/>
          <p:nvPr/>
        </p:nvSpPr>
        <p:spPr>
          <a:xfrm>
            <a:off x="914400" y="6126480"/>
            <a:ext cx="10360152" cy="320040"/>
          </a:xfrm>
          <a:prstGeom prst="rect">
            <a:avLst/>
          </a:prstGeom>
          <a:noFill/>
          <a:ln/>
        </p:spPr>
        <p:txBody>
          <a:bodyPr wrap="square" lIns="0" tIns="0" rIns="0" bIns="0" rtlCol="0" anchor="ctr"/>
          <a:lstStyle/>
          <a:p>
            <a:pPr algn="ctr" indent="0" marL="0">
              <a:buNone/>
            </a:pPr>
            <a:r>
              <a:rPr lang="en-US" sz="1100" b="1" spc="300" kern="0" dirty="0">
                <a:solidFill>
                  <a:schemeClr val="bg1"/>
                </a:solidFill>
              </a:rPr>
              <a:t>UNIVERSITY OF UTAH HEALTH  |  DEPARTMENT OF NEUROSURGERY</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“Eat Me” vs. “Don’t Eat Me”: The Phagocytic Balance</a:t>
            </a:r>
            <a:endParaRPr lang="en-US" sz="3400" dirty="0"/>
          </a:p>
        </p:txBody>
      </p:sp>
      <p:sp>
        <p:nvSpPr>
          <p:cNvPr id="3" name="Shape 1"/>
          <p:cNvSpPr/>
          <p:nvPr/>
        </p:nvSpPr>
        <p:spPr>
          <a:xfrm>
            <a:off x="548640" y="1417320"/>
            <a:ext cx="3566160" cy="2286000"/>
          </a:xfrm>
          <a:prstGeom prst="rect">
            <a:avLst/>
          </a:prstGeom>
          <a:solidFill>
            <a:schemeClr val="bg2"/>
          </a:solidFill>
          <a:ln/>
        </p:spPr>
      </p:sp>
      <p:sp>
        <p:nvSpPr>
          <p:cNvPr id="4" name="Don&amp;apos;t eat me heading"/>
          <p:cNvSpPr txBox="1"/>
          <p:nvPr/>
        </p:nvSpPr>
        <p:spPr>
          <a:xfrm>
            <a:off x="822960" y="1600200"/>
            <a:ext cx="3017520" cy="365760"/>
          </a:xfrm>
          <a:prstGeom prst="rect">
            <a:avLst/>
          </a:prstGeom>
          <a:noFill/>
          <a:ln/>
        </p:spPr>
        <p:txBody>
          <a:bodyPr wrap="square" lIns="0" tIns="0" rIns="0" bIns="0" rtlCol="0" anchor="ctr"/>
          <a:lstStyle/>
          <a:p>
            <a:pPr indent="0" marL="0">
              <a:buNone/>
            </a:pPr>
            <a:r>
              <a:rPr lang="en-US" sz="2000" b="1" dirty="0">
                <a:solidFill>
                  <a:srgbClr val="2E8B57"/>
                </a:solidFill>
                <a:latin typeface="Cambria" pitchFamily="34" charset="0"/>
                <a:ea typeface="Cambria" pitchFamily="34" charset="-122"/>
                <a:cs typeface="Cambria" pitchFamily="34" charset="-120"/>
              </a:rPr>
              <a:t>“Don’t eat me”</a:t>
            </a:r>
            <a:endParaRPr lang="en-US" sz="2000" dirty="0"/>
          </a:p>
        </p:txBody>
      </p:sp>
      <p:sp>
        <p:nvSpPr>
          <p:cNvPr id="5" name="Text 3"/>
          <p:cNvSpPr txBox="1"/>
          <p:nvPr/>
        </p:nvSpPr>
        <p:spPr>
          <a:xfrm>
            <a:off x="822960" y="1965960"/>
            <a:ext cx="3017520" cy="274320"/>
          </a:xfrm>
          <a:prstGeom prst="rect">
            <a:avLst/>
          </a:prstGeom>
          <a:noFill/>
          <a:ln/>
        </p:spPr>
        <p:txBody>
          <a:bodyPr wrap="square" lIns="0" tIns="0" rIns="0" bIns="0" rtlCol="0" anchor="ctr"/>
          <a:lstStyle/>
          <a:p>
            <a:pPr indent="0" marL="0">
              <a:buNone/>
            </a:pPr>
            <a:r>
              <a:rPr lang="en-US" sz="1200" dirty="0">
                <a:solidFill>
                  <a:schemeClr val="accent3"/>
                </a:solidFill>
              </a:rPr>
              <a:t>Anti-phagocytic: ligand → receptor</a:t>
            </a:r>
            <a:endParaRPr lang="en-US" sz="1200" dirty="0"/>
          </a:p>
        </p:txBody>
      </p:sp>
      <p:sp>
        <p:nvSpPr>
          <p:cNvPr id="6" name="Don't eat me signals"/>
          <p:cNvSpPr txBox="1"/>
          <p:nvPr/>
        </p:nvSpPr>
        <p:spPr>
          <a:xfrm>
            <a:off x="822960" y="2331720"/>
            <a:ext cx="3017520" cy="12344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CD47</a:t>
            </a:r>
            <a:pPr indent="0" marL="0">
              <a:spcAft>
                <a:spcPts val="400"/>
              </a:spcAft>
              <a:buNone/>
            </a:pPr>
            <a:r>
              <a:rPr lang="en-US" sz="1400" dirty="0">
                <a:solidFill>
                  <a:schemeClr val="tx2"/>
                </a:solidFill>
              </a:rPr>
              <a:t>  →  SIRPα</a:t>
            </a:r>
            <a:endParaRPr lang="en-US" sz="1400" dirty="0"/>
          </a:p>
          <a:p>
            <a:pPr indent="0" marL="0">
              <a:spcAft>
                <a:spcPts val="400"/>
              </a:spcAft>
              <a:buNone/>
            </a:pPr>
            <a:r>
              <a:rPr lang="en-US" sz="1400" b="1" dirty="0">
                <a:solidFill>
                  <a:schemeClr val="tx1"/>
                </a:solidFill>
              </a:rPr>
              <a:t>CD24</a:t>
            </a:r>
            <a:pPr indent="0" marL="0">
              <a:spcAft>
                <a:spcPts val="400"/>
              </a:spcAft>
              <a:buNone/>
            </a:pPr>
            <a:r>
              <a:rPr lang="en-US" sz="1400" dirty="0">
                <a:solidFill>
                  <a:schemeClr val="tx2"/>
                </a:solidFill>
              </a:rPr>
              <a:t>  →  Siglec-10</a:t>
            </a:r>
            <a:endParaRPr lang="en-US" sz="1400" dirty="0"/>
          </a:p>
          <a:p>
            <a:pPr indent="0" marL="0">
              <a:spcAft>
                <a:spcPts val="400"/>
              </a:spcAft>
              <a:buNone/>
            </a:pPr>
            <a:r>
              <a:rPr lang="en-US" sz="1400" b="1" dirty="0">
                <a:solidFill>
                  <a:schemeClr val="tx1"/>
                </a:solidFill>
              </a:rPr>
              <a:t>MHC class I</a:t>
            </a:r>
            <a:pPr indent="0" marL="0">
              <a:spcAft>
                <a:spcPts val="400"/>
              </a:spcAft>
              <a:buNone/>
            </a:pPr>
            <a:r>
              <a:rPr lang="en-US" sz="1400" dirty="0">
                <a:solidFill>
                  <a:schemeClr val="tx2"/>
                </a:solidFill>
              </a:rPr>
              <a:t>  →  LILRB1</a:t>
            </a:r>
            <a:endParaRPr lang="en-US" sz="1400" dirty="0"/>
          </a:p>
          <a:p>
            <a:pPr indent="0" marL="0">
              <a:spcAft>
                <a:spcPts val="400"/>
              </a:spcAft>
              <a:buNone/>
            </a:pPr>
            <a:r>
              <a:rPr lang="en-US" sz="1400" b="1" dirty="0">
                <a:solidFill>
                  <a:schemeClr val="tx1"/>
                </a:solidFill>
              </a:rPr>
              <a:t>PD-L1</a:t>
            </a:r>
            <a:pPr indent="0" marL="0">
              <a:spcAft>
                <a:spcPts val="400"/>
              </a:spcAft>
              <a:buNone/>
            </a:pPr>
            <a:r>
              <a:rPr lang="en-US" sz="1400" dirty="0">
                <a:solidFill>
                  <a:schemeClr val="tx2"/>
                </a:solidFill>
              </a:rPr>
              <a:t>  →  PD-1</a:t>
            </a:r>
            <a:endParaRPr lang="en-US" sz="1400" dirty="0"/>
          </a:p>
        </p:txBody>
      </p:sp>
      <p:sp>
        <p:nvSpPr>
          <p:cNvPr id="7" name="Shape 5"/>
          <p:cNvSpPr/>
          <p:nvPr/>
        </p:nvSpPr>
        <p:spPr>
          <a:xfrm>
            <a:off x="8074152" y="1417320"/>
            <a:ext cx="3566160" cy="2286000"/>
          </a:xfrm>
          <a:prstGeom prst="rect">
            <a:avLst/>
          </a:prstGeom>
          <a:solidFill>
            <a:schemeClr val="bg2"/>
          </a:solidFill>
          <a:ln/>
        </p:spPr>
      </p:sp>
      <p:sp>
        <p:nvSpPr>
          <p:cNvPr id="8" name="Eat me heading"/>
          <p:cNvSpPr txBox="1"/>
          <p:nvPr/>
        </p:nvSpPr>
        <p:spPr>
          <a:xfrm>
            <a:off x="8348472" y="1600200"/>
            <a:ext cx="3017520" cy="365760"/>
          </a:xfrm>
          <a:prstGeom prst="rect">
            <a:avLst/>
          </a:prstGeom>
          <a:noFill/>
          <a:ln/>
        </p:spPr>
        <p:txBody>
          <a:bodyPr wrap="square" lIns="0" tIns="0" rIns="0" bIns="0" rtlCol="0" anchor="ctr"/>
          <a:lstStyle/>
          <a:p>
            <a:pPr indent="0" marL="0">
              <a:buNone/>
            </a:pPr>
            <a:r>
              <a:rPr lang="en-US" sz="2000" b="1" dirty="0">
                <a:solidFill>
                  <a:srgbClr val="8A5A00"/>
                </a:solidFill>
                <a:latin typeface="Cambria" pitchFamily="34" charset="0"/>
                <a:ea typeface="Cambria" pitchFamily="34" charset="-122"/>
                <a:cs typeface="Cambria" pitchFamily="34" charset="-120"/>
              </a:rPr>
              <a:t>“Eat me”</a:t>
            </a:r>
            <a:endParaRPr lang="en-US" sz="2000" dirty="0"/>
          </a:p>
        </p:txBody>
      </p:sp>
      <p:sp>
        <p:nvSpPr>
          <p:cNvPr id="9" name="Text 7"/>
          <p:cNvSpPr txBox="1"/>
          <p:nvPr/>
        </p:nvSpPr>
        <p:spPr>
          <a:xfrm>
            <a:off x="8348472" y="1965960"/>
            <a:ext cx="3017520" cy="274320"/>
          </a:xfrm>
          <a:prstGeom prst="rect">
            <a:avLst/>
          </a:prstGeom>
          <a:noFill/>
          <a:ln/>
        </p:spPr>
        <p:txBody>
          <a:bodyPr wrap="square" lIns="0" tIns="0" rIns="0" bIns="0" rtlCol="0" anchor="ctr"/>
          <a:lstStyle/>
          <a:p>
            <a:pPr indent="0" marL="0">
              <a:buNone/>
            </a:pPr>
            <a:r>
              <a:rPr lang="en-US" sz="1200" dirty="0">
                <a:solidFill>
                  <a:schemeClr val="accent3"/>
                </a:solidFill>
              </a:rPr>
              <a:t>Pro-phagocytic: ligand → receptor</a:t>
            </a:r>
            <a:endParaRPr lang="en-US" sz="1200" dirty="0"/>
          </a:p>
        </p:txBody>
      </p:sp>
      <p:sp>
        <p:nvSpPr>
          <p:cNvPr id="10" name="Eat me signals"/>
          <p:cNvSpPr txBox="1"/>
          <p:nvPr/>
        </p:nvSpPr>
        <p:spPr>
          <a:xfrm>
            <a:off x="8348472" y="2331720"/>
            <a:ext cx="3017520" cy="123444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Calreticulin</a:t>
            </a:r>
            <a:pPr indent="0" marL="0">
              <a:spcAft>
                <a:spcPts val="400"/>
              </a:spcAft>
              <a:buNone/>
            </a:pPr>
            <a:r>
              <a:rPr lang="en-US" sz="1400" dirty="0">
                <a:solidFill>
                  <a:schemeClr val="tx2"/>
                </a:solidFill>
              </a:rPr>
              <a:t>  →  LRP1</a:t>
            </a:r>
            <a:endParaRPr lang="en-US" sz="1400" dirty="0"/>
          </a:p>
          <a:p>
            <a:pPr indent="0" marL="0">
              <a:spcAft>
                <a:spcPts val="400"/>
              </a:spcAft>
              <a:buNone/>
            </a:pPr>
            <a:r>
              <a:rPr lang="en-US" sz="1400" b="1" dirty="0">
                <a:solidFill>
                  <a:schemeClr val="tx1"/>
                </a:solidFill>
              </a:rPr>
              <a:t>Phosphatidylserine</a:t>
            </a:r>
            <a:pPr indent="0" marL="0">
              <a:spcAft>
                <a:spcPts val="400"/>
              </a:spcAft>
              <a:buNone/>
            </a:pPr>
            <a:r>
              <a:rPr lang="en-US" sz="1400" dirty="0">
                <a:solidFill>
                  <a:schemeClr val="tx2"/>
                </a:solidFill>
              </a:rPr>
              <a:t>  →  TIM-4 / MERTK</a:t>
            </a:r>
            <a:endParaRPr lang="en-US" sz="1400" dirty="0"/>
          </a:p>
          <a:p>
            <a:pPr indent="0" marL="0">
              <a:spcAft>
                <a:spcPts val="400"/>
              </a:spcAft>
              <a:buNone/>
            </a:pPr>
            <a:r>
              <a:rPr lang="en-US" sz="1400" b="1" dirty="0">
                <a:solidFill>
                  <a:schemeClr val="tx1"/>
                </a:solidFill>
              </a:rPr>
              <a:t>SLAMF7</a:t>
            </a:r>
            <a:pPr indent="0" marL="0">
              <a:spcAft>
                <a:spcPts val="400"/>
              </a:spcAft>
              <a:buNone/>
            </a:pPr>
            <a:r>
              <a:rPr lang="en-US" sz="1400" dirty="0">
                <a:solidFill>
                  <a:schemeClr val="tx2"/>
                </a:solidFill>
              </a:rPr>
              <a:t>  →  SLAMF7</a:t>
            </a:r>
            <a:endParaRPr lang="en-US" sz="1400" dirty="0"/>
          </a:p>
          <a:p>
            <a:pPr indent="0" marL="0">
              <a:spcAft>
                <a:spcPts val="400"/>
              </a:spcAft>
              <a:buNone/>
            </a:pPr>
            <a:r>
              <a:rPr lang="en-US" sz="1400" b="1" dirty="0">
                <a:solidFill>
                  <a:schemeClr val="tx1"/>
                </a:solidFill>
              </a:rPr>
              <a:t>Antibody Fc</a:t>
            </a:r>
            <a:pPr indent="0" marL="0">
              <a:spcAft>
                <a:spcPts val="400"/>
              </a:spcAft>
              <a:buNone/>
            </a:pPr>
            <a:r>
              <a:rPr lang="en-US" sz="1400" dirty="0">
                <a:solidFill>
                  <a:schemeClr val="tx2"/>
                </a:solidFill>
              </a:rPr>
              <a:t>  →  FcγR</a:t>
            </a:r>
            <a:endParaRPr lang="en-US" sz="1400" dirty="0"/>
          </a:p>
        </p:txBody>
      </p:sp>
      <p:sp>
        <p:nvSpPr>
          <p:cNvPr id="11" name="Fulcrum"/>
          <p:cNvSpPr/>
          <p:nvPr/>
        </p:nvSpPr>
        <p:spPr>
          <a:xfrm>
            <a:off x="5682996" y="2697480"/>
            <a:ext cx="822960" cy="777240"/>
          </a:xfrm>
          <a:prstGeom prst="triangle">
            <a:avLst/>
          </a:prstGeom>
          <a:solidFill>
            <a:schemeClr val="tx2"/>
          </a:solidFill>
          <a:ln/>
        </p:spPr>
      </p:sp>
      <p:sp>
        <p:nvSpPr>
          <p:cNvPr id="12" name="Fulcrum base"/>
          <p:cNvSpPr/>
          <p:nvPr/>
        </p:nvSpPr>
        <p:spPr>
          <a:xfrm>
            <a:off x="5362956" y="3456432"/>
            <a:ext cx="1463040" cy="109728"/>
          </a:xfrm>
          <a:prstGeom prst="roundRect">
            <a:avLst>
              <a:gd name="adj" fmla="val 33333"/>
            </a:avLst>
          </a:prstGeom>
          <a:solidFill>
            <a:schemeClr val="tx2"/>
          </a:solidFill>
          <a:ln/>
        </p:spPr>
      </p:sp>
      <p:sp>
        <p:nvSpPr>
          <p:cNvPr id="13" name="Balance beam"/>
          <p:cNvSpPr/>
          <p:nvPr/>
        </p:nvSpPr>
        <p:spPr>
          <a:xfrm rot="600000">
            <a:off x="4539996" y="2656332"/>
            <a:ext cx="3108960" cy="82296"/>
          </a:xfrm>
          <a:prstGeom prst="rect">
            <a:avLst/>
          </a:prstGeom>
          <a:solidFill>
            <a:schemeClr val="tx1"/>
          </a:solidFill>
          <a:ln/>
        </p:spPr>
      </p:sp>
      <p:sp>
        <p:nvSpPr>
          <p:cNvPr id="14" name="Weight: don&amp;apos;t eat me"/>
          <p:cNvSpPr/>
          <p:nvPr/>
        </p:nvSpPr>
        <p:spPr>
          <a:xfrm rot="600000">
            <a:off x="4535225" y="2013855"/>
            <a:ext cx="1325880" cy="475488"/>
          </a:xfrm>
          <a:prstGeom prst="roundRect">
            <a:avLst>
              <a:gd name="adj" fmla="val 15385"/>
            </a:avLst>
          </a:prstGeom>
          <a:solidFill>
            <a:srgbClr val="2E8B57"/>
          </a:solidFill>
          <a:ln/>
        </p:spPr>
        <p:txBody>
          <a:bodyPr wrap="square" lIns="0" tIns="0" rIns="0" bIns="0" rtlCol="0" anchor="ctr"/>
          <a:lstStyle/>
          <a:p>
            <a:pPr algn="ctr" indent="0" marL="0">
              <a:buNone/>
            </a:pPr>
            <a:r>
              <a:rPr lang="en-US" sz="1400" b="1" dirty="0">
                <a:solidFill>
                  <a:schemeClr val="bg1"/>
                </a:solidFill>
              </a:rPr>
              <a:t>Don’t eat me</a:t>
            </a:r>
            <a:endParaRPr lang="en-US" sz="1400" dirty="0"/>
          </a:p>
        </p:txBody>
      </p:sp>
      <p:sp>
        <p:nvSpPr>
          <p:cNvPr id="15" name="Weight: eat me"/>
          <p:cNvSpPr/>
          <p:nvPr/>
        </p:nvSpPr>
        <p:spPr>
          <a:xfrm rot="600000">
            <a:off x="6511644" y="2164745"/>
            <a:ext cx="1280160" cy="658368"/>
          </a:xfrm>
          <a:prstGeom prst="roundRect">
            <a:avLst>
              <a:gd name="adj" fmla="val 11111"/>
            </a:avLst>
          </a:prstGeom>
          <a:solidFill>
            <a:srgbClr val="FFB81D"/>
          </a:solidFill>
          <a:ln/>
        </p:spPr>
        <p:txBody>
          <a:bodyPr wrap="square" lIns="0" tIns="0" rIns="0" bIns="0" rtlCol="0" anchor="ctr"/>
          <a:lstStyle/>
          <a:p>
            <a:pPr algn="ctr" indent="0" marL="0">
              <a:buNone/>
            </a:pPr>
            <a:r>
              <a:rPr lang="en-US" sz="1400" b="1" dirty="0">
                <a:solidFill>
                  <a:schemeClr val="tx1"/>
                </a:solidFill>
              </a:rPr>
              <a:t>Eat me</a:t>
            </a:r>
            <a:endParaRPr lang="en-US" sz="1400" dirty="0"/>
          </a:p>
        </p:txBody>
      </p:sp>
      <p:sp>
        <p:nvSpPr>
          <p:cNvPr id="16" name="Text 14"/>
          <p:cNvSpPr txBox="1"/>
          <p:nvPr/>
        </p:nvSpPr>
        <p:spPr>
          <a:xfrm>
            <a:off x="4343400" y="3657600"/>
            <a:ext cx="3502152" cy="274320"/>
          </a:xfrm>
          <a:prstGeom prst="rect">
            <a:avLst/>
          </a:prstGeom>
          <a:noFill/>
          <a:ln/>
        </p:spPr>
        <p:txBody>
          <a:bodyPr wrap="square" lIns="0" tIns="0" rIns="0" bIns="0" rtlCol="0" anchor="ctr"/>
          <a:lstStyle/>
          <a:p>
            <a:pPr algn="ctr" indent="0" marL="0">
              <a:buNone/>
            </a:pPr>
            <a:r>
              <a:rPr lang="en-US" sz="1200" i="1" dirty="0">
                <a:solidFill>
                  <a:schemeClr val="accent3"/>
                </a:solidFill>
              </a:rPr>
              <a:t>Net signal decides whether the macrophage engulfs</a:t>
            </a:r>
            <a:endParaRPr lang="en-US" sz="1200" dirty="0"/>
          </a:p>
        </p:txBody>
      </p:sp>
      <p:sp>
        <p:nvSpPr>
          <p:cNvPr id="17" name="Continuum 1"/>
          <p:cNvSpPr/>
          <p:nvPr/>
        </p:nvSpPr>
        <p:spPr>
          <a:xfrm>
            <a:off x="1783080" y="4370832"/>
            <a:ext cx="152857" cy="274320"/>
          </a:xfrm>
          <a:prstGeom prst="rect">
            <a:avLst/>
          </a:prstGeom>
          <a:solidFill>
            <a:srgbClr val="2E8B57"/>
          </a:solidFill>
          <a:ln/>
        </p:spPr>
      </p:sp>
      <p:sp>
        <p:nvSpPr>
          <p:cNvPr id="18" name="Continuum 2"/>
          <p:cNvSpPr/>
          <p:nvPr/>
        </p:nvSpPr>
        <p:spPr>
          <a:xfrm>
            <a:off x="1926793" y="4370832"/>
            <a:ext cx="152857" cy="274320"/>
          </a:xfrm>
          <a:prstGeom prst="rect">
            <a:avLst/>
          </a:prstGeom>
          <a:solidFill>
            <a:srgbClr val="348E5C"/>
          </a:solidFill>
          <a:ln/>
        </p:spPr>
      </p:sp>
      <p:sp>
        <p:nvSpPr>
          <p:cNvPr id="19" name="Continuum 3"/>
          <p:cNvSpPr/>
          <p:nvPr/>
        </p:nvSpPr>
        <p:spPr>
          <a:xfrm>
            <a:off x="2070506" y="4370832"/>
            <a:ext cx="152857" cy="274320"/>
          </a:xfrm>
          <a:prstGeom prst="rect">
            <a:avLst/>
          </a:prstGeom>
          <a:solidFill>
            <a:srgbClr val="3A9161"/>
          </a:solidFill>
          <a:ln/>
        </p:spPr>
      </p:sp>
      <p:sp>
        <p:nvSpPr>
          <p:cNvPr id="20" name="Continuum 4"/>
          <p:cNvSpPr/>
          <p:nvPr/>
        </p:nvSpPr>
        <p:spPr>
          <a:xfrm>
            <a:off x="2214220" y="4370832"/>
            <a:ext cx="152857" cy="274320"/>
          </a:xfrm>
          <a:prstGeom prst="rect">
            <a:avLst/>
          </a:prstGeom>
          <a:solidFill>
            <a:srgbClr val="409466"/>
          </a:solidFill>
          <a:ln/>
        </p:spPr>
      </p:sp>
      <p:sp>
        <p:nvSpPr>
          <p:cNvPr id="21" name="Continuum 5"/>
          <p:cNvSpPr/>
          <p:nvPr/>
        </p:nvSpPr>
        <p:spPr>
          <a:xfrm>
            <a:off x="2357933" y="4370832"/>
            <a:ext cx="152857" cy="274320"/>
          </a:xfrm>
          <a:prstGeom prst="rect">
            <a:avLst/>
          </a:prstGeom>
          <a:solidFill>
            <a:srgbClr val="46976A"/>
          </a:solidFill>
          <a:ln/>
        </p:spPr>
      </p:sp>
      <p:sp>
        <p:nvSpPr>
          <p:cNvPr id="22" name="Continuum 6"/>
          <p:cNvSpPr/>
          <p:nvPr/>
        </p:nvSpPr>
        <p:spPr>
          <a:xfrm>
            <a:off x="2501646" y="4370832"/>
            <a:ext cx="152857" cy="274320"/>
          </a:xfrm>
          <a:prstGeom prst="rect">
            <a:avLst/>
          </a:prstGeom>
          <a:solidFill>
            <a:srgbClr val="4D9A6F"/>
          </a:solidFill>
          <a:ln/>
        </p:spPr>
      </p:sp>
      <p:sp>
        <p:nvSpPr>
          <p:cNvPr id="23" name="Continuum 7"/>
          <p:cNvSpPr/>
          <p:nvPr/>
        </p:nvSpPr>
        <p:spPr>
          <a:xfrm>
            <a:off x="2645359" y="4370832"/>
            <a:ext cx="152857" cy="274320"/>
          </a:xfrm>
          <a:prstGeom prst="rect">
            <a:avLst/>
          </a:prstGeom>
          <a:solidFill>
            <a:srgbClr val="539E74"/>
          </a:solidFill>
          <a:ln/>
        </p:spPr>
      </p:sp>
      <p:sp>
        <p:nvSpPr>
          <p:cNvPr id="24" name="Continuum 8"/>
          <p:cNvSpPr/>
          <p:nvPr/>
        </p:nvSpPr>
        <p:spPr>
          <a:xfrm>
            <a:off x="2789072" y="4370832"/>
            <a:ext cx="152857" cy="274320"/>
          </a:xfrm>
          <a:prstGeom prst="rect">
            <a:avLst/>
          </a:prstGeom>
          <a:solidFill>
            <a:srgbClr val="59A179"/>
          </a:solidFill>
          <a:ln/>
        </p:spPr>
      </p:sp>
      <p:sp>
        <p:nvSpPr>
          <p:cNvPr id="25" name="Continuum 9"/>
          <p:cNvSpPr/>
          <p:nvPr/>
        </p:nvSpPr>
        <p:spPr>
          <a:xfrm>
            <a:off x="2932786" y="4370832"/>
            <a:ext cx="152857" cy="274320"/>
          </a:xfrm>
          <a:prstGeom prst="rect">
            <a:avLst/>
          </a:prstGeom>
          <a:solidFill>
            <a:srgbClr val="5FA47E"/>
          </a:solidFill>
          <a:ln/>
        </p:spPr>
      </p:sp>
      <p:sp>
        <p:nvSpPr>
          <p:cNvPr id="26" name="Continuum 10"/>
          <p:cNvSpPr/>
          <p:nvPr/>
        </p:nvSpPr>
        <p:spPr>
          <a:xfrm>
            <a:off x="3076499" y="4370832"/>
            <a:ext cx="152857" cy="274320"/>
          </a:xfrm>
          <a:prstGeom prst="rect">
            <a:avLst/>
          </a:prstGeom>
          <a:solidFill>
            <a:srgbClr val="65A783"/>
          </a:solidFill>
          <a:ln/>
        </p:spPr>
      </p:sp>
      <p:sp>
        <p:nvSpPr>
          <p:cNvPr id="27" name="Continuum 11"/>
          <p:cNvSpPr/>
          <p:nvPr/>
        </p:nvSpPr>
        <p:spPr>
          <a:xfrm>
            <a:off x="3220212" y="4370832"/>
            <a:ext cx="152857" cy="274320"/>
          </a:xfrm>
          <a:prstGeom prst="rect">
            <a:avLst/>
          </a:prstGeom>
          <a:solidFill>
            <a:srgbClr val="6BAA87"/>
          </a:solidFill>
          <a:ln/>
        </p:spPr>
      </p:sp>
      <p:sp>
        <p:nvSpPr>
          <p:cNvPr id="28" name="Continuum 12"/>
          <p:cNvSpPr/>
          <p:nvPr/>
        </p:nvSpPr>
        <p:spPr>
          <a:xfrm>
            <a:off x="3363925" y="4370832"/>
            <a:ext cx="152857" cy="274320"/>
          </a:xfrm>
          <a:prstGeom prst="rect">
            <a:avLst/>
          </a:prstGeom>
          <a:solidFill>
            <a:srgbClr val="71AD8C"/>
          </a:solidFill>
          <a:ln/>
        </p:spPr>
      </p:sp>
      <p:sp>
        <p:nvSpPr>
          <p:cNvPr id="29" name="Continuum 13"/>
          <p:cNvSpPr/>
          <p:nvPr/>
        </p:nvSpPr>
        <p:spPr>
          <a:xfrm>
            <a:off x="3507638" y="4370832"/>
            <a:ext cx="152857" cy="274320"/>
          </a:xfrm>
          <a:prstGeom prst="rect">
            <a:avLst/>
          </a:prstGeom>
          <a:solidFill>
            <a:srgbClr val="77B091"/>
          </a:solidFill>
          <a:ln/>
        </p:spPr>
      </p:sp>
      <p:sp>
        <p:nvSpPr>
          <p:cNvPr id="30" name="Continuum 14"/>
          <p:cNvSpPr/>
          <p:nvPr/>
        </p:nvSpPr>
        <p:spPr>
          <a:xfrm>
            <a:off x="3651352" y="4370832"/>
            <a:ext cx="152857" cy="274320"/>
          </a:xfrm>
          <a:prstGeom prst="rect">
            <a:avLst/>
          </a:prstGeom>
          <a:solidFill>
            <a:srgbClr val="7DB396"/>
          </a:solidFill>
          <a:ln/>
        </p:spPr>
      </p:sp>
      <p:sp>
        <p:nvSpPr>
          <p:cNvPr id="31" name="Continuum 15"/>
          <p:cNvSpPr/>
          <p:nvPr/>
        </p:nvSpPr>
        <p:spPr>
          <a:xfrm>
            <a:off x="3795065" y="4370832"/>
            <a:ext cx="152857" cy="274320"/>
          </a:xfrm>
          <a:prstGeom prst="rect">
            <a:avLst/>
          </a:prstGeom>
          <a:solidFill>
            <a:srgbClr val="83B69B"/>
          </a:solidFill>
          <a:ln/>
        </p:spPr>
      </p:sp>
      <p:sp>
        <p:nvSpPr>
          <p:cNvPr id="32" name="Continuum 16"/>
          <p:cNvSpPr/>
          <p:nvPr/>
        </p:nvSpPr>
        <p:spPr>
          <a:xfrm>
            <a:off x="3938778" y="4370832"/>
            <a:ext cx="152857" cy="274320"/>
          </a:xfrm>
          <a:prstGeom prst="rect">
            <a:avLst/>
          </a:prstGeom>
          <a:solidFill>
            <a:srgbClr val="8AB9A0"/>
          </a:solidFill>
          <a:ln/>
        </p:spPr>
      </p:sp>
      <p:sp>
        <p:nvSpPr>
          <p:cNvPr id="33" name="Continuum 17"/>
          <p:cNvSpPr/>
          <p:nvPr/>
        </p:nvSpPr>
        <p:spPr>
          <a:xfrm>
            <a:off x="4082491" y="4370832"/>
            <a:ext cx="152857" cy="274320"/>
          </a:xfrm>
          <a:prstGeom prst="rect">
            <a:avLst/>
          </a:prstGeom>
          <a:solidFill>
            <a:srgbClr val="90BCA5"/>
          </a:solidFill>
          <a:ln/>
        </p:spPr>
      </p:sp>
      <p:sp>
        <p:nvSpPr>
          <p:cNvPr id="34" name="Continuum 18"/>
          <p:cNvSpPr/>
          <p:nvPr/>
        </p:nvSpPr>
        <p:spPr>
          <a:xfrm>
            <a:off x="4226204" y="4370832"/>
            <a:ext cx="152857" cy="274320"/>
          </a:xfrm>
          <a:prstGeom prst="rect">
            <a:avLst/>
          </a:prstGeom>
          <a:solidFill>
            <a:srgbClr val="96BFA9"/>
          </a:solidFill>
          <a:ln/>
        </p:spPr>
      </p:sp>
      <p:sp>
        <p:nvSpPr>
          <p:cNvPr id="35" name="Continuum 19"/>
          <p:cNvSpPr/>
          <p:nvPr/>
        </p:nvSpPr>
        <p:spPr>
          <a:xfrm>
            <a:off x="4369918" y="4370832"/>
            <a:ext cx="152857" cy="274320"/>
          </a:xfrm>
          <a:prstGeom prst="rect">
            <a:avLst/>
          </a:prstGeom>
          <a:solidFill>
            <a:srgbClr val="9CC3AE"/>
          </a:solidFill>
          <a:ln/>
        </p:spPr>
      </p:sp>
      <p:sp>
        <p:nvSpPr>
          <p:cNvPr id="36" name="Continuum 20"/>
          <p:cNvSpPr/>
          <p:nvPr/>
        </p:nvSpPr>
        <p:spPr>
          <a:xfrm>
            <a:off x="4513631" y="4370832"/>
            <a:ext cx="152857" cy="274320"/>
          </a:xfrm>
          <a:prstGeom prst="rect">
            <a:avLst/>
          </a:prstGeom>
          <a:solidFill>
            <a:srgbClr val="A2C6B3"/>
          </a:solidFill>
          <a:ln/>
        </p:spPr>
      </p:sp>
      <p:sp>
        <p:nvSpPr>
          <p:cNvPr id="37" name="Continuum 21"/>
          <p:cNvSpPr/>
          <p:nvPr/>
        </p:nvSpPr>
        <p:spPr>
          <a:xfrm>
            <a:off x="4657344" y="4370832"/>
            <a:ext cx="152857" cy="274320"/>
          </a:xfrm>
          <a:prstGeom prst="rect">
            <a:avLst/>
          </a:prstGeom>
          <a:solidFill>
            <a:srgbClr val="A8C9B8"/>
          </a:solidFill>
          <a:ln/>
        </p:spPr>
      </p:sp>
      <p:sp>
        <p:nvSpPr>
          <p:cNvPr id="38" name="Continuum 22"/>
          <p:cNvSpPr/>
          <p:nvPr/>
        </p:nvSpPr>
        <p:spPr>
          <a:xfrm>
            <a:off x="4801057" y="4370832"/>
            <a:ext cx="152857" cy="274320"/>
          </a:xfrm>
          <a:prstGeom prst="rect">
            <a:avLst/>
          </a:prstGeom>
          <a:solidFill>
            <a:srgbClr val="AECCBD"/>
          </a:solidFill>
          <a:ln/>
        </p:spPr>
      </p:sp>
      <p:sp>
        <p:nvSpPr>
          <p:cNvPr id="39" name="Continuum 23"/>
          <p:cNvSpPr/>
          <p:nvPr/>
        </p:nvSpPr>
        <p:spPr>
          <a:xfrm>
            <a:off x="4944770" y="4370832"/>
            <a:ext cx="152857" cy="274320"/>
          </a:xfrm>
          <a:prstGeom prst="rect">
            <a:avLst/>
          </a:prstGeom>
          <a:solidFill>
            <a:srgbClr val="B4CFC2"/>
          </a:solidFill>
          <a:ln/>
        </p:spPr>
      </p:sp>
      <p:sp>
        <p:nvSpPr>
          <p:cNvPr id="40" name="Continuum 24"/>
          <p:cNvSpPr/>
          <p:nvPr/>
        </p:nvSpPr>
        <p:spPr>
          <a:xfrm>
            <a:off x="5088484" y="4370832"/>
            <a:ext cx="152857" cy="274320"/>
          </a:xfrm>
          <a:prstGeom prst="rect">
            <a:avLst/>
          </a:prstGeom>
          <a:solidFill>
            <a:srgbClr val="BAD2C6"/>
          </a:solidFill>
          <a:ln/>
        </p:spPr>
      </p:sp>
      <p:sp>
        <p:nvSpPr>
          <p:cNvPr id="41" name="Continuum 25"/>
          <p:cNvSpPr/>
          <p:nvPr/>
        </p:nvSpPr>
        <p:spPr>
          <a:xfrm>
            <a:off x="5232197" y="4370832"/>
            <a:ext cx="152857" cy="274320"/>
          </a:xfrm>
          <a:prstGeom prst="rect">
            <a:avLst/>
          </a:prstGeom>
          <a:solidFill>
            <a:srgbClr val="C0D5CB"/>
          </a:solidFill>
          <a:ln/>
        </p:spPr>
      </p:sp>
      <p:sp>
        <p:nvSpPr>
          <p:cNvPr id="42" name="Continuum 26"/>
          <p:cNvSpPr/>
          <p:nvPr/>
        </p:nvSpPr>
        <p:spPr>
          <a:xfrm>
            <a:off x="5375910" y="4370832"/>
            <a:ext cx="152857" cy="274320"/>
          </a:xfrm>
          <a:prstGeom prst="rect">
            <a:avLst/>
          </a:prstGeom>
          <a:solidFill>
            <a:srgbClr val="C7D8D0"/>
          </a:solidFill>
          <a:ln/>
        </p:spPr>
      </p:sp>
      <p:sp>
        <p:nvSpPr>
          <p:cNvPr id="43" name="Continuum 27"/>
          <p:cNvSpPr/>
          <p:nvPr/>
        </p:nvSpPr>
        <p:spPr>
          <a:xfrm>
            <a:off x="5519623" y="4370832"/>
            <a:ext cx="152857" cy="274320"/>
          </a:xfrm>
          <a:prstGeom prst="rect">
            <a:avLst/>
          </a:prstGeom>
          <a:solidFill>
            <a:srgbClr val="CDDBD5"/>
          </a:solidFill>
          <a:ln/>
        </p:spPr>
      </p:sp>
      <p:sp>
        <p:nvSpPr>
          <p:cNvPr id="44" name="Continuum 28"/>
          <p:cNvSpPr/>
          <p:nvPr/>
        </p:nvSpPr>
        <p:spPr>
          <a:xfrm>
            <a:off x="5663336" y="4370832"/>
            <a:ext cx="152857" cy="274320"/>
          </a:xfrm>
          <a:prstGeom prst="rect">
            <a:avLst/>
          </a:prstGeom>
          <a:solidFill>
            <a:srgbClr val="D3DEDA"/>
          </a:solidFill>
          <a:ln/>
        </p:spPr>
      </p:sp>
      <p:sp>
        <p:nvSpPr>
          <p:cNvPr id="45" name="Continuum 29"/>
          <p:cNvSpPr/>
          <p:nvPr/>
        </p:nvSpPr>
        <p:spPr>
          <a:xfrm>
            <a:off x="5807050" y="4370832"/>
            <a:ext cx="152857" cy="274320"/>
          </a:xfrm>
          <a:prstGeom prst="rect">
            <a:avLst/>
          </a:prstGeom>
          <a:solidFill>
            <a:srgbClr val="D9E1DF"/>
          </a:solidFill>
          <a:ln/>
        </p:spPr>
      </p:sp>
      <p:sp>
        <p:nvSpPr>
          <p:cNvPr id="46" name="Continuum 30"/>
          <p:cNvSpPr/>
          <p:nvPr/>
        </p:nvSpPr>
        <p:spPr>
          <a:xfrm>
            <a:off x="5950763" y="4370832"/>
            <a:ext cx="152857" cy="274320"/>
          </a:xfrm>
          <a:prstGeom prst="rect">
            <a:avLst/>
          </a:prstGeom>
          <a:solidFill>
            <a:srgbClr val="DFE4E4"/>
          </a:solidFill>
          <a:ln/>
        </p:spPr>
      </p:sp>
      <p:sp>
        <p:nvSpPr>
          <p:cNvPr id="47" name="Continuum 31"/>
          <p:cNvSpPr/>
          <p:nvPr/>
        </p:nvSpPr>
        <p:spPr>
          <a:xfrm>
            <a:off x="6094476" y="4370832"/>
            <a:ext cx="152857" cy="274320"/>
          </a:xfrm>
          <a:prstGeom prst="rect">
            <a:avLst/>
          </a:prstGeom>
          <a:solidFill>
            <a:srgbClr val="E2E5E3"/>
          </a:solidFill>
          <a:ln/>
        </p:spPr>
      </p:sp>
      <p:sp>
        <p:nvSpPr>
          <p:cNvPr id="48" name="Continuum 32"/>
          <p:cNvSpPr/>
          <p:nvPr/>
        </p:nvSpPr>
        <p:spPr>
          <a:xfrm>
            <a:off x="6238189" y="4370832"/>
            <a:ext cx="152857" cy="274320"/>
          </a:xfrm>
          <a:prstGeom prst="rect">
            <a:avLst/>
          </a:prstGeom>
          <a:solidFill>
            <a:srgbClr val="E3E4DC"/>
          </a:solidFill>
          <a:ln/>
        </p:spPr>
      </p:sp>
      <p:sp>
        <p:nvSpPr>
          <p:cNvPr id="49" name="Continuum 33"/>
          <p:cNvSpPr/>
          <p:nvPr/>
        </p:nvSpPr>
        <p:spPr>
          <a:xfrm>
            <a:off x="6381902" y="4370832"/>
            <a:ext cx="152857" cy="274320"/>
          </a:xfrm>
          <a:prstGeom prst="rect">
            <a:avLst/>
          </a:prstGeom>
          <a:solidFill>
            <a:srgbClr val="E4E2D5"/>
          </a:solidFill>
          <a:ln/>
        </p:spPr>
      </p:sp>
      <p:sp>
        <p:nvSpPr>
          <p:cNvPr id="50" name="Continuum 34"/>
          <p:cNvSpPr/>
          <p:nvPr/>
        </p:nvSpPr>
        <p:spPr>
          <a:xfrm>
            <a:off x="6525616" y="4370832"/>
            <a:ext cx="152857" cy="274320"/>
          </a:xfrm>
          <a:prstGeom prst="rect">
            <a:avLst/>
          </a:prstGeom>
          <a:solidFill>
            <a:srgbClr val="E5E1CE"/>
          </a:solidFill>
          <a:ln/>
        </p:spPr>
      </p:sp>
      <p:sp>
        <p:nvSpPr>
          <p:cNvPr id="51" name="Continuum 35"/>
          <p:cNvSpPr/>
          <p:nvPr/>
        </p:nvSpPr>
        <p:spPr>
          <a:xfrm>
            <a:off x="6669329" y="4370832"/>
            <a:ext cx="152857" cy="274320"/>
          </a:xfrm>
          <a:prstGeom prst="rect">
            <a:avLst/>
          </a:prstGeom>
          <a:solidFill>
            <a:srgbClr val="E6DFC7"/>
          </a:solidFill>
          <a:ln/>
        </p:spPr>
      </p:sp>
      <p:sp>
        <p:nvSpPr>
          <p:cNvPr id="52" name="Continuum 36"/>
          <p:cNvSpPr/>
          <p:nvPr/>
        </p:nvSpPr>
        <p:spPr>
          <a:xfrm>
            <a:off x="6813042" y="4370832"/>
            <a:ext cx="152857" cy="274320"/>
          </a:xfrm>
          <a:prstGeom prst="rect">
            <a:avLst/>
          </a:prstGeom>
          <a:solidFill>
            <a:srgbClr val="E7DDC1"/>
          </a:solidFill>
          <a:ln/>
        </p:spPr>
      </p:sp>
      <p:sp>
        <p:nvSpPr>
          <p:cNvPr id="53" name="Continuum 37"/>
          <p:cNvSpPr/>
          <p:nvPr/>
        </p:nvSpPr>
        <p:spPr>
          <a:xfrm>
            <a:off x="6956755" y="4370832"/>
            <a:ext cx="152857" cy="274320"/>
          </a:xfrm>
          <a:prstGeom prst="rect">
            <a:avLst/>
          </a:prstGeom>
          <a:solidFill>
            <a:srgbClr val="E8DCBA"/>
          </a:solidFill>
          <a:ln/>
        </p:spPr>
      </p:sp>
      <p:sp>
        <p:nvSpPr>
          <p:cNvPr id="54" name="Continuum 38"/>
          <p:cNvSpPr/>
          <p:nvPr/>
        </p:nvSpPr>
        <p:spPr>
          <a:xfrm>
            <a:off x="7100468" y="4370832"/>
            <a:ext cx="152857" cy="274320"/>
          </a:xfrm>
          <a:prstGeom prst="rect">
            <a:avLst/>
          </a:prstGeom>
          <a:solidFill>
            <a:srgbClr val="E9DAB3"/>
          </a:solidFill>
          <a:ln/>
        </p:spPr>
      </p:sp>
      <p:sp>
        <p:nvSpPr>
          <p:cNvPr id="55" name="Continuum 39"/>
          <p:cNvSpPr/>
          <p:nvPr/>
        </p:nvSpPr>
        <p:spPr>
          <a:xfrm>
            <a:off x="7244182" y="4370832"/>
            <a:ext cx="152857" cy="274320"/>
          </a:xfrm>
          <a:prstGeom prst="rect">
            <a:avLst/>
          </a:prstGeom>
          <a:solidFill>
            <a:srgbClr val="EAD9AC"/>
          </a:solidFill>
          <a:ln/>
        </p:spPr>
      </p:sp>
      <p:sp>
        <p:nvSpPr>
          <p:cNvPr id="56" name="Continuum 40"/>
          <p:cNvSpPr/>
          <p:nvPr/>
        </p:nvSpPr>
        <p:spPr>
          <a:xfrm>
            <a:off x="7387895" y="4370832"/>
            <a:ext cx="152857" cy="274320"/>
          </a:xfrm>
          <a:prstGeom prst="rect">
            <a:avLst/>
          </a:prstGeom>
          <a:solidFill>
            <a:srgbClr val="EBD7A5"/>
          </a:solidFill>
          <a:ln/>
        </p:spPr>
      </p:sp>
      <p:sp>
        <p:nvSpPr>
          <p:cNvPr id="57" name="Continuum 41"/>
          <p:cNvSpPr/>
          <p:nvPr/>
        </p:nvSpPr>
        <p:spPr>
          <a:xfrm>
            <a:off x="7531608" y="4370832"/>
            <a:ext cx="152857" cy="274320"/>
          </a:xfrm>
          <a:prstGeom prst="rect">
            <a:avLst/>
          </a:prstGeom>
          <a:solidFill>
            <a:srgbClr val="ECD69E"/>
          </a:solidFill>
          <a:ln/>
        </p:spPr>
      </p:sp>
      <p:sp>
        <p:nvSpPr>
          <p:cNvPr id="58" name="Continuum 42"/>
          <p:cNvSpPr/>
          <p:nvPr/>
        </p:nvSpPr>
        <p:spPr>
          <a:xfrm>
            <a:off x="7675321" y="4370832"/>
            <a:ext cx="152857" cy="274320"/>
          </a:xfrm>
          <a:prstGeom prst="rect">
            <a:avLst/>
          </a:prstGeom>
          <a:solidFill>
            <a:srgbClr val="EDD498"/>
          </a:solidFill>
          <a:ln/>
        </p:spPr>
      </p:sp>
      <p:sp>
        <p:nvSpPr>
          <p:cNvPr id="59" name="Continuum 43"/>
          <p:cNvSpPr/>
          <p:nvPr/>
        </p:nvSpPr>
        <p:spPr>
          <a:xfrm>
            <a:off x="7819034" y="4370832"/>
            <a:ext cx="152857" cy="274320"/>
          </a:xfrm>
          <a:prstGeom prst="rect">
            <a:avLst/>
          </a:prstGeom>
          <a:solidFill>
            <a:srgbClr val="EED391"/>
          </a:solidFill>
          <a:ln/>
        </p:spPr>
      </p:sp>
      <p:sp>
        <p:nvSpPr>
          <p:cNvPr id="60" name="Continuum 44"/>
          <p:cNvSpPr/>
          <p:nvPr/>
        </p:nvSpPr>
        <p:spPr>
          <a:xfrm>
            <a:off x="7962748" y="4370832"/>
            <a:ext cx="152857" cy="274320"/>
          </a:xfrm>
          <a:prstGeom prst="rect">
            <a:avLst/>
          </a:prstGeom>
          <a:solidFill>
            <a:srgbClr val="EFD18A"/>
          </a:solidFill>
          <a:ln/>
        </p:spPr>
      </p:sp>
      <p:sp>
        <p:nvSpPr>
          <p:cNvPr id="61" name="Continuum 45"/>
          <p:cNvSpPr/>
          <p:nvPr/>
        </p:nvSpPr>
        <p:spPr>
          <a:xfrm>
            <a:off x="8106461" y="4370832"/>
            <a:ext cx="152857" cy="274320"/>
          </a:xfrm>
          <a:prstGeom prst="rect">
            <a:avLst/>
          </a:prstGeom>
          <a:solidFill>
            <a:srgbClr val="F0CF83"/>
          </a:solidFill>
          <a:ln/>
        </p:spPr>
      </p:sp>
      <p:sp>
        <p:nvSpPr>
          <p:cNvPr id="62" name="Continuum 46"/>
          <p:cNvSpPr/>
          <p:nvPr/>
        </p:nvSpPr>
        <p:spPr>
          <a:xfrm>
            <a:off x="8250174" y="4370832"/>
            <a:ext cx="152857" cy="274320"/>
          </a:xfrm>
          <a:prstGeom prst="rect">
            <a:avLst/>
          </a:prstGeom>
          <a:solidFill>
            <a:srgbClr val="F1CE7C"/>
          </a:solidFill>
          <a:ln/>
        </p:spPr>
      </p:sp>
      <p:sp>
        <p:nvSpPr>
          <p:cNvPr id="63" name="Continuum 47"/>
          <p:cNvSpPr/>
          <p:nvPr/>
        </p:nvSpPr>
        <p:spPr>
          <a:xfrm>
            <a:off x="8393887" y="4370832"/>
            <a:ext cx="152857" cy="274320"/>
          </a:xfrm>
          <a:prstGeom prst="rect">
            <a:avLst/>
          </a:prstGeom>
          <a:solidFill>
            <a:srgbClr val="F2CC76"/>
          </a:solidFill>
          <a:ln/>
        </p:spPr>
      </p:sp>
      <p:sp>
        <p:nvSpPr>
          <p:cNvPr id="64" name="Continuum 48"/>
          <p:cNvSpPr/>
          <p:nvPr/>
        </p:nvSpPr>
        <p:spPr>
          <a:xfrm>
            <a:off x="8537600" y="4370832"/>
            <a:ext cx="152857" cy="274320"/>
          </a:xfrm>
          <a:prstGeom prst="rect">
            <a:avLst/>
          </a:prstGeom>
          <a:solidFill>
            <a:srgbClr val="F3CB6F"/>
          </a:solidFill>
          <a:ln/>
        </p:spPr>
      </p:sp>
      <p:sp>
        <p:nvSpPr>
          <p:cNvPr id="65" name="Continuum 49"/>
          <p:cNvSpPr/>
          <p:nvPr/>
        </p:nvSpPr>
        <p:spPr>
          <a:xfrm>
            <a:off x="8681314" y="4370832"/>
            <a:ext cx="152857" cy="274320"/>
          </a:xfrm>
          <a:prstGeom prst="rect">
            <a:avLst/>
          </a:prstGeom>
          <a:solidFill>
            <a:srgbClr val="F4C968"/>
          </a:solidFill>
          <a:ln/>
        </p:spPr>
      </p:sp>
      <p:sp>
        <p:nvSpPr>
          <p:cNvPr id="66" name="Continuum 50"/>
          <p:cNvSpPr/>
          <p:nvPr/>
        </p:nvSpPr>
        <p:spPr>
          <a:xfrm>
            <a:off x="8825027" y="4370832"/>
            <a:ext cx="152857" cy="274320"/>
          </a:xfrm>
          <a:prstGeom prst="rect">
            <a:avLst/>
          </a:prstGeom>
          <a:solidFill>
            <a:srgbClr val="F5C861"/>
          </a:solidFill>
          <a:ln/>
        </p:spPr>
      </p:sp>
      <p:sp>
        <p:nvSpPr>
          <p:cNvPr id="67" name="Continuum 51"/>
          <p:cNvSpPr/>
          <p:nvPr/>
        </p:nvSpPr>
        <p:spPr>
          <a:xfrm>
            <a:off x="8968740" y="4370832"/>
            <a:ext cx="152857" cy="274320"/>
          </a:xfrm>
          <a:prstGeom prst="rect">
            <a:avLst/>
          </a:prstGeom>
          <a:solidFill>
            <a:srgbClr val="F6C65A"/>
          </a:solidFill>
          <a:ln/>
        </p:spPr>
      </p:sp>
      <p:sp>
        <p:nvSpPr>
          <p:cNvPr id="68" name="Continuum 52"/>
          <p:cNvSpPr/>
          <p:nvPr/>
        </p:nvSpPr>
        <p:spPr>
          <a:xfrm>
            <a:off x="9112453" y="4370832"/>
            <a:ext cx="152857" cy="274320"/>
          </a:xfrm>
          <a:prstGeom prst="rect">
            <a:avLst/>
          </a:prstGeom>
          <a:solidFill>
            <a:srgbClr val="F7C454"/>
          </a:solidFill>
          <a:ln/>
        </p:spPr>
      </p:sp>
      <p:sp>
        <p:nvSpPr>
          <p:cNvPr id="69" name="Continuum 53"/>
          <p:cNvSpPr/>
          <p:nvPr/>
        </p:nvSpPr>
        <p:spPr>
          <a:xfrm>
            <a:off x="9256166" y="4370832"/>
            <a:ext cx="152857" cy="274320"/>
          </a:xfrm>
          <a:prstGeom prst="rect">
            <a:avLst/>
          </a:prstGeom>
          <a:solidFill>
            <a:srgbClr val="F8C34D"/>
          </a:solidFill>
          <a:ln/>
        </p:spPr>
      </p:sp>
      <p:sp>
        <p:nvSpPr>
          <p:cNvPr id="70" name="Continuum 54"/>
          <p:cNvSpPr/>
          <p:nvPr/>
        </p:nvSpPr>
        <p:spPr>
          <a:xfrm>
            <a:off x="9399880" y="4370832"/>
            <a:ext cx="152857" cy="274320"/>
          </a:xfrm>
          <a:prstGeom prst="rect">
            <a:avLst/>
          </a:prstGeom>
          <a:solidFill>
            <a:srgbClr val="F9C146"/>
          </a:solidFill>
          <a:ln/>
        </p:spPr>
      </p:sp>
      <p:sp>
        <p:nvSpPr>
          <p:cNvPr id="71" name="Continuum 55"/>
          <p:cNvSpPr/>
          <p:nvPr/>
        </p:nvSpPr>
        <p:spPr>
          <a:xfrm>
            <a:off x="9543593" y="4370832"/>
            <a:ext cx="152857" cy="274320"/>
          </a:xfrm>
          <a:prstGeom prst="rect">
            <a:avLst/>
          </a:prstGeom>
          <a:solidFill>
            <a:srgbClr val="FAC03F"/>
          </a:solidFill>
          <a:ln/>
        </p:spPr>
      </p:sp>
      <p:sp>
        <p:nvSpPr>
          <p:cNvPr id="72" name="Continuum 56"/>
          <p:cNvSpPr/>
          <p:nvPr/>
        </p:nvSpPr>
        <p:spPr>
          <a:xfrm>
            <a:off x="9687306" y="4370832"/>
            <a:ext cx="152857" cy="274320"/>
          </a:xfrm>
          <a:prstGeom prst="rect">
            <a:avLst/>
          </a:prstGeom>
          <a:solidFill>
            <a:srgbClr val="FBBE38"/>
          </a:solidFill>
          <a:ln/>
        </p:spPr>
      </p:sp>
      <p:sp>
        <p:nvSpPr>
          <p:cNvPr id="73" name="Continuum 57"/>
          <p:cNvSpPr/>
          <p:nvPr/>
        </p:nvSpPr>
        <p:spPr>
          <a:xfrm>
            <a:off x="9831019" y="4370832"/>
            <a:ext cx="152857" cy="274320"/>
          </a:xfrm>
          <a:prstGeom prst="rect">
            <a:avLst/>
          </a:prstGeom>
          <a:solidFill>
            <a:srgbClr val="FCBD31"/>
          </a:solidFill>
          <a:ln/>
        </p:spPr>
      </p:sp>
      <p:sp>
        <p:nvSpPr>
          <p:cNvPr id="74" name="Continuum 58"/>
          <p:cNvSpPr/>
          <p:nvPr/>
        </p:nvSpPr>
        <p:spPr>
          <a:xfrm>
            <a:off x="9974732" y="4370832"/>
            <a:ext cx="152857" cy="274320"/>
          </a:xfrm>
          <a:prstGeom prst="rect">
            <a:avLst/>
          </a:prstGeom>
          <a:solidFill>
            <a:srgbClr val="FDBB2B"/>
          </a:solidFill>
          <a:ln/>
        </p:spPr>
      </p:sp>
      <p:sp>
        <p:nvSpPr>
          <p:cNvPr id="75" name="Continuum 59"/>
          <p:cNvSpPr/>
          <p:nvPr/>
        </p:nvSpPr>
        <p:spPr>
          <a:xfrm>
            <a:off x="10118446" y="4370832"/>
            <a:ext cx="152857" cy="274320"/>
          </a:xfrm>
          <a:prstGeom prst="rect">
            <a:avLst/>
          </a:prstGeom>
          <a:solidFill>
            <a:srgbClr val="FEBA24"/>
          </a:solidFill>
          <a:ln/>
        </p:spPr>
      </p:sp>
      <p:sp>
        <p:nvSpPr>
          <p:cNvPr id="76" name="Continuum 60"/>
          <p:cNvSpPr/>
          <p:nvPr/>
        </p:nvSpPr>
        <p:spPr>
          <a:xfrm>
            <a:off x="10262159" y="4370832"/>
            <a:ext cx="152857" cy="274320"/>
          </a:xfrm>
          <a:prstGeom prst="rect">
            <a:avLst/>
          </a:prstGeom>
          <a:solidFill>
            <a:srgbClr val="FFB81D"/>
          </a:solidFill>
          <a:ln/>
        </p:spPr>
      </p:sp>
      <p:sp>
        <p:nvSpPr>
          <p:cNvPr id="77" name="Text 75"/>
          <p:cNvSpPr txBox="1"/>
          <p:nvPr/>
        </p:nvSpPr>
        <p:spPr>
          <a:xfrm>
            <a:off x="1783080" y="4041648"/>
            <a:ext cx="2926080" cy="274320"/>
          </a:xfrm>
          <a:prstGeom prst="rect">
            <a:avLst/>
          </a:prstGeom>
          <a:noFill/>
          <a:ln/>
        </p:spPr>
        <p:txBody>
          <a:bodyPr wrap="square" lIns="0" tIns="0" rIns="0" bIns="0" rtlCol="0" anchor="ctr"/>
          <a:lstStyle/>
          <a:p>
            <a:pPr indent="0" marL="0">
              <a:buNone/>
            </a:pPr>
            <a:r>
              <a:rPr lang="en-US" sz="1200" b="1" dirty="0">
                <a:solidFill>
                  <a:srgbClr val="1E5E3A"/>
                </a:solidFill>
              </a:rPr>
              <a:t>← “Don’t eat me” dominates</a:t>
            </a:r>
            <a:endParaRPr lang="en-US" sz="1200" dirty="0"/>
          </a:p>
        </p:txBody>
      </p:sp>
      <p:sp>
        <p:nvSpPr>
          <p:cNvPr id="78" name="Text 76"/>
          <p:cNvSpPr txBox="1"/>
          <p:nvPr/>
        </p:nvSpPr>
        <p:spPr>
          <a:xfrm>
            <a:off x="7479792" y="4041648"/>
            <a:ext cx="2926080" cy="274320"/>
          </a:xfrm>
          <a:prstGeom prst="rect">
            <a:avLst/>
          </a:prstGeom>
          <a:noFill/>
          <a:ln/>
        </p:spPr>
        <p:txBody>
          <a:bodyPr wrap="square" lIns="0" tIns="0" rIns="0" bIns="0" rtlCol="0" anchor="ctr"/>
          <a:lstStyle/>
          <a:p>
            <a:pPr algn="r" indent="0" marL="0">
              <a:buNone/>
            </a:pPr>
            <a:r>
              <a:rPr lang="en-US" sz="1200" b="1" dirty="0">
                <a:solidFill>
                  <a:srgbClr val="8A5A00"/>
                </a:solidFill>
              </a:rPr>
              <a:t>“Eat me” dominates →</a:t>
            </a:r>
            <a:endParaRPr lang="en-US" sz="1200" dirty="0"/>
          </a:p>
        </p:txBody>
      </p:sp>
      <p:sp>
        <p:nvSpPr>
          <p:cNvPr id="79" name="Marker 1"/>
          <p:cNvSpPr/>
          <p:nvPr/>
        </p:nvSpPr>
        <p:spPr>
          <a:xfrm>
            <a:off x="2975915" y="4690872"/>
            <a:ext cx="201168" cy="164592"/>
          </a:xfrm>
          <a:prstGeom prst="triangle">
            <a:avLst/>
          </a:prstGeom>
          <a:solidFill>
            <a:schemeClr val="tx1"/>
          </a:solidFill>
          <a:ln/>
        </p:spPr>
      </p:sp>
      <p:sp>
        <p:nvSpPr>
          <p:cNvPr id="80" name="Marker label 1"/>
          <p:cNvSpPr txBox="1"/>
          <p:nvPr/>
        </p:nvSpPr>
        <p:spPr>
          <a:xfrm>
            <a:off x="1979219" y="4873752"/>
            <a:ext cx="2194560" cy="566928"/>
          </a:xfrm>
          <a:prstGeom prst="rect">
            <a:avLst/>
          </a:prstGeom>
          <a:noFill/>
          <a:ln/>
        </p:spPr>
        <p:txBody>
          <a:bodyPr wrap="square" lIns="0" tIns="0" rIns="0" bIns="0" rtlCol="0" anchor="t"/>
          <a:lstStyle/>
          <a:p>
            <a:pPr algn="ctr" indent="0" marL="0">
              <a:buNone/>
            </a:pPr>
            <a:r>
              <a:rPr lang="en-US" sz="1300" b="1" dirty="0">
                <a:solidFill>
                  <a:schemeClr val="tx1"/>
                </a:solidFill>
              </a:rPr>
              <a:t>Normal cell</a:t>
            </a:r>
            <a:endParaRPr lang="en-US" sz="1300" dirty="0"/>
          </a:p>
          <a:p>
            <a:pPr algn="ctr" indent="0" marL="0">
              <a:buNone/>
            </a:pPr>
            <a:r>
              <a:rPr lang="en-US" sz="1100" dirty="0">
                <a:solidFill>
                  <a:schemeClr val="tx2"/>
                </a:solidFill>
              </a:rPr>
              <a:t>Little eat-me; CD47 present</a:t>
            </a:r>
            <a:endParaRPr lang="en-US" sz="1300" dirty="0"/>
          </a:p>
        </p:txBody>
      </p:sp>
      <p:sp>
        <p:nvSpPr>
          <p:cNvPr id="81" name="Marker 2"/>
          <p:cNvSpPr/>
          <p:nvPr/>
        </p:nvSpPr>
        <p:spPr>
          <a:xfrm>
            <a:off x="5562752" y="4690872"/>
            <a:ext cx="201168" cy="164592"/>
          </a:xfrm>
          <a:prstGeom prst="triangle">
            <a:avLst/>
          </a:prstGeom>
          <a:solidFill>
            <a:schemeClr val="tx1"/>
          </a:solidFill>
          <a:ln/>
        </p:spPr>
      </p:sp>
      <p:sp>
        <p:nvSpPr>
          <p:cNvPr id="82" name="Marker label 2"/>
          <p:cNvSpPr txBox="1"/>
          <p:nvPr/>
        </p:nvSpPr>
        <p:spPr>
          <a:xfrm>
            <a:off x="4566056" y="4873752"/>
            <a:ext cx="2194560" cy="566928"/>
          </a:xfrm>
          <a:prstGeom prst="rect">
            <a:avLst/>
          </a:prstGeom>
          <a:noFill/>
          <a:ln/>
        </p:spPr>
        <p:txBody>
          <a:bodyPr wrap="square" lIns="0" tIns="0" rIns="0" bIns="0" rtlCol="0" anchor="t"/>
          <a:lstStyle/>
          <a:p>
            <a:pPr algn="ctr" indent="0" marL="0">
              <a:buNone/>
            </a:pPr>
            <a:r>
              <a:rPr lang="en-US" sz="1300" b="1" dirty="0">
                <a:solidFill>
                  <a:schemeClr val="tx1"/>
                </a:solidFill>
              </a:rPr>
              <a:t>Cancer cell</a:t>
            </a:r>
            <a:endParaRPr lang="en-US" sz="1300" dirty="0"/>
          </a:p>
          <a:p>
            <a:pPr algn="ctr" indent="0" marL="0">
              <a:buNone/>
            </a:pPr>
            <a:r>
              <a:rPr lang="en-US" sz="1100" dirty="0">
                <a:solidFill>
                  <a:schemeClr val="tx2"/>
                </a:solidFill>
              </a:rPr>
              <a:t>High calreticulin, offset by high CD47</a:t>
            </a:r>
            <a:endParaRPr lang="en-US" sz="1300" dirty="0"/>
          </a:p>
        </p:txBody>
      </p:sp>
      <p:sp>
        <p:nvSpPr>
          <p:cNvPr id="83" name="Marker 3"/>
          <p:cNvSpPr/>
          <p:nvPr/>
        </p:nvSpPr>
        <p:spPr>
          <a:xfrm>
            <a:off x="9011869" y="4690872"/>
            <a:ext cx="201168" cy="164592"/>
          </a:xfrm>
          <a:prstGeom prst="triangle">
            <a:avLst/>
          </a:prstGeom>
          <a:solidFill>
            <a:schemeClr val="tx1"/>
          </a:solidFill>
          <a:ln/>
        </p:spPr>
      </p:sp>
      <p:sp>
        <p:nvSpPr>
          <p:cNvPr id="84" name="Marker label 3"/>
          <p:cNvSpPr txBox="1"/>
          <p:nvPr/>
        </p:nvSpPr>
        <p:spPr>
          <a:xfrm>
            <a:off x="8015173" y="4873752"/>
            <a:ext cx="2194560" cy="566928"/>
          </a:xfrm>
          <a:prstGeom prst="rect">
            <a:avLst/>
          </a:prstGeom>
          <a:noFill/>
          <a:ln/>
        </p:spPr>
        <p:txBody>
          <a:bodyPr wrap="square" lIns="0" tIns="0" rIns="0" bIns="0" rtlCol="0" anchor="t"/>
          <a:lstStyle/>
          <a:p>
            <a:pPr algn="ctr" indent="0" marL="0">
              <a:buNone/>
            </a:pPr>
            <a:r>
              <a:rPr lang="en-US" sz="1300" b="1" dirty="0">
                <a:solidFill>
                  <a:schemeClr val="tx1"/>
                </a:solidFill>
              </a:rPr>
              <a:t>Cancer cell + anti-CD47</a:t>
            </a:r>
            <a:endParaRPr lang="en-US" sz="1300" dirty="0"/>
          </a:p>
          <a:p>
            <a:pPr algn="ctr" indent="0" marL="0">
              <a:buNone/>
            </a:pPr>
            <a:r>
              <a:rPr lang="en-US" sz="1100" dirty="0">
                <a:solidFill>
                  <a:schemeClr val="tx2"/>
                </a:solidFill>
              </a:rPr>
              <a:t>Calreticulin now unopposed</a:t>
            </a:r>
            <a:endParaRPr lang="en-US" sz="1300" dirty="0"/>
          </a:p>
        </p:txBody>
      </p:sp>
      <p:sp>
        <p:nvSpPr>
          <p:cNvPr id="85" name="Macrophage (spared)"/>
          <p:cNvSpPr/>
          <p:nvPr/>
        </p:nvSpPr>
        <p:spPr>
          <a:xfrm>
            <a:off x="577225" y="4194417"/>
            <a:ext cx="563267" cy="580846"/>
          </a:xfrm>
          <a:custGeom>
            <a:avLst/>
            <a:gdLst/>
            <a:ahLst/>
            <a:cxnLst/>
            <a:rect l="l" t="t" r="r" b="b"/>
            <a:pathLst>
              <a:path w="563267" h="580846">
                <a:moveTo>
                  <a:pt x="563207" y="313575"/>
                </a:moveTo>
                <a:lnTo>
                  <a:pt x="563267" y="335546"/>
                </a:lnTo>
                <a:lnTo>
                  <a:pt x="560007" y="357253"/>
                </a:lnTo>
                <a:lnTo>
                  <a:pt x="553833" y="378256"/>
                </a:lnTo>
                <a:lnTo>
                  <a:pt x="545304" y="398264"/>
                </a:lnTo>
                <a:lnTo>
                  <a:pt x="535045" y="417151"/>
                </a:lnTo>
                <a:lnTo>
                  <a:pt x="523649" y="434948"/>
                </a:lnTo>
                <a:lnTo>
                  <a:pt x="511607" y="451800"/>
                </a:lnTo>
                <a:lnTo>
                  <a:pt x="499243" y="467906"/>
                </a:lnTo>
                <a:lnTo>
                  <a:pt x="486701" y="483449"/>
                </a:lnTo>
                <a:lnTo>
                  <a:pt x="473952" y="498534"/>
                </a:lnTo>
                <a:lnTo>
                  <a:pt x="460837" y="513139"/>
                </a:lnTo>
                <a:lnTo>
                  <a:pt x="447130" y="527104"/>
                </a:lnTo>
                <a:lnTo>
                  <a:pt x="432605" y="540139"/>
                </a:lnTo>
                <a:lnTo>
                  <a:pt x="417104" y="551873"/>
                </a:lnTo>
                <a:lnTo>
                  <a:pt x="400577" y="561919"/>
                </a:lnTo>
                <a:lnTo>
                  <a:pt x="383110" y="569946"/>
                </a:lnTo>
                <a:lnTo>
                  <a:pt x="364907" y="575755"/>
                </a:lnTo>
                <a:lnTo>
                  <a:pt x="346259" y="579326"/>
                </a:lnTo>
                <a:lnTo>
                  <a:pt x="327488" y="580846"/>
                </a:lnTo>
                <a:lnTo>
                  <a:pt x="308881" y="580694"/>
                </a:lnTo>
                <a:lnTo>
                  <a:pt x="290632" y="579396"/>
                </a:lnTo>
                <a:lnTo>
                  <a:pt x="272803" y="577548"/>
                </a:lnTo>
                <a:lnTo>
                  <a:pt x="255305" y="575721"/>
                </a:lnTo>
                <a:lnTo>
                  <a:pt x="237918" y="574370"/>
                </a:lnTo>
                <a:lnTo>
                  <a:pt x="220332" y="573749"/>
                </a:lnTo>
                <a:lnTo>
                  <a:pt x="202217" y="573860"/>
                </a:lnTo>
                <a:lnTo>
                  <a:pt x="183300" y="574438"/>
                </a:lnTo>
                <a:lnTo>
                  <a:pt x="163439" y="574977"/>
                </a:lnTo>
                <a:lnTo>
                  <a:pt x="142687" y="574791"/>
                </a:lnTo>
                <a:lnTo>
                  <a:pt x="121314" y="573114"/>
                </a:lnTo>
                <a:lnTo>
                  <a:pt x="99810" y="569205"/>
                </a:lnTo>
                <a:lnTo>
                  <a:pt x="78836" y="562455"/>
                </a:lnTo>
                <a:lnTo>
                  <a:pt x="59156" y="552480"/>
                </a:lnTo>
                <a:lnTo>
                  <a:pt x="41535" y="539172"/>
                </a:lnTo>
                <a:lnTo>
                  <a:pt x="26647" y="522717"/>
                </a:lnTo>
                <a:lnTo>
                  <a:pt x="14970" y="503570"/>
                </a:lnTo>
                <a:lnTo>
                  <a:pt x="6729" y="482389"/>
                </a:lnTo>
                <a:lnTo>
                  <a:pt x="1856" y="459942"/>
                </a:lnTo>
                <a:lnTo>
                  <a:pt x="0" y="437003"/>
                </a:lnTo>
                <a:lnTo>
                  <a:pt x="576" y="414256"/>
                </a:lnTo>
                <a:lnTo>
                  <a:pt x="2847" y="392211"/>
                </a:lnTo>
                <a:lnTo>
                  <a:pt x="6025" y="371156"/>
                </a:lnTo>
                <a:lnTo>
                  <a:pt x="9382" y="351152"/>
                </a:lnTo>
                <a:lnTo>
                  <a:pt x="12345" y="332054"/>
                </a:lnTo>
                <a:lnTo>
                  <a:pt x="14567" y="313575"/>
                </a:lnTo>
                <a:lnTo>
                  <a:pt x="15963" y="295362"/>
                </a:lnTo>
                <a:lnTo>
                  <a:pt x="16706" y="277079"/>
                </a:lnTo>
                <a:lnTo>
                  <a:pt x="17182" y="258484"/>
                </a:lnTo>
                <a:lnTo>
                  <a:pt x="17918" y="239477"/>
                </a:lnTo>
                <a:lnTo>
                  <a:pt x="19492" y="220123"/>
                </a:lnTo>
                <a:lnTo>
                  <a:pt x="22442" y="200638"/>
                </a:lnTo>
                <a:lnTo>
                  <a:pt x="27186" y="181350"/>
                </a:lnTo>
                <a:lnTo>
                  <a:pt x="33970" y="162634"/>
                </a:lnTo>
                <a:lnTo>
                  <a:pt x="42842" y="144843"/>
                </a:lnTo>
                <a:lnTo>
                  <a:pt x="53670" y="128242"/>
                </a:lnTo>
                <a:lnTo>
                  <a:pt x="66179" y="112966"/>
                </a:lnTo>
                <a:lnTo>
                  <a:pt x="80018" y="98999"/>
                </a:lnTo>
                <a:lnTo>
                  <a:pt x="94829" y="86188"/>
                </a:lnTo>
                <a:lnTo>
                  <a:pt x="110308" y="74288"/>
                </a:lnTo>
                <a:lnTo>
                  <a:pt x="126257" y="63026"/>
                </a:lnTo>
                <a:lnTo>
                  <a:pt x="142602" y="52176"/>
                </a:lnTo>
                <a:lnTo>
                  <a:pt x="159383" y="41630"/>
                </a:lnTo>
                <a:lnTo>
                  <a:pt x="176720" y="31449"/>
                </a:lnTo>
                <a:lnTo>
                  <a:pt x="194760" y="21885"/>
                </a:lnTo>
                <a:lnTo>
                  <a:pt x="213611" y="13374"/>
                </a:lnTo>
                <a:lnTo>
                  <a:pt x="233283" y="6480"/>
                </a:lnTo>
                <a:lnTo>
                  <a:pt x="253655" y="1827"/>
                </a:lnTo>
                <a:lnTo>
                  <a:pt x="274452" y="0"/>
                </a:lnTo>
                <a:lnTo>
                  <a:pt x="295267" y="1453"/>
                </a:lnTo>
                <a:lnTo>
                  <a:pt x="315603" y="6428"/>
                </a:lnTo>
                <a:lnTo>
                  <a:pt x="334945" y="14900"/>
                </a:lnTo>
                <a:lnTo>
                  <a:pt x="352839" y="26561"/>
                </a:lnTo>
                <a:lnTo>
                  <a:pt x="368964" y="40852"/>
                </a:lnTo>
                <a:lnTo>
                  <a:pt x="383195" y="57021"/>
                </a:lnTo>
                <a:lnTo>
                  <a:pt x="395634" y="74221"/>
                </a:lnTo>
                <a:lnTo>
                  <a:pt x="406605" y="91619"/>
                </a:lnTo>
                <a:lnTo>
                  <a:pt x="416613" y="108504"/>
                </a:lnTo>
                <a:lnTo>
                  <a:pt x="426267" y="124375"/>
                </a:lnTo>
                <a:lnTo>
                  <a:pt x="436194" y="138999"/>
                </a:lnTo>
                <a:lnTo>
                  <a:pt x="446929" y="152425"/>
                </a:lnTo>
                <a:lnTo>
                  <a:pt x="458829" y="164964"/>
                </a:lnTo>
                <a:lnTo>
                  <a:pt x="472002" y="177118"/>
                </a:lnTo>
                <a:lnTo>
                  <a:pt x="486276" y="189492"/>
                </a:lnTo>
                <a:lnTo>
                  <a:pt x="501208" y="202694"/>
                </a:lnTo>
                <a:lnTo>
                  <a:pt x="516129" y="217228"/>
                </a:lnTo>
                <a:lnTo>
                  <a:pt x="530233" y="233424"/>
                </a:lnTo>
                <a:lnTo>
                  <a:pt x="542676" y="251384"/>
                </a:lnTo>
                <a:lnTo>
                  <a:pt x="552683" y="270978"/>
                </a:lnTo>
                <a:lnTo>
                  <a:pt x="559648" y="291869"/>
                </a:lnTo>
                <a:close/>
              </a:path>
            </a:pathLst>
          </a:custGeom>
          <a:solidFill>
            <a:srgbClr val="D7C7E3"/>
          </a:solidFill>
          <a:ln w="15875">
            <a:solidFill>
              <a:srgbClr val="7A5C8E"/>
            </a:solidFill>
            <a:prstDash val="solid"/>
          </a:ln>
        </p:spPr>
      </p:sp>
      <p:sp>
        <p:nvSpPr>
          <p:cNvPr id="86" name="Tumor cell (spared)"/>
          <p:cNvSpPr/>
          <p:nvPr/>
        </p:nvSpPr>
        <p:spPr>
          <a:xfrm>
            <a:off x="1147184" y="4274245"/>
            <a:ext cx="455892" cy="452352"/>
          </a:xfrm>
          <a:custGeom>
            <a:avLst/>
            <a:gdLst/>
            <a:ahLst/>
            <a:cxnLst/>
            <a:rect l="l" t="t" r="r" b="b"/>
            <a:pathLst>
              <a:path w="455892" h="452352">
                <a:moveTo>
                  <a:pt x="447116" y="233747"/>
                </a:moveTo>
                <a:lnTo>
                  <a:pt x="453207" y="249746"/>
                </a:lnTo>
                <a:lnTo>
                  <a:pt x="455892" y="266279"/>
                </a:lnTo>
                <a:lnTo>
                  <a:pt x="454252" y="282600"/>
                </a:lnTo>
                <a:lnTo>
                  <a:pt x="448046" y="297872"/>
                </a:lnTo>
                <a:lnTo>
                  <a:pt x="437779" y="311405"/>
                </a:lnTo>
                <a:lnTo>
                  <a:pt x="424587" y="322869"/>
                </a:lnTo>
                <a:lnTo>
                  <a:pt x="409966" y="332406"/>
                </a:lnTo>
                <a:lnTo>
                  <a:pt x="395424" y="340605"/>
                </a:lnTo>
                <a:lnTo>
                  <a:pt x="382146" y="348344"/>
                </a:lnTo>
                <a:lnTo>
                  <a:pt x="370758" y="356543"/>
                </a:lnTo>
                <a:lnTo>
                  <a:pt x="361251" y="365887"/>
                </a:lnTo>
                <a:lnTo>
                  <a:pt x="353066" y="376627"/>
                </a:lnTo>
                <a:lnTo>
                  <a:pt x="345316" y="388491"/>
                </a:lnTo>
                <a:lnTo>
                  <a:pt x="337065" y="400755"/>
                </a:lnTo>
                <a:lnTo>
                  <a:pt x="327584" y="412440"/>
                </a:lnTo>
                <a:lnTo>
                  <a:pt x="316521" y="422590"/>
                </a:lnTo>
                <a:lnTo>
                  <a:pt x="303925" y="430539"/>
                </a:lnTo>
                <a:lnTo>
                  <a:pt x="290162" y="436090"/>
                </a:lnTo>
                <a:lnTo>
                  <a:pt x="275730" y="439555"/>
                </a:lnTo>
                <a:lnTo>
                  <a:pt x="261072" y="441633"/>
                </a:lnTo>
                <a:lnTo>
                  <a:pt x="246428" y="443173"/>
                </a:lnTo>
                <a:lnTo>
                  <a:pt x="231790" y="444888"/>
                </a:lnTo>
                <a:lnTo>
                  <a:pt x="216966" y="447100"/>
                </a:lnTo>
                <a:lnTo>
                  <a:pt x="201729" y="449608"/>
                </a:lnTo>
                <a:lnTo>
                  <a:pt x="185985" y="451703"/>
                </a:lnTo>
                <a:lnTo>
                  <a:pt x="169912" y="452352"/>
                </a:lnTo>
                <a:lnTo>
                  <a:pt x="153996" y="450480"/>
                </a:lnTo>
                <a:lnTo>
                  <a:pt x="138952" y="445280"/>
                </a:lnTo>
                <a:lnTo>
                  <a:pt x="125545" y="436463"/>
                </a:lnTo>
                <a:lnTo>
                  <a:pt x="114360" y="424371"/>
                </a:lnTo>
                <a:lnTo>
                  <a:pt x="105589" y="409917"/>
                </a:lnTo>
                <a:lnTo>
                  <a:pt x="98919" y="394377"/>
                </a:lnTo>
                <a:lnTo>
                  <a:pt x="93554" y="379085"/>
                </a:lnTo>
                <a:lnTo>
                  <a:pt x="88380" y="365116"/>
                </a:lnTo>
                <a:lnTo>
                  <a:pt x="82243" y="353045"/>
                </a:lnTo>
                <a:lnTo>
                  <a:pt x="74252" y="342848"/>
                </a:lnTo>
                <a:lnTo>
                  <a:pt x="64040" y="333962"/>
                </a:lnTo>
                <a:lnTo>
                  <a:pt x="51890" y="325481"/>
                </a:lnTo>
                <a:lnTo>
                  <a:pt x="38699" y="316434"/>
                </a:lnTo>
                <a:lnTo>
                  <a:pt x="25776" y="306047"/>
                </a:lnTo>
                <a:lnTo>
                  <a:pt x="14531" y="293931"/>
                </a:lnTo>
                <a:lnTo>
                  <a:pt x="6145" y="280142"/>
                </a:lnTo>
                <a:lnTo>
                  <a:pt x="1289" y="265106"/>
                </a:lnTo>
                <a:lnTo>
                  <a:pt x="0" y="249440"/>
                </a:lnTo>
                <a:lnTo>
                  <a:pt x="1716" y="233747"/>
                </a:lnTo>
                <a:lnTo>
                  <a:pt x="5475" y="218437"/>
                </a:lnTo>
                <a:lnTo>
                  <a:pt x="10207" y="203642"/>
                </a:lnTo>
                <a:lnTo>
                  <a:pt x="15040" y="189243"/>
                </a:lnTo>
                <a:lnTo>
                  <a:pt x="19531" y="174997"/>
                </a:lnTo>
                <a:lnTo>
                  <a:pt x="23757" y="160713"/>
                </a:lnTo>
                <a:lnTo>
                  <a:pt x="28240" y="146404"/>
                </a:lnTo>
                <a:lnTo>
                  <a:pt x="33748" y="132367"/>
                </a:lnTo>
                <a:lnTo>
                  <a:pt x="41019" y="119148"/>
                </a:lnTo>
                <a:lnTo>
                  <a:pt x="50505" y="107393"/>
                </a:lnTo>
                <a:lnTo>
                  <a:pt x="62208" y="97639"/>
                </a:lnTo>
                <a:lnTo>
                  <a:pt x="75660" y="90095"/>
                </a:lnTo>
                <a:lnTo>
                  <a:pt x="90043" y="84510"/>
                </a:lnTo>
                <a:lnTo>
                  <a:pt x="104420" y="80159"/>
                </a:lnTo>
                <a:lnTo>
                  <a:pt x="118000" y="75979"/>
                </a:lnTo>
                <a:lnTo>
                  <a:pt x="130355" y="70828"/>
                </a:lnTo>
                <a:lnTo>
                  <a:pt x="141526" y="63796"/>
                </a:lnTo>
                <a:lnTo>
                  <a:pt x="151989" y="54482"/>
                </a:lnTo>
                <a:lnTo>
                  <a:pt x="162491" y="43161"/>
                </a:lnTo>
                <a:lnTo>
                  <a:pt x="173811" y="30779"/>
                </a:lnTo>
                <a:lnTo>
                  <a:pt x="186512" y="18778"/>
                </a:lnTo>
                <a:lnTo>
                  <a:pt x="200771" y="8778"/>
                </a:lnTo>
                <a:lnTo>
                  <a:pt x="216331" y="2213"/>
                </a:lnTo>
                <a:lnTo>
                  <a:pt x="232579" y="0"/>
                </a:lnTo>
                <a:lnTo>
                  <a:pt x="248738" y="2343"/>
                </a:lnTo>
                <a:lnTo>
                  <a:pt x="264097" y="8708"/>
                </a:lnTo>
                <a:lnTo>
                  <a:pt x="278213" y="17982"/>
                </a:lnTo>
                <a:lnTo>
                  <a:pt x="291017" y="28772"/>
                </a:lnTo>
                <a:lnTo>
                  <a:pt x="302800" y="39741"/>
                </a:lnTo>
                <a:lnTo>
                  <a:pt x="314074" y="49922"/>
                </a:lnTo>
                <a:lnTo>
                  <a:pt x="325366" y="58897"/>
                </a:lnTo>
                <a:lnTo>
                  <a:pt x="337012" y="66817"/>
                </a:lnTo>
                <a:lnTo>
                  <a:pt x="349011" y="74274"/>
                </a:lnTo>
                <a:lnTo>
                  <a:pt x="361003" y="82052"/>
                </a:lnTo>
                <a:lnTo>
                  <a:pt x="372374" y="90866"/>
                </a:lnTo>
                <a:lnTo>
                  <a:pt x="382456" y="101136"/>
                </a:lnTo>
                <a:lnTo>
                  <a:pt x="390763" y="112889"/>
                </a:lnTo>
                <a:lnTo>
                  <a:pt x="397182" y="125791"/>
                </a:lnTo>
                <a:lnTo>
                  <a:pt x="402061" y="139292"/>
                </a:lnTo>
                <a:lnTo>
                  <a:pt x="406139" y="152839"/>
                </a:lnTo>
                <a:lnTo>
                  <a:pt x="410354" y="166072"/>
                </a:lnTo>
                <a:lnTo>
                  <a:pt x="415557" y="178939"/>
                </a:lnTo>
                <a:lnTo>
                  <a:pt x="422229" y="191701"/>
                </a:lnTo>
                <a:lnTo>
                  <a:pt x="430278" y="204815"/>
                </a:lnTo>
                <a:lnTo>
                  <a:pt x="438983" y="218743"/>
                </a:lnTo>
                <a:close/>
              </a:path>
            </a:pathLst>
          </a:custGeom>
          <a:solidFill>
            <a:srgbClr val="708E99"/>
          </a:solidFill>
          <a:ln w="12700">
            <a:solidFill>
              <a:srgbClr val="4A5A60"/>
            </a:solidFill>
            <a:prstDash val="solid"/>
          </a:ln>
        </p:spPr>
      </p:sp>
      <p:sp>
        <p:nvSpPr>
          <p:cNvPr id="87" name="Text 85"/>
          <p:cNvSpPr txBox="1"/>
          <p:nvPr/>
        </p:nvSpPr>
        <p:spPr>
          <a:xfrm>
            <a:off x="548640" y="4937760"/>
            <a:ext cx="1097280" cy="274320"/>
          </a:xfrm>
          <a:prstGeom prst="rect">
            <a:avLst/>
          </a:prstGeom>
          <a:noFill/>
          <a:ln/>
        </p:spPr>
        <p:txBody>
          <a:bodyPr wrap="square" lIns="0" tIns="0" rIns="0" bIns="0" rtlCol="0" anchor="ctr"/>
          <a:lstStyle/>
          <a:p>
            <a:pPr algn="ctr" indent="0" marL="0">
              <a:buNone/>
            </a:pPr>
            <a:r>
              <a:rPr lang="en-US" sz="1200" b="1" dirty="0">
                <a:solidFill>
                  <a:srgbClr val="1E5E3A"/>
                </a:solidFill>
              </a:rPr>
              <a:t>Spared</a:t>
            </a:r>
            <a:endParaRPr lang="en-US" sz="1200" dirty="0"/>
          </a:p>
        </p:txBody>
      </p:sp>
      <p:sp>
        <p:nvSpPr>
          <p:cNvPr id="88" name="Tumor cell (engulfed)"/>
          <p:cNvSpPr/>
          <p:nvPr/>
        </p:nvSpPr>
        <p:spPr>
          <a:xfrm>
            <a:off x="10648413" y="4284408"/>
            <a:ext cx="436071" cy="432685"/>
          </a:xfrm>
          <a:custGeom>
            <a:avLst/>
            <a:gdLst/>
            <a:ahLst/>
            <a:cxnLst/>
            <a:rect l="l" t="t" r="r" b="b"/>
            <a:pathLst>
              <a:path w="436071" h="432685">
                <a:moveTo>
                  <a:pt x="427677" y="223584"/>
                </a:moveTo>
                <a:lnTo>
                  <a:pt x="433502" y="238887"/>
                </a:lnTo>
                <a:lnTo>
                  <a:pt x="436071" y="254702"/>
                </a:lnTo>
                <a:lnTo>
                  <a:pt x="434502" y="270313"/>
                </a:lnTo>
                <a:lnTo>
                  <a:pt x="428566" y="284921"/>
                </a:lnTo>
                <a:lnTo>
                  <a:pt x="418745" y="297866"/>
                </a:lnTo>
                <a:lnTo>
                  <a:pt x="406127" y="308831"/>
                </a:lnTo>
                <a:lnTo>
                  <a:pt x="392141" y="317953"/>
                </a:lnTo>
                <a:lnTo>
                  <a:pt x="378232" y="325796"/>
                </a:lnTo>
                <a:lnTo>
                  <a:pt x="365531" y="333199"/>
                </a:lnTo>
                <a:lnTo>
                  <a:pt x="354638" y="341041"/>
                </a:lnTo>
                <a:lnTo>
                  <a:pt x="345545" y="349979"/>
                </a:lnTo>
                <a:lnTo>
                  <a:pt x="337715" y="360252"/>
                </a:lnTo>
                <a:lnTo>
                  <a:pt x="330302" y="371601"/>
                </a:lnTo>
                <a:lnTo>
                  <a:pt x="322410" y="383331"/>
                </a:lnTo>
                <a:lnTo>
                  <a:pt x="313342" y="394507"/>
                </a:lnTo>
                <a:lnTo>
                  <a:pt x="302759" y="404216"/>
                </a:lnTo>
                <a:lnTo>
                  <a:pt x="290711" y="411819"/>
                </a:lnTo>
                <a:lnTo>
                  <a:pt x="277546" y="417130"/>
                </a:lnTo>
                <a:lnTo>
                  <a:pt x="263742" y="420444"/>
                </a:lnTo>
                <a:lnTo>
                  <a:pt x="249721" y="422431"/>
                </a:lnTo>
                <a:lnTo>
                  <a:pt x="235714" y="423904"/>
                </a:lnTo>
                <a:lnTo>
                  <a:pt x="221712" y="425545"/>
                </a:lnTo>
                <a:lnTo>
                  <a:pt x="207533" y="427661"/>
                </a:lnTo>
                <a:lnTo>
                  <a:pt x="192958" y="430060"/>
                </a:lnTo>
                <a:lnTo>
                  <a:pt x="177899" y="432064"/>
                </a:lnTo>
                <a:lnTo>
                  <a:pt x="162525" y="432685"/>
                </a:lnTo>
                <a:lnTo>
                  <a:pt x="147300" y="430894"/>
                </a:lnTo>
                <a:lnTo>
                  <a:pt x="132910" y="425920"/>
                </a:lnTo>
                <a:lnTo>
                  <a:pt x="120087" y="417487"/>
                </a:lnTo>
                <a:lnTo>
                  <a:pt x="109388" y="405920"/>
                </a:lnTo>
                <a:lnTo>
                  <a:pt x="100998" y="392094"/>
                </a:lnTo>
                <a:lnTo>
                  <a:pt x="94618" y="377230"/>
                </a:lnTo>
                <a:lnTo>
                  <a:pt x="89486" y="362603"/>
                </a:lnTo>
                <a:lnTo>
                  <a:pt x="84537" y="349241"/>
                </a:lnTo>
                <a:lnTo>
                  <a:pt x="78667" y="337695"/>
                </a:lnTo>
                <a:lnTo>
                  <a:pt x="71024" y="327942"/>
                </a:lnTo>
                <a:lnTo>
                  <a:pt x="61256" y="319441"/>
                </a:lnTo>
                <a:lnTo>
                  <a:pt x="49634" y="311330"/>
                </a:lnTo>
                <a:lnTo>
                  <a:pt x="37017" y="302676"/>
                </a:lnTo>
                <a:lnTo>
                  <a:pt x="24655" y="292740"/>
                </a:lnTo>
                <a:lnTo>
                  <a:pt x="13900" y="281151"/>
                </a:lnTo>
                <a:lnTo>
                  <a:pt x="5878" y="267962"/>
                </a:lnTo>
                <a:lnTo>
                  <a:pt x="1233" y="253579"/>
                </a:lnTo>
                <a:lnTo>
                  <a:pt x="0" y="238595"/>
                </a:lnTo>
                <a:lnTo>
                  <a:pt x="1642" y="223584"/>
                </a:lnTo>
                <a:lnTo>
                  <a:pt x="5237" y="208940"/>
                </a:lnTo>
                <a:lnTo>
                  <a:pt x="9763" y="194788"/>
                </a:lnTo>
                <a:lnTo>
                  <a:pt x="14386" y="181015"/>
                </a:lnTo>
                <a:lnTo>
                  <a:pt x="18682" y="167389"/>
                </a:lnTo>
                <a:lnTo>
                  <a:pt x="22724" y="153726"/>
                </a:lnTo>
                <a:lnTo>
                  <a:pt x="27012" y="140039"/>
                </a:lnTo>
                <a:lnTo>
                  <a:pt x="32281" y="126612"/>
                </a:lnTo>
                <a:lnTo>
                  <a:pt x="39236" y="113968"/>
                </a:lnTo>
                <a:lnTo>
                  <a:pt x="48309" y="102724"/>
                </a:lnTo>
                <a:lnTo>
                  <a:pt x="59504" y="93393"/>
                </a:lnTo>
                <a:lnTo>
                  <a:pt x="72371" y="86178"/>
                </a:lnTo>
                <a:lnTo>
                  <a:pt x="86128" y="80836"/>
                </a:lnTo>
                <a:lnTo>
                  <a:pt x="99880" y="76674"/>
                </a:lnTo>
                <a:lnTo>
                  <a:pt x="112870" y="72676"/>
                </a:lnTo>
                <a:lnTo>
                  <a:pt x="124687" y="67749"/>
                </a:lnTo>
                <a:lnTo>
                  <a:pt x="135372" y="61022"/>
                </a:lnTo>
                <a:lnTo>
                  <a:pt x="145380" y="52113"/>
                </a:lnTo>
                <a:lnTo>
                  <a:pt x="155426" y="41284"/>
                </a:lnTo>
                <a:lnTo>
                  <a:pt x="166254" y="29441"/>
                </a:lnTo>
                <a:lnTo>
                  <a:pt x="178402" y="17962"/>
                </a:lnTo>
                <a:lnTo>
                  <a:pt x="192042" y="8396"/>
                </a:lnTo>
                <a:lnTo>
                  <a:pt x="206925" y="2116"/>
                </a:lnTo>
                <a:lnTo>
                  <a:pt x="222467" y="0"/>
                </a:lnTo>
                <a:lnTo>
                  <a:pt x="237923" y="2241"/>
                </a:lnTo>
                <a:lnTo>
                  <a:pt x="252614" y="8329"/>
                </a:lnTo>
                <a:lnTo>
                  <a:pt x="266116" y="17201"/>
                </a:lnTo>
                <a:lnTo>
                  <a:pt x="278364" y="27521"/>
                </a:lnTo>
                <a:lnTo>
                  <a:pt x="289635" y="38013"/>
                </a:lnTo>
                <a:lnTo>
                  <a:pt x="300418" y="47752"/>
                </a:lnTo>
                <a:lnTo>
                  <a:pt x="311220" y="56336"/>
                </a:lnTo>
                <a:lnTo>
                  <a:pt x="322359" y="63912"/>
                </a:lnTo>
                <a:lnTo>
                  <a:pt x="333836" y="71044"/>
                </a:lnTo>
                <a:lnTo>
                  <a:pt x="345307" y="78485"/>
                </a:lnTo>
                <a:lnTo>
                  <a:pt x="356184" y="86915"/>
                </a:lnTo>
                <a:lnTo>
                  <a:pt x="365828" y="96739"/>
                </a:lnTo>
                <a:lnTo>
                  <a:pt x="373773" y="107981"/>
                </a:lnTo>
                <a:lnTo>
                  <a:pt x="379914" y="120322"/>
                </a:lnTo>
                <a:lnTo>
                  <a:pt x="384580" y="133236"/>
                </a:lnTo>
                <a:lnTo>
                  <a:pt x="388481" y="146194"/>
                </a:lnTo>
                <a:lnTo>
                  <a:pt x="392512" y="158851"/>
                </a:lnTo>
                <a:lnTo>
                  <a:pt x="397489" y="171159"/>
                </a:lnTo>
                <a:lnTo>
                  <a:pt x="403871" y="183366"/>
                </a:lnTo>
                <a:lnTo>
                  <a:pt x="411570" y="195910"/>
                </a:lnTo>
                <a:lnTo>
                  <a:pt x="419897" y="209233"/>
                </a:lnTo>
                <a:close/>
              </a:path>
            </a:pathLst>
          </a:custGeom>
          <a:solidFill>
            <a:srgbClr val="708E99"/>
          </a:solidFill>
          <a:ln w="12700">
            <a:solidFill>
              <a:srgbClr val="4A5A60"/>
            </a:solidFill>
            <a:prstDash val="solid"/>
          </a:ln>
        </p:spPr>
      </p:sp>
      <p:sp>
        <p:nvSpPr>
          <p:cNvPr id="89" name="Pseudopod (upper)"/>
          <p:cNvSpPr/>
          <p:nvPr/>
        </p:nvSpPr>
        <p:spPr>
          <a:xfrm>
            <a:off x="10554277" y="4142455"/>
            <a:ext cx="588983" cy="268391"/>
          </a:xfrm>
          <a:custGeom>
            <a:avLst/>
            <a:gdLst/>
            <a:ahLst/>
            <a:cxnLst/>
            <a:rect l="l" t="t" r="r" b="b"/>
            <a:pathLst>
              <a:path w="588983" h="268391">
                <a:moveTo>
                  <a:pt x="588983" y="130431"/>
                </a:moveTo>
                <a:lnTo>
                  <a:pt x="571900" y="111459"/>
                </a:lnTo>
                <a:lnTo>
                  <a:pt x="553536" y="93725"/>
                </a:lnTo>
                <a:lnTo>
                  <a:pt x="533979" y="77314"/>
                </a:lnTo>
                <a:lnTo>
                  <a:pt x="513325" y="62308"/>
                </a:lnTo>
                <a:lnTo>
                  <a:pt x="491675" y="48780"/>
                </a:lnTo>
                <a:lnTo>
                  <a:pt x="469133" y="36794"/>
                </a:lnTo>
                <a:lnTo>
                  <a:pt x="445811" y="26410"/>
                </a:lnTo>
                <a:lnTo>
                  <a:pt x="421821" y="17679"/>
                </a:lnTo>
                <a:lnTo>
                  <a:pt x="397280" y="10642"/>
                </a:lnTo>
                <a:lnTo>
                  <a:pt x="372308" y="5334"/>
                </a:lnTo>
                <a:lnTo>
                  <a:pt x="347027" y="1781"/>
                </a:lnTo>
                <a:lnTo>
                  <a:pt x="321560" y="0"/>
                </a:lnTo>
                <a:lnTo>
                  <a:pt x="296030" y="0"/>
                </a:lnTo>
                <a:lnTo>
                  <a:pt x="270562" y="1781"/>
                </a:lnTo>
                <a:lnTo>
                  <a:pt x="245281" y="5334"/>
                </a:lnTo>
                <a:lnTo>
                  <a:pt x="220309" y="10642"/>
                </a:lnTo>
                <a:lnTo>
                  <a:pt x="195769" y="17679"/>
                </a:lnTo>
                <a:lnTo>
                  <a:pt x="171779" y="26410"/>
                </a:lnTo>
                <a:lnTo>
                  <a:pt x="148456" y="36794"/>
                </a:lnTo>
                <a:lnTo>
                  <a:pt x="125915" y="48780"/>
                </a:lnTo>
                <a:lnTo>
                  <a:pt x="104264" y="62308"/>
                </a:lnTo>
                <a:lnTo>
                  <a:pt x="83610" y="77314"/>
                </a:lnTo>
                <a:lnTo>
                  <a:pt x="64054" y="93725"/>
                </a:lnTo>
                <a:lnTo>
                  <a:pt x="45689" y="111459"/>
                </a:lnTo>
                <a:lnTo>
                  <a:pt x="28606" y="130431"/>
                </a:lnTo>
                <a:lnTo>
                  <a:pt x="18899" y="154916"/>
                </a:lnTo>
                <a:lnTo>
                  <a:pt x="11214" y="179588"/>
                </a:lnTo>
                <a:lnTo>
                  <a:pt x="5527" y="204287"/>
                </a:lnTo>
                <a:lnTo>
                  <a:pt x="1805" y="228857"/>
                </a:lnTo>
                <a:lnTo>
                  <a:pt x="0" y="253145"/>
                </a:lnTo>
                <a:lnTo>
                  <a:pt x="41889" y="268391"/>
                </a:lnTo>
                <a:lnTo>
                  <a:pt x="56103" y="253031"/>
                </a:lnTo>
                <a:lnTo>
                  <a:pt x="71126" y="239166"/>
                </a:lnTo>
                <a:lnTo>
                  <a:pt x="86821" y="226832"/>
                </a:lnTo>
                <a:lnTo>
                  <a:pt x="103048" y="216053"/>
                </a:lnTo>
                <a:lnTo>
                  <a:pt x="119668" y="206841"/>
                </a:lnTo>
                <a:lnTo>
                  <a:pt x="131198" y="194034"/>
                </a:lnTo>
                <a:lnTo>
                  <a:pt x="143594" y="182064"/>
                </a:lnTo>
                <a:lnTo>
                  <a:pt x="156795" y="170987"/>
                </a:lnTo>
                <a:lnTo>
                  <a:pt x="170737" y="160858"/>
                </a:lnTo>
                <a:lnTo>
                  <a:pt x="185351" y="151726"/>
                </a:lnTo>
                <a:lnTo>
                  <a:pt x="200566" y="143636"/>
                </a:lnTo>
                <a:lnTo>
                  <a:pt x="216309" y="136627"/>
                </a:lnTo>
                <a:lnTo>
                  <a:pt x="232502" y="130733"/>
                </a:lnTo>
                <a:lnTo>
                  <a:pt x="249067" y="125983"/>
                </a:lnTo>
                <a:lnTo>
                  <a:pt x="265923" y="122400"/>
                </a:lnTo>
                <a:lnTo>
                  <a:pt x="282988" y="120002"/>
                </a:lnTo>
                <a:lnTo>
                  <a:pt x="300178" y="118800"/>
                </a:lnTo>
                <a:lnTo>
                  <a:pt x="317411" y="118800"/>
                </a:lnTo>
                <a:lnTo>
                  <a:pt x="334602" y="120002"/>
                </a:lnTo>
                <a:lnTo>
                  <a:pt x="351666" y="122400"/>
                </a:lnTo>
                <a:lnTo>
                  <a:pt x="368522" y="125983"/>
                </a:lnTo>
                <a:lnTo>
                  <a:pt x="385087" y="130733"/>
                </a:lnTo>
                <a:lnTo>
                  <a:pt x="401281" y="136627"/>
                </a:lnTo>
                <a:lnTo>
                  <a:pt x="417023" y="143636"/>
                </a:lnTo>
                <a:lnTo>
                  <a:pt x="432239" y="151726"/>
                </a:lnTo>
                <a:lnTo>
                  <a:pt x="446853" y="160858"/>
                </a:lnTo>
                <a:lnTo>
                  <a:pt x="460794" y="170987"/>
                </a:lnTo>
                <a:lnTo>
                  <a:pt x="473995" y="182064"/>
                </a:lnTo>
                <a:lnTo>
                  <a:pt x="486391" y="194034"/>
                </a:lnTo>
                <a:lnTo>
                  <a:pt x="497922" y="206841"/>
                </a:lnTo>
                <a:close/>
              </a:path>
            </a:pathLst>
          </a:custGeom>
          <a:solidFill>
            <a:srgbClr val="D7C7E3"/>
          </a:solidFill>
          <a:ln w="15875">
            <a:solidFill>
              <a:srgbClr val="7A5C8E"/>
            </a:solidFill>
            <a:prstDash val="solid"/>
          </a:ln>
        </p:spPr>
      </p:sp>
      <p:sp>
        <p:nvSpPr>
          <p:cNvPr id="90" name="Pseudopod (lower)"/>
          <p:cNvSpPr/>
          <p:nvPr/>
        </p:nvSpPr>
        <p:spPr>
          <a:xfrm>
            <a:off x="10554277" y="4605138"/>
            <a:ext cx="588983" cy="268391"/>
          </a:xfrm>
          <a:custGeom>
            <a:avLst/>
            <a:gdLst/>
            <a:ahLst/>
            <a:cxnLst/>
            <a:rect l="l" t="t" r="r" b="b"/>
            <a:pathLst>
              <a:path w="588983" h="268391">
                <a:moveTo>
                  <a:pt x="588983" y="137960"/>
                </a:moveTo>
                <a:lnTo>
                  <a:pt x="571900" y="156932"/>
                </a:lnTo>
                <a:lnTo>
                  <a:pt x="553536" y="174667"/>
                </a:lnTo>
                <a:lnTo>
                  <a:pt x="533979" y="191077"/>
                </a:lnTo>
                <a:lnTo>
                  <a:pt x="513325" y="206083"/>
                </a:lnTo>
                <a:lnTo>
                  <a:pt x="491675" y="219612"/>
                </a:lnTo>
                <a:lnTo>
                  <a:pt x="469133" y="231597"/>
                </a:lnTo>
                <a:lnTo>
                  <a:pt x="445811" y="241981"/>
                </a:lnTo>
                <a:lnTo>
                  <a:pt x="421821" y="250713"/>
                </a:lnTo>
                <a:lnTo>
                  <a:pt x="397280" y="257750"/>
                </a:lnTo>
                <a:lnTo>
                  <a:pt x="372308" y="263057"/>
                </a:lnTo>
                <a:lnTo>
                  <a:pt x="347027" y="266610"/>
                </a:lnTo>
                <a:lnTo>
                  <a:pt x="321560" y="268391"/>
                </a:lnTo>
                <a:lnTo>
                  <a:pt x="296030" y="268391"/>
                </a:lnTo>
                <a:lnTo>
                  <a:pt x="270562" y="266610"/>
                </a:lnTo>
                <a:lnTo>
                  <a:pt x="245281" y="263057"/>
                </a:lnTo>
                <a:lnTo>
                  <a:pt x="220309" y="257750"/>
                </a:lnTo>
                <a:lnTo>
                  <a:pt x="195769" y="250713"/>
                </a:lnTo>
                <a:lnTo>
                  <a:pt x="171779" y="241981"/>
                </a:lnTo>
                <a:lnTo>
                  <a:pt x="148456" y="231597"/>
                </a:lnTo>
                <a:lnTo>
                  <a:pt x="125915" y="219612"/>
                </a:lnTo>
                <a:lnTo>
                  <a:pt x="104264" y="206083"/>
                </a:lnTo>
                <a:lnTo>
                  <a:pt x="83610" y="191077"/>
                </a:lnTo>
                <a:lnTo>
                  <a:pt x="64054" y="174667"/>
                </a:lnTo>
                <a:lnTo>
                  <a:pt x="45689" y="156932"/>
                </a:lnTo>
                <a:lnTo>
                  <a:pt x="28606" y="137960"/>
                </a:lnTo>
                <a:lnTo>
                  <a:pt x="18899" y="113476"/>
                </a:lnTo>
                <a:lnTo>
                  <a:pt x="11214" y="88803"/>
                </a:lnTo>
                <a:lnTo>
                  <a:pt x="5527" y="64104"/>
                </a:lnTo>
                <a:lnTo>
                  <a:pt x="1805" y="39535"/>
                </a:lnTo>
                <a:lnTo>
                  <a:pt x="0" y="15246"/>
                </a:lnTo>
                <a:lnTo>
                  <a:pt x="41889" y="0"/>
                </a:lnTo>
                <a:lnTo>
                  <a:pt x="56103" y="15360"/>
                </a:lnTo>
                <a:lnTo>
                  <a:pt x="71126" y="29225"/>
                </a:lnTo>
                <a:lnTo>
                  <a:pt x="86821" y="41559"/>
                </a:lnTo>
                <a:lnTo>
                  <a:pt x="103048" y="52338"/>
                </a:lnTo>
                <a:lnTo>
                  <a:pt x="119668" y="61551"/>
                </a:lnTo>
                <a:lnTo>
                  <a:pt x="131198" y="74357"/>
                </a:lnTo>
                <a:lnTo>
                  <a:pt x="143594" y="86328"/>
                </a:lnTo>
                <a:lnTo>
                  <a:pt x="156795" y="97405"/>
                </a:lnTo>
                <a:lnTo>
                  <a:pt x="170737" y="107534"/>
                </a:lnTo>
                <a:lnTo>
                  <a:pt x="185351" y="116665"/>
                </a:lnTo>
                <a:lnTo>
                  <a:pt x="200566" y="124756"/>
                </a:lnTo>
                <a:lnTo>
                  <a:pt x="216309" y="131765"/>
                </a:lnTo>
                <a:lnTo>
                  <a:pt x="232502" y="137659"/>
                </a:lnTo>
                <a:lnTo>
                  <a:pt x="249067" y="142409"/>
                </a:lnTo>
                <a:lnTo>
                  <a:pt x="265923" y="145991"/>
                </a:lnTo>
                <a:lnTo>
                  <a:pt x="282988" y="148390"/>
                </a:lnTo>
                <a:lnTo>
                  <a:pt x="300178" y="149592"/>
                </a:lnTo>
                <a:lnTo>
                  <a:pt x="317411" y="149592"/>
                </a:lnTo>
                <a:lnTo>
                  <a:pt x="334602" y="148390"/>
                </a:lnTo>
                <a:lnTo>
                  <a:pt x="351666" y="145991"/>
                </a:lnTo>
                <a:lnTo>
                  <a:pt x="368522" y="142409"/>
                </a:lnTo>
                <a:lnTo>
                  <a:pt x="385087" y="137659"/>
                </a:lnTo>
                <a:lnTo>
                  <a:pt x="401281" y="131765"/>
                </a:lnTo>
                <a:lnTo>
                  <a:pt x="417023" y="124756"/>
                </a:lnTo>
                <a:lnTo>
                  <a:pt x="432239" y="116665"/>
                </a:lnTo>
                <a:lnTo>
                  <a:pt x="446853" y="107534"/>
                </a:lnTo>
                <a:lnTo>
                  <a:pt x="460794" y="97405"/>
                </a:lnTo>
                <a:lnTo>
                  <a:pt x="473995" y="86328"/>
                </a:lnTo>
                <a:lnTo>
                  <a:pt x="486391" y="74357"/>
                </a:lnTo>
                <a:lnTo>
                  <a:pt x="497922" y="61551"/>
                </a:lnTo>
                <a:close/>
              </a:path>
            </a:pathLst>
          </a:custGeom>
          <a:solidFill>
            <a:srgbClr val="D7C7E3"/>
          </a:solidFill>
          <a:ln w="15875">
            <a:solidFill>
              <a:srgbClr val="7A5C8E"/>
            </a:solidFill>
            <a:prstDash val="solid"/>
          </a:ln>
        </p:spPr>
      </p:sp>
      <p:sp>
        <p:nvSpPr>
          <p:cNvPr id="91" name="Macrophage (engulfing)"/>
          <p:cNvSpPr/>
          <p:nvPr/>
        </p:nvSpPr>
        <p:spPr>
          <a:xfrm>
            <a:off x="11056249" y="4194417"/>
            <a:ext cx="563267" cy="580846"/>
          </a:xfrm>
          <a:custGeom>
            <a:avLst/>
            <a:gdLst/>
            <a:ahLst/>
            <a:cxnLst/>
            <a:rect l="l" t="t" r="r" b="b"/>
            <a:pathLst>
              <a:path w="563267" h="580846">
                <a:moveTo>
                  <a:pt x="563207" y="313575"/>
                </a:moveTo>
                <a:lnTo>
                  <a:pt x="563267" y="335546"/>
                </a:lnTo>
                <a:lnTo>
                  <a:pt x="560007" y="357253"/>
                </a:lnTo>
                <a:lnTo>
                  <a:pt x="553833" y="378256"/>
                </a:lnTo>
                <a:lnTo>
                  <a:pt x="545304" y="398264"/>
                </a:lnTo>
                <a:lnTo>
                  <a:pt x="535045" y="417151"/>
                </a:lnTo>
                <a:lnTo>
                  <a:pt x="523649" y="434948"/>
                </a:lnTo>
                <a:lnTo>
                  <a:pt x="511607" y="451800"/>
                </a:lnTo>
                <a:lnTo>
                  <a:pt x="499243" y="467906"/>
                </a:lnTo>
                <a:lnTo>
                  <a:pt x="486701" y="483449"/>
                </a:lnTo>
                <a:lnTo>
                  <a:pt x="473952" y="498534"/>
                </a:lnTo>
                <a:lnTo>
                  <a:pt x="460837" y="513139"/>
                </a:lnTo>
                <a:lnTo>
                  <a:pt x="447130" y="527104"/>
                </a:lnTo>
                <a:lnTo>
                  <a:pt x="432605" y="540139"/>
                </a:lnTo>
                <a:lnTo>
                  <a:pt x="417104" y="551873"/>
                </a:lnTo>
                <a:lnTo>
                  <a:pt x="400577" y="561919"/>
                </a:lnTo>
                <a:lnTo>
                  <a:pt x="383110" y="569946"/>
                </a:lnTo>
                <a:lnTo>
                  <a:pt x="364907" y="575755"/>
                </a:lnTo>
                <a:lnTo>
                  <a:pt x="346259" y="579326"/>
                </a:lnTo>
                <a:lnTo>
                  <a:pt x="327488" y="580846"/>
                </a:lnTo>
                <a:lnTo>
                  <a:pt x="308881" y="580694"/>
                </a:lnTo>
                <a:lnTo>
                  <a:pt x="290632" y="579396"/>
                </a:lnTo>
                <a:lnTo>
                  <a:pt x="272803" y="577548"/>
                </a:lnTo>
                <a:lnTo>
                  <a:pt x="255305" y="575721"/>
                </a:lnTo>
                <a:lnTo>
                  <a:pt x="237918" y="574370"/>
                </a:lnTo>
                <a:lnTo>
                  <a:pt x="220332" y="573749"/>
                </a:lnTo>
                <a:lnTo>
                  <a:pt x="202217" y="573860"/>
                </a:lnTo>
                <a:lnTo>
                  <a:pt x="183300" y="574438"/>
                </a:lnTo>
                <a:lnTo>
                  <a:pt x="163439" y="574977"/>
                </a:lnTo>
                <a:lnTo>
                  <a:pt x="142687" y="574791"/>
                </a:lnTo>
                <a:lnTo>
                  <a:pt x="121314" y="573114"/>
                </a:lnTo>
                <a:lnTo>
                  <a:pt x="99810" y="569205"/>
                </a:lnTo>
                <a:lnTo>
                  <a:pt x="78836" y="562455"/>
                </a:lnTo>
                <a:lnTo>
                  <a:pt x="59156" y="552480"/>
                </a:lnTo>
                <a:lnTo>
                  <a:pt x="41535" y="539172"/>
                </a:lnTo>
                <a:lnTo>
                  <a:pt x="26647" y="522717"/>
                </a:lnTo>
                <a:lnTo>
                  <a:pt x="14970" y="503570"/>
                </a:lnTo>
                <a:lnTo>
                  <a:pt x="6729" y="482389"/>
                </a:lnTo>
                <a:lnTo>
                  <a:pt x="1856" y="459942"/>
                </a:lnTo>
                <a:lnTo>
                  <a:pt x="0" y="437003"/>
                </a:lnTo>
                <a:lnTo>
                  <a:pt x="576" y="414256"/>
                </a:lnTo>
                <a:lnTo>
                  <a:pt x="2847" y="392211"/>
                </a:lnTo>
                <a:lnTo>
                  <a:pt x="6025" y="371156"/>
                </a:lnTo>
                <a:lnTo>
                  <a:pt x="9382" y="351152"/>
                </a:lnTo>
                <a:lnTo>
                  <a:pt x="12345" y="332054"/>
                </a:lnTo>
                <a:lnTo>
                  <a:pt x="14567" y="313575"/>
                </a:lnTo>
                <a:lnTo>
                  <a:pt x="15963" y="295362"/>
                </a:lnTo>
                <a:lnTo>
                  <a:pt x="16706" y="277079"/>
                </a:lnTo>
                <a:lnTo>
                  <a:pt x="17182" y="258484"/>
                </a:lnTo>
                <a:lnTo>
                  <a:pt x="17918" y="239477"/>
                </a:lnTo>
                <a:lnTo>
                  <a:pt x="19492" y="220123"/>
                </a:lnTo>
                <a:lnTo>
                  <a:pt x="22442" y="200638"/>
                </a:lnTo>
                <a:lnTo>
                  <a:pt x="27186" y="181350"/>
                </a:lnTo>
                <a:lnTo>
                  <a:pt x="33970" y="162634"/>
                </a:lnTo>
                <a:lnTo>
                  <a:pt x="42842" y="144843"/>
                </a:lnTo>
                <a:lnTo>
                  <a:pt x="53670" y="128242"/>
                </a:lnTo>
                <a:lnTo>
                  <a:pt x="66179" y="112966"/>
                </a:lnTo>
                <a:lnTo>
                  <a:pt x="80018" y="98999"/>
                </a:lnTo>
                <a:lnTo>
                  <a:pt x="94829" y="86188"/>
                </a:lnTo>
                <a:lnTo>
                  <a:pt x="110308" y="74288"/>
                </a:lnTo>
                <a:lnTo>
                  <a:pt x="126257" y="63026"/>
                </a:lnTo>
                <a:lnTo>
                  <a:pt x="142602" y="52176"/>
                </a:lnTo>
                <a:lnTo>
                  <a:pt x="159383" y="41630"/>
                </a:lnTo>
                <a:lnTo>
                  <a:pt x="176720" y="31449"/>
                </a:lnTo>
                <a:lnTo>
                  <a:pt x="194760" y="21885"/>
                </a:lnTo>
                <a:lnTo>
                  <a:pt x="213611" y="13374"/>
                </a:lnTo>
                <a:lnTo>
                  <a:pt x="233283" y="6480"/>
                </a:lnTo>
                <a:lnTo>
                  <a:pt x="253655" y="1827"/>
                </a:lnTo>
                <a:lnTo>
                  <a:pt x="274452" y="0"/>
                </a:lnTo>
                <a:lnTo>
                  <a:pt x="295267" y="1453"/>
                </a:lnTo>
                <a:lnTo>
                  <a:pt x="315603" y="6428"/>
                </a:lnTo>
                <a:lnTo>
                  <a:pt x="334945" y="14900"/>
                </a:lnTo>
                <a:lnTo>
                  <a:pt x="352839" y="26561"/>
                </a:lnTo>
                <a:lnTo>
                  <a:pt x="368964" y="40852"/>
                </a:lnTo>
                <a:lnTo>
                  <a:pt x="383195" y="57021"/>
                </a:lnTo>
                <a:lnTo>
                  <a:pt x="395634" y="74221"/>
                </a:lnTo>
                <a:lnTo>
                  <a:pt x="406605" y="91619"/>
                </a:lnTo>
                <a:lnTo>
                  <a:pt x="416613" y="108504"/>
                </a:lnTo>
                <a:lnTo>
                  <a:pt x="426267" y="124375"/>
                </a:lnTo>
                <a:lnTo>
                  <a:pt x="436194" y="138999"/>
                </a:lnTo>
                <a:lnTo>
                  <a:pt x="446929" y="152425"/>
                </a:lnTo>
                <a:lnTo>
                  <a:pt x="458829" y="164964"/>
                </a:lnTo>
                <a:lnTo>
                  <a:pt x="472002" y="177118"/>
                </a:lnTo>
                <a:lnTo>
                  <a:pt x="486276" y="189492"/>
                </a:lnTo>
                <a:lnTo>
                  <a:pt x="501208" y="202694"/>
                </a:lnTo>
                <a:lnTo>
                  <a:pt x="516129" y="217228"/>
                </a:lnTo>
                <a:lnTo>
                  <a:pt x="530233" y="233424"/>
                </a:lnTo>
                <a:lnTo>
                  <a:pt x="542676" y="251384"/>
                </a:lnTo>
                <a:lnTo>
                  <a:pt x="552683" y="270978"/>
                </a:lnTo>
                <a:lnTo>
                  <a:pt x="559648" y="291869"/>
                </a:lnTo>
                <a:close/>
              </a:path>
            </a:pathLst>
          </a:custGeom>
          <a:solidFill>
            <a:srgbClr val="D7C7E3"/>
          </a:solidFill>
          <a:ln w="15875">
            <a:solidFill>
              <a:srgbClr val="7A5C8E"/>
            </a:solidFill>
            <a:prstDash val="solid"/>
          </a:ln>
        </p:spPr>
      </p:sp>
      <p:sp>
        <p:nvSpPr>
          <p:cNvPr id="92" name="Text 90"/>
          <p:cNvSpPr txBox="1"/>
          <p:nvPr/>
        </p:nvSpPr>
        <p:spPr>
          <a:xfrm>
            <a:off x="10543032" y="4937760"/>
            <a:ext cx="1097280" cy="274320"/>
          </a:xfrm>
          <a:prstGeom prst="rect">
            <a:avLst/>
          </a:prstGeom>
          <a:noFill/>
          <a:ln/>
        </p:spPr>
        <p:txBody>
          <a:bodyPr wrap="square" lIns="0" tIns="0" rIns="0" bIns="0" rtlCol="0" anchor="ctr"/>
          <a:lstStyle/>
          <a:p>
            <a:pPr algn="ctr" indent="0" marL="0">
              <a:buNone/>
            </a:pPr>
            <a:r>
              <a:rPr lang="en-US" sz="1200" b="1" dirty="0">
                <a:solidFill>
                  <a:srgbClr val="8A5A00"/>
                </a:solidFill>
              </a:rPr>
              <a:t>Phagocytosed</a:t>
            </a:r>
            <a:endParaRPr lang="en-US" sz="1200" dirty="0"/>
          </a:p>
        </p:txBody>
      </p:sp>
      <p:sp>
        <p:nvSpPr>
          <p:cNvPr id="93" name="References"/>
          <p:cNvSpPr txBox="1"/>
          <p:nvPr/>
        </p:nvSpPr>
        <p:spPr>
          <a:xfrm>
            <a:off x="548640" y="5669280"/>
            <a:ext cx="11091672" cy="457200"/>
          </a:xfrm>
          <a:prstGeom prst="rect">
            <a:avLst/>
          </a:prstGeom>
          <a:noFill/>
          <a:ln/>
        </p:spPr>
        <p:txBody>
          <a:bodyPr wrap="square" lIns="0" tIns="0" rIns="0" bIns="0" rtlCol="0" anchor="t"/>
          <a:lstStyle/>
          <a:p>
            <a:pPr indent="0" marL="0">
              <a:buNone/>
            </a:pPr>
            <a:r>
              <a:rPr lang="en-US" sz="1000" dirty="0">
                <a:solidFill>
                  <a:schemeClr val="accent3"/>
                </a:solidFill>
              </a:rPr>
              <a:t>Based on: Chao MP, et al. </a:t>
            </a:r>
            <a:pPr indent="0" marL="0">
              <a:buNone/>
            </a:pPr>
            <a:r>
              <a:rPr lang="en-US" sz="1000" i="1" dirty="0">
                <a:solidFill>
                  <a:schemeClr val="accent3"/>
                </a:solidFill>
              </a:rPr>
              <a:t>Sci Transl Med</a:t>
            </a:r>
            <a:pPr indent="0" marL="0">
              <a:buNone/>
            </a:pPr>
            <a:r>
              <a:rPr lang="en-US" sz="1000" dirty="0">
                <a:solidFill>
                  <a:schemeClr val="accent3"/>
                </a:solidFill>
              </a:rPr>
              <a:t>. 2010;2(63):63ra94. PMID: 21178137.  Chao MP, Majeti R, Weissman IL. </a:t>
            </a:r>
            <a:pPr indent="0" marL="0">
              <a:buNone/>
            </a:pPr>
            <a:r>
              <a:rPr lang="en-US" sz="1000" i="1" dirty="0">
                <a:solidFill>
                  <a:schemeClr val="accent3"/>
                </a:solidFill>
              </a:rPr>
              <a:t>Nat Rev Cancer</a:t>
            </a:r>
            <a:pPr indent="0" marL="0">
              <a:buNone/>
            </a:pPr>
            <a:r>
              <a:rPr lang="en-US" sz="1000" dirty="0">
                <a:solidFill>
                  <a:schemeClr val="accent3"/>
                </a:solidFill>
              </a:rPr>
              <a:t>. 2011;12(1):58–67. PMID: 22158022.  Feng M, Jiang W, Kim BYS, Zhang CC, Fu YX, Weissman IL. </a:t>
            </a:r>
            <a:pPr indent="0" marL="0">
              <a:buNone/>
            </a:pPr>
            <a:r>
              <a:rPr lang="en-US" sz="1000" i="1" dirty="0">
                <a:solidFill>
                  <a:schemeClr val="accent3"/>
                </a:solidFill>
              </a:rPr>
              <a:t>Nat Rev Cancer</a:t>
            </a:r>
            <a:pPr indent="0" marL="0">
              <a:buNone/>
            </a:pPr>
            <a:r>
              <a:rPr lang="en-US" sz="1000" dirty="0">
                <a:solidFill>
                  <a:schemeClr val="accent3"/>
                </a:solidFill>
              </a:rPr>
              <a:t>. 2019;19(10):568–586. PMID: 31462760.</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B6B6B"/>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University of Utah Neurosurgery">
  <a:themeElements>
    <a:clrScheme name="University of Utah Neurosurgery">
      <a:dk1>
        <a:srgbClr val="1A1A1A"/>
      </a:dk1>
      <a:lt1>
        <a:srgbClr val="FFFFFF"/>
      </a:lt1>
      <a:dk2>
        <a:srgbClr val="3B3B3B"/>
      </a:dk2>
      <a:lt2>
        <a:srgbClr val="EEF0F0"/>
      </a:lt2>
      <a:accent1>
        <a:srgbClr val="BE0000"/>
      </a:accent1>
      <a:accent2>
        <a:srgbClr val="890000"/>
      </a:accent2>
      <a:accent3>
        <a:srgbClr val="708E99"/>
      </a:accent3>
      <a:accent4>
        <a:srgbClr val="5B6770"/>
      </a:accent4>
      <a:accent5>
        <a:srgbClr val="FFB81D"/>
      </a:accent5>
      <a:accent6>
        <a:srgbClr val="A7A8AA"/>
      </a:accent6>
      <a:hlink>
        <a:srgbClr val="BE0000"/>
      </a:hlink>
      <a:folHlink>
        <a:srgbClr val="890000"/>
      </a:folHlink>
    </a:clrScheme>
    <a:fontScheme name="University of Utah Neurosurg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University of Utah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Neurosurgery Grand Rounds</dc:title>
  <dc:subject>PptxGenJS Presentation</dc:subject>
  <dc:creator>Department of Neurosurgery, University of Utah Health</dc:creator>
  <cp:lastModifiedBy>Department of Neurosurgery, University of Utah Health</cp:lastModifiedBy>
  <cp:revision>1</cp:revision>
  <dcterms:created xsi:type="dcterms:W3CDTF">2026-10-27T03:44:52Z</dcterms:created>
  <dcterms:modified xsi:type="dcterms:W3CDTF">2026-10-27T03:44:52Z</dcterms:modified>
</cp:coreProperties>
</file>